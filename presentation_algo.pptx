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Couverture médiane</c:v>
                </c:pt>
              </c:strCache>
            </c:strRef>
          </c:tx>
          <c:spPr>
            <a:solidFill>
              <a:srgbClr val="52616C"/>
            </a:solidFill>
            <a:effectLst/>
          </c:spPr>
          <c:invertIfNegative val="0"/>
          <c:dLbls>
            <c:numFmt formatCode="#,##0" sourceLinked="0"/>
            <c:txPr>
              <a:bodyPr/>
              <a:lstStyle/>
              <a:p>
                <a:pPr>
                  <a:defRPr b="1" i="0" strike="noStrike" sz="1100" u="none">
                    <a:solidFill>
                      <a:srgbClr val="14202A"/>
                    </a:solidFill>
                    <a:latin typeface="Arial"/>
                  </a:defRPr>
                </a:pPr>
              </a:p>
            </c:txPr>
            <c:showLegendKey val="0"/>
            <c:showVal val="1"/>
            <c:showCatName val="0"/>
            <c:showSerName val="0"/>
            <c:showPercent val="0"/>
            <c:showBubbleSize val="0"/>
            <c:showLeaderLines val="0"/>
          </c:dLbls>
          <c:cat>
            <c:multiLvlStrRef>
              <c:f>Sheet1!$A$2:$A$11</c:f>
              <c:multiLvlStrCache>
                <c:ptCount val="10"/>
                <c:lvl>
                  <c:pt idx="0">
                    <c:v>1 condition</c:v>
                  </c:pt>
                  <c:pt idx="1">
                    <c:v>2 conditions</c:v>
                  </c:pt>
                  <c:pt idx="2">
                    <c:v>3 conditions</c:v>
                  </c:pt>
                  <c:pt idx="3">
                    <c:v>4 conditions</c:v>
                  </c:pt>
                  <c:pt idx="4">
                    <c:v>5 conditions</c:v>
                  </c:pt>
                  <c:pt idx="5">
                    <c:v>6 conditions</c:v>
                  </c:pt>
                  <c:pt idx="6">
                    <c:v>7 conditions</c:v>
                  </c:pt>
                  <c:pt idx="7">
                    <c:v>8 conditions</c:v>
                  </c:pt>
                  <c:pt idx="8">
                    <c:v>9 conditions</c:v>
                  </c:pt>
                  <c:pt idx="9">
                    <c:v>10 conditions</c:v>
                  </c:pt>
                </c:lvl>
              </c:multiLvlStrCache>
            </c:multiLvlStrRef>
          </c:cat>
          <c:val>
            <c:numRef>
              <c:f>Sheet1!$B$2:$B$11</c:f>
              <c:numCache>
                <c:formatCode>General</c:formatCode>
                <c:ptCount val="10"/>
                <c:pt idx="0">
                  <c:v>48</c:v>
                </c:pt>
                <c:pt idx="1">
                  <c:v>20</c:v>
                </c:pt>
                <c:pt idx="2">
                  <c:v>16</c:v>
                </c:pt>
                <c:pt idx="3">
                  <c:v>13</c:v>
                </c:pt>
                <c:pt idx="4">
                  <c:v>12</c:v>
                </c:pt>
                <c:pt idx="5">
                  <c:v>12</c:v>
                </c:pt>
                <c:pt idx="6">
                  <c:v>9</c:v>
                </c:pt>
                <c:pt idx="7">
                  <c:v>0</c:v>
                </c:pt>
                <c:pt idx="8">
                  <c:v>0</c:v>
                </c:pt>
                <c:pt idx="9">
                  <c:v>0</c:v>
                </c:pt>
              </c:numCache>
            </c:numRef>
          </c:val>
        </c:ser>
        <c:dLbls>
          <c:numFmt formatCode="#,##0" sourceLinked="0"/>
          <c:txPr>
            <a:bodyPr/>
            <a:lstStyle/>
            <a:p>
              <a:pPr>
                <a:defRPr b="1" i="0" strike="noStrike" sz="1100" u="none">
                  <a:solidFill>
                    <a:srgbClr val="14202A"/>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2616C"/>
                </a:solidFill>
                <a:latin typeface="Arial"/>
              </a:defRPr>
            </a:pPr>
            <a:endParaRPr lang="en-US"/>
          </a:p>
        </c:txPr>
        <c:crossAx val="2094734552"/>
        <c:crosses val="autoZero"/>
        <c:auto val="1"/>
        <c:lblAlgn val="ctr"/>
        <c:noMultiLvlLbl val="1"/>
      </c:catAx>
      <c:valAx>
        <c:axId val="2094734552"/>
        <c:scaling>
          <c:orientation val="minMax"/>
          <c:max val="5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prix</c:v>
                </c:pt>
              </c:strCache>
            </c:strRef>
          </c:tx>
          <c:spPr>
            <a:solidFill>
              <a:srgbClr val="14202A"/>
            </a:solidFill>
            <a:ln w="25400" cap="flat">
              <a:solidFill>
                <a:srgbClr val="14202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4202A"/>
              </a:solidFill>
              <a:ln w="9525" cap="flat">
                <a:solidFill>
                  <a:srgbClr val="14202A"/>
                </a:solidFill>
                <a:prstDash val="solid"/>
                <a:round/>
              </a:ln>
              <a:effectLst/>
            </c:spPr>
          </c:marker>
          <c:cat>
            <c:multiLvlStrRef>
              <c:f>Sheet1!$A$2:$A$121</c:f>
              <c:multiLvlStrCache>
                <c:ptCount val="120"/>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lvl>
              </c:multiLvlStrCache>
            </c:multiLvlStrRef>
          </c:cat>
          <c:val>
            <c:numRef>
              <c:f>Sheet1!$B$2:$B$121</c:f>
              <c:numCache>
                <c:formatCode>General</c:formatCode>
                <c:ptCount val="120"/>
                <c:pt idx="0">
                  <c:v>98.97</c:v>
                </c:pt>
                <c:pt idx="1">
                  <c:v>99.96</c:v>
                </c:pt>
                <c:pt idx="2">
                  <c:v>99.56</c:v>
                </c:pt>
                <c:pt idx="3">
                  <c:v>98.99</c:v>
                </c:pt>
                <c:pt idx="4">
                  <c:v>99.56</c:v>
                </c:pt>
                <c:pt idx="5">
                  <c:v>99.7</c:v>
                </c:pt>
                <c:pt idx="6">
                  <c:v>99.39</c:v>
                </c:pt>
                <c:pt idx="7">
                  <c:v>100.01</c:v>
                </c:pt>
                <c:pt idx="8">
                  <c:v>100.64</c:v>
                </c:pt>
                <c:pt idx="9">
                  <c:v>100.8</c:v>
                </c:pt>
                <c:pt idx="10">
                  <c:v>101.27</c:v>
                </c:pt>
                <c:pt idx="11">
                  <c:v>101.63</c:v>
                </c:pt>
                <c:pt idx="12">
                  <c:v>102.4</c:v>
                </c:pt>
                <c:pt idx="13">
                  <c:v>101.89</c:v>
                </c:pt>
                <c:pt idx="14">
                  <c:v>101.68</c:v>
                </c:pt>
                <c:pt idx="15">
                  <c:v>102.21</c:v>
                </c:pt>
                <c:pt idx="16">
                  <c:v>102.71</c:v>
                </c:pt>
                <c:pt idx="17">
                  <c:v>101.79</c:v>
                </c:pt>
                <c:pt idx="18">
                  <c:v>102.26</c:v>
                </c:pt>
                <c:pt idx="19">
                  <c:v>102.26</c:v>
                </c:pt>
                <c:pt idx="20">
                  <c:v>103.25</c:v>
                </c:pt>
                <c:pt idx="21">
                  <c:v>104</c:v>
                </c:pt>
                <c:pt idx="22">
                  <c:v>103.23</c:v>
                </c:pt>
                <c:pt idx="23">
                  <c:v>103.33</c:v>
                </c:pt>
                <c:pt idx="24">
                  <c:v>104.33</c:v>
                </c:pt>
                <c:pt idx="25">
                  <c:v>104.81</c:v>
                </c:pt>
                <c:pt idx="26">
                  <c:v>105.19</c:v>
                </c:pt>
                <c:pt idx="27">
                  <c:v>105.42</c:v>
                </c:pt>
                <c:pt idx="28">
                  <c:v>106.4</c:v>
                </c:pt>
                <c:pt idx="29">
                  <c:v>107.36</c:v>
                </c:pt>
                <c:pt idx="30">
                  <c:v>107.15</c:v>
                </c:pt>
                <c:pt idx="31">
                  <c:v>106.85</c:v>
                </c:pt>
                <c:pt idx="32">
                  <c:v>107.66</c:v>
                </c:pt>
                <c:pt idx="33">
                  <c:v>107.35</c:v>
                </c:pt>
                <c:pt idx="34">
                  <c:v>106.66</c:v>
                </c:pt>
                <c:pt idx="35">
                  <c:v>106.28</c:v>
                </c:pt>
                <c:pt idx="36">
                  <c:v>106.19</c:v>
                </c:pt>
                <c:pt idx="37">
                  <c:v>105.8</c:v>
                </c:pt>
                <c:pt idx="38">
                  <c:v>106.83</c:v>
                </c:pt>
                <c:pt idx="39">
                  <c:v>107.02</c:v>
                </c:pt>
                <c:pt idx="40">
                  <c:v>107.59</c:v>
                </c:pt>
                <c:pt idx="41">
                  <c:v>108.49</c:v>
                </c:pt>
                <c:pt idx="42">
                  <c:v>107.58</c:v>
                </c:pt>
                <c:pt idx="43">
                  <c:v>107.15</c:v>
                </c:pt>
                <c:pt idx="44">
                  <c:v>107.35</c:v>
                </c:pt>
                <c:pt idx="45">
                  <c:v>107.44</c:v>
                </c:pt>
                <c:pt idx="46">
                  <c:v>107.33</c:v>
                </c:pt>
                <c:pt idx="47">
                  <c:v>106.72</c:v>
                </c:pt>
                <c:pt idx="48">
                  <c:v>107.69</c:v>
                </c:pt>
                <c:pt idx="49">
                  <c:v>106.77</c:v>
                </c:pt>
                <c:pt idx="50">
                  <c:v>106.54</c:v>
                </c:pt>
                <c:pt idx="51">
                  <c:v>106.26</c:v>
                </c:pt>
                <c:pt idx="52">
                  <c:v>106.69</c:v>
                </c:pt>
                <c:pt idx="53">
                  <c:v>107.69</c:v>
                </c:pt>
                <c:pt idx="54">
                  <c:v>107.79</c:v>
                </c:pt>
                <c:pt idx="55">
                  <c:v>107.12</c:v>
                </c:pt>
                <c:pt idx="56">
                  <c:v>106.98</c:v>
                </c:pt>
                <c:pt idx="57">
                  <c:v>106.57</c:v>
                </c:pt>
                <c:pt idx="58">
                  <c:v>106.34</c:v>
                </c:pt>
                <c:pt idx="59">
                  <c:v>106.24</c:v>
                </c:pt>
                <c:pt idx="60">
                  <c:v>105.93</c:v>
                </c:pt>
                <c:pt idx="61">
                  <c:v>106.07</c:v>
                </c:pt>
                <c:pt idx="62">
                  <c:v>106.39</c:v>
                </c:pt>
                <c:pt idx="63">
                  <c:v>105.87</c:v>
                </c:pt>
                <c:pt idx="64">
                  <c:v>106.83</c:v>
                </c:pt>
                <c:pt idx="65">
                  <c:v>106.8</c:v>
                </c:pt>
                <c:pt idx="66">
                  <c:v>107.66</c:v>
                </c:pt>
                <c:pt idx="67">
                  <c:v>108.03</c:v>
                </c:pt>
                <c:pt idx="68">
                  <c:v>108.39</c:v>
                </c:pt>
                <c:pt idx="69">
                  <c:v>108.49</c:v>
                </c:pt>
                <c:pt idx="70">
                  <c:v>108.57</c:v>
                </c:pt>
                <c:pt idx="71">
                  <c:v>109.05</c:v>
                </c:pt>
                <c:pt idx="72">
                  <c:v>110.08</c:v>
                </c:pt>
                <c:pt idx="73">
                  <c:v>109.92</c:v>
                </c:pt>
                <c:pt idx="74">
                  <c:v>110.44</c:v>
                </c:pt>
                <c:pt idx="75">
                  <c:v>109.96</c:v>
                </c:pt>
                <c:pt idx="76">
                  <c:v>110.22</c:v>
                </c:pt>
                <c:pt idx="77">
                  <c:v>109.96</c:v>
                </c:pt>
                <c:pt idx="78">
                  <c:v>109.65</c:v>
                </c:pt>
                <c:pt idx="79">
                  <c:v>109.48</c:v>
                </c:pt>
                <c:pt idx="80">
                  <c:v>110.19</c:v>
                </c:pt>
                <c:pt idx="81">
                  <c:v>111.09</c:v>
                </c:pt>
                <c:pt idx="82">
                  <c:v>110.3</c:v>
                </c:pt>
                <c:pt idx="83">
                  <c:v>111.07</c:v>
                </c:pt>
                <c:pt idx="84">
                  <c:v>110.2</c:v>
                </c:pt>
                <c:pt idx="85">
                  <c:v>110.07</c:v>
                </c:pt>
                <c:pt idx="86">
                  <c:v>109.37</c:v>
                </c:pt>
                <c:pt idx="87">
                  <c:v>108.51</c:v>
                </c:pt>
                <c:pt idx="88">
                  <c:v>109.66</c:v>
                </c:pt>
                <c:pt idx="89">
                  <c:v>109.11</c:v>
                </c:pt>
                <c:pt idx="90">
                  <c:v>109.47</c:v>
                </c:pt>
                <c:pt idx="91">
                  <c:v>108.75</c:v>
                </c:pt>
                <c:pt idx="92">
                  <c:v>108.73</c:v>
                </c:pt>
                <c:pt idx="93">
                  <c:v>109</c:v>
                </c:pt>
                <c:pt idx="94">
                  <c:v>108.27</c:v>
                </c:pt>
                <c:pt idx="95">
                  <c:v>109.26</c:v>
                </c:pt>
                <c:pt idx="96">
                  <c:v>110.17</c:v>
                </c:pt>
                <c:pt idx="97">
                  <c:v>111.1</c:v>
                </c:pt>
                <c:pt idx="98">
                  <c:v>112.01</c:v>
                </c:pt>
                <c:pt idx="99">
                  <c:v>112.97</c:v>
                </c:pt>
                <c:pt idx="100">
                  <c:v>113.61</c:v>
                </c:pt>
                <c:pt idx="101">
                  <c:v>113.19</c:v>
                </c:pt>
                <c:pt idx="102">
                  <c:v>112.18</c:v>
                </c:pt>
                <c:pt idx="103">
                  <c:v>111.69</c:v>
                </c:pt>
                <c:pt idx="104">
                  <c:v>110.82</c:v>
                </c:pt>
                <c:pt idx="105">
                  <c:v>109.79</c:v>
                </c:pt>
                <c:pt idx="106">
                  <c:v>110.11</c:v>
                </c:pt>
                <c:pt idx="107">
                  <c:v>109.59</c:v>
                </c:pt>
                <c:pt idx="108">
                  <c:v>110.19</c:v>
                </c:pt>
                <c:pt idx="109">
                  <c:v>110.23</c:v>
                </c:pt>
                <c:pt idx="110">
                  <c:v>110.71</c:v>
                </c:pt>
                <c:pt idx="111">
                  <c:v>110.2</c:v>
                </c:pt>
                <c:pt idx="112">
                  <c:v>111.1</c:v>
                </c:pt>
                <c:pt idx="113">
                  <c:v>110.59</c:v>
                </c:pt>
                <c:pt idx="114">
                  <c:v>110.37</c:v>
                </c:pt>
                <c:pt idx="115">
                  <c:v>111.31</c:v>
                </c:pt>
                <c:pt idx="116">
                  <c:v>110.53</c:v>
                </c:pt>
                <c:pt idx="117">
                  <c:v>110.58</c:v>
                </c:pt>
                <c:pt idx="118">
                  <c:v>109.55</c:v>
                </c:pt>
                <c:pt idx="119">
                  <c:v>110.52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5"/>
          <c:min val="9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 projet en une phrase : un système qui transforme des convictions de trading en règles testables, puis qui mesure honnêtement si elles tiennent. Le fil rouge est la rigueur de la validation, plus que la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la troisième conviction, la plus originale. L'indicateur d'extension (distance du cours à sa moyenne en ATR) mesure précisément ce qu'on veut éviter. J'ai donc construit l'inverse : une proximité à la moyenne, combinée à une pente positive de cette moyenne.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rail en haut de chaque diapo reprend ces huit étapes : il indique où l'on se trouve. Les étapes 4 à 7 constituent le cœur méthodologique ; c'est là que se joue la crédibilité du modèle.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conventions divergent entre librairies : un ATR 14 au sens de Wilder a l'inertie d'une EMA 27. J'ai tout recodé pour maîtriser ces conventions, puis vérifié contre les implémentations de référence.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Erreur répandue : empiler des oscillateurs dans un score sans vérifier qu'ils sont orientés. Un indicateur de contexte peut devenir classable si on lui adjoint un signe, par exemple ER multiplié par le signe du momentum.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filtres se multiplient : trois conditions à 40 % de passage chacune ne laissent passer qu'une fraction de l'univers. À 8 conditions, la plupart des jours, le panier est vide. C'est ce résultat qui a motivé le passage à un score continu.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Forme linéaire par morceaux : continue, bornée, nulle exactement au seuil, et lisible. On peut expliquer chaque sous-score à la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variantes font varier la conviction, pas les seuils. Tous les seuils sont fixés à la main : aucun essai d'optimisation n'est consommé, ce qui garde le test de sélection multiple aussi sévère que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prix d'exécution est observable et non ambigu. Exécuter « dans la journée » obligerait à supposer un prix inconnu. Piste d'amélioration : l'enchère de clôture, plus liquide que l'ouverture.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Forme de bootstrap par blocs. Le choix sans recouvrement coûte des observations mais évite de sous-estimer l'incertitude : des fenêtres chevauchantes partageraient les mêmes jours.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L'héritage de fréquence évite de pénaliser un indicateur pour avoir eu des doublons. Le survivant est le plus fréquent, départagé par le P&amp;L du panier d'origine.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purge retire les observations d'entraînement dont le rendement futur déborde sur la période de test ; l'embargo coupe l'autocorrélation résiduelle. Méthode décrite par López de Prado.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Résultat contre-intuitif. La formule théorique du maximum de N tirages suppose l'indépendance ; des combinaisons qui partagent des indicateurs sont corrélées, d'où la calibration empirique par permutation.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fenêtres tirées de l'épisode 1989-1991 partagent le même contexte de taux et de valorisation : ce ne sont pas trois observations. Sous six épisodes par régime, je ne conclus rien d'un classement entre paniers.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portefeuille cible ne tient pas compte des positions existantes. Le carnet répond à la question opérationnelle : quoi acheter et vendre demain, étant donné ce que j'ai.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Sharpe positif sur des données de bruit signalerait une fuite d'information future. Ce test tourne à chaque modification du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Lister ses propres limites spontanément est plus convaincant que de vendre un chiffre. Le biais du survivant est la plus sérieuse, et elle ne se corrige pas par du code : il faut des données point-in-time.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Répondre avec un chiffre précis plutôt qu'une méthode quand c'est possible : t de 2,59 sur du bruit, couverture nulle au-delà de 7 conditions, alpha de −3,87 % en contrôle négatif.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A"/>
        </a:solidFill>
      </p:bgPr>
    </p:bg>
    <p:spTree>
      <p:nvGrpSpPr>
        <p:cNvPr id="1" name=""/>
        <p:cNvGrpSpPr/>
        <p:nvPr/>
      </p:nvGrpSpPr>
      <p:grpSpPr>
        <a:xfrm>
          <a:off x="0" y="0"/>
          <a:ext cx="0" cy="0"/>
          <a:chOff x="0" y="0"/>
          <a:chExt cx="0" cy="0"/>
        </a:xfrm>
      </p:grpSpPr>
      <p:sp>
        <p:nvSpPr>
          <p:cNvPr id="2" name="Shape 0"/>
          <p:cNvSpPr/>
          <p:nvPr/>
        </p:nvSpPr>
        <p:spPr>
          <a:xfrm>
            <a:off x="548640" y="292608"/>
            <a:ext cx="1322451" cy="45720"/>
          </a:xfrm>
          <a:prstGeom prst="rect">
            <a:avLst/>
          </a:prstGeom>
          <a:solidFill>
            <a:srgbClr val="2F4049"/>
          </a:solidFill>
          <a:ln w="12700">
            <a:solidFill>
              <a:srgbClr val="2F4049"/>
            </a:solidFill>
            <a:prstDash val="solid"/>
          </a:ln>
        </p:spPr>
      </p:sp>
      <p:sp>
        <p:nvSpPr>
          <p:cNvPr id="3" name="Text 1"/>
          <p:cNvSpPr txBox="1"/>
          <p:nvPr/>
        </p:nvSpPr>
        <p:spPr>
          <a:xfrm>
            <a:off x="548640" y="402336"/>
            <a:ext cx="1322451" cy="237744"/>
          </a:xfrm>
          <a:prstGeom prst="rect">
            <a:avLst/>
          </a:prstGeom>
          <a:noFill/>
          <a:ln/>
        </p:spPr>
        <p:txBody>
          <a:bodyPr wrap="square" lIns="0" tIns="0" rIns="0" bIns="0" rtlCol="0" anchor="t"/>
          <a:lstStyle/>
          <a:p>
            <a:pPr indent="0" marL="0">
              <a:buNone/>
            </a:pPr>
            <a:r>
              <a:rPr lang="en-US" sz="1000" b="1" dirty="0">
                <a:solidFill>
                  <a:srgbClr val="9AA9B0"/>
                </a:solidFill>
                <a:latin typeface="Arial" pitchFamily="34" charset="0"/>
                <a:ea typeface="Arial" pitchFamily="34" charset="-122"/>
                <a:cs typeface="Arial" pitchFamily="34" charset="-120"/>
              </a:rPr>
              <a:t>1  </a:t>
            </a:r>
            <a:pPr indent="0" marL="0">
              <a:buNone/>
            </a:pPr>
            <a:r>
              <a:rPr lang="en-US" sz="1000" dirty="0">
                <a:solidFill>
                  <a:srgbClr val="9AA9B0"/>
                </a:solidFill>
                <a:latin typeface="Arial" pitchFamily="34" charset="0"/>
                <a:ea typeface="Arial" pitchFamily="34" charset="-122"/>
                <a:cs typeface="Arial" pitchFamily="34" charset="-120"/>
              </a:rPr>
              <a:t>Données</a:t>
            </a:r>
            <a:endParaRPr lang="en-US" sz="1000" dirty="0"/>
          </a:p>
        </p:txBody>
      </p:sp>
      <p:sp>
        <p:nvSpPr>
          <p:cNvPr id="4" name="Shape 2"/>
          <p:cNvSpPr/>
          <p:nvPr/>
        </p:nvSpPr>
        <p:spPr>
          <a:xfrm>
            <a:off x="1944243" y="292608"/>
            <a:ext cx="1322451" cy="45720"/>
          </a:xfrm>
          <a:prstGeom prst="rect">
            <a:avLst/>
          </a:prstGeom>
          <a:solidFill>
            <a:srgbClr val="2F4049"/>
          </a:solidFill>
          <a:ln w="12700">
            <a:solidFill>
              <a:srgbClr val="2F4049"/>
            </a:solidFill>
            <a:prstDash val="solid"/>
          </a:ln>
        </p:spPr>
      </p:sp>
      <p:sp>
        <p:nvSpPr>
          <p:cNvPr id="5" name="Text 3"/>
          <p:cNvSpPr txBox="1"/>
          <p:nvPr/>
        </p:nvSpPr>
        <p:spPr>
          <a:xfrm>
            <a:off x="1944243" y="402336"/>
            <a:ext cx="1322451" cy="237744"/>
          </a:xfrm>
          <a:prstGeom prst="rect">
            <a:avLst/>
          </a:prstGeom>
          <a:noFill/>
          <a:ln/>
        </p:spPr>
        <p:txBody>
          <a:bodyPr wrap="square" lIns="0" tIns="0" rIns="0" bIns="0" rtlCol="0" anchor="t"/>
          <a:lstStyle/>
          <a:p>
            <a:pPr indent="0" marL="0">
              <a:buNone/>
            </a:pPr>
            <a:r>
              <a:rPr lang="en-US" sz="1000" b="1" dirty="0">
                <a:solidFill>
                  <a:srgbClr val="9AA9B0"/>
                </a:solidFill>
                <a:latin typeface="Arial" pitchFamily="34" charset="0"/>
                <a:ea typeface="Arial" pitchFamily="34" charset="-122"/>
                <a:cs typeface="Arial" pitchFamily="34" charset="-120"/>
              </a:rPr>
              <a:t>2  </a:t>
            </a:r>
            <a:pPr indent="0" marL="0">
              <a:buNone/>
            </a:pPr>
            <a:r>
              <a:rPr lang="en-US" sz="1000" dirty="0">
                <a:solidFill>
                  <a:srgbClr val="9AA9B0"/>
                </a:solidFill>
                <a:latin typeface="Arial" pitchFamily="34" charset="0"/>
                <a:ea typeface="Arial" pitchFamily="34" charset="-122"/>
                <a:cs typeface="Arial" pitchFamily="34" charset="-120"/>
              </a:rPr>
              <a:t>Indicateurs</a:t>
            </a:r>
            <a:endParaRPr lang="en-US" sz="1000" dirty="0"/>
          </a:p>
        </p:txBody>
      </p:sp>
      <p:sp>
        <p:nvSpPr>
          <p:cNvPr id="6" name="Shape 4"/>
          <p:cNvSpPr/>
          <p:nvPr/>
        </p:nvSpPr>
        <p:spPr>
          <a:xfrm>
            <a:off x="3339846" y="292608"/>
            <a:ext cx="1322451" cy="45720"/>
          </a:xfrm>
          <a:prstGeom prst="rect">
            <a:avLst/>
          </a:prstGeom>
          <a:solidFill>
            <a:srgbClr val="2F4049"/>
          </a:solidFill>
          <a:ln w="12700">
            <a:solidFill>
              <a:srgbClr val="2F4049"/>
            </a:solidFill>
            <a:prstDash val="solid"/>
          </a:ln>
        </p:spPr>
      </p:sp>
      <p:sp>
        <p:nvSpPr>
          <p:cNvPr id="7" name="Text 5"/>
          <p:cNvSpPr txBox="1"/>
          <p:nvPr/>
        </p:nvSpPr>
        <p:spPr>
          <a:xfrm>
            <a:off x="3339846" y="402336"/>
            <a:ext cx="1322451" cy="237744"/>
          </a:xfrm>
          <a:prstGeom prst="rect">
            <a:avLst/>
          </a:prstGeom>
          <a:noFill/>
          <a:ln/>
        </p:spPr>
        <p:txBody>
          <a:bodyPr wrap="square" lIns="0" tIns="0" rIns="0" bIns="0" rtlCol="0" anchor="t"/>
          <a:lstStyle/>
          <a:p>
            <a:pPr indent="0" marL="0">
              <a:buNone/>
            </a:pPr>
            <a:r>
              <a:rPr lang="en-US" sz="1000" b="1" dirty="0">
                <a:solidFill>
                  <a:srgbClr val="9AA9B0"/>
                </a:solidFill>
                <a:latin typeface="Arial" pitchFamily="34" charset="0"/>
                <a:ea typeface="Arial" pitchFamily="34" charset="-122"/>
                <a:cs typeface="Arial" pitchFamily="34" charset="-120"/>
              </a:rPr>
              <a:t>3  </a:t>
            </a:r>
            <a:pPr indent="0" marL="0">
              <a:buNone/>
            </a:pPr>
            <a:r>
              <a:rPr lang="en-US" sz="1000" dirty="0">
                <a:solidFill>
                  <a:srgbClr val="9AA9B0"/>
                </a:solidFill>
                <a:latin typeface="Arial" pitchFamily="34" charset="0"/>
                <a:ea typeface="Arial" pitchFamily="34" charset="-122"/>
                <a:cs typeface="Arial" pitchFamily="34" charset="-120"/>
              </a:rPr>
              <a:t>Paniers</a:t>
            </a:r>
            <a:endParaRPr lang="en-US" sz="1000" dirty="0"/>
          </a:p>
        </p:txBody>
      </p:sp>
      <p:sp>
        <p:nvSpPr>
          <p:cNvPr id="8" name="Shape 6"/>
          <p:cNvSpPr/>
          <p:nvPr/>
        </p:nvSpPr>
        <p:spPr>
          <a:xfrm>
            <a:off x="4735449" y="292608"/>
            <a:ext cx="1322451" cy="45720"/>
          </a:xfrm>
          <a:prstGeom prst="rect">
            <a:avLst/>
          </a:prstGeom>
          <a:solidFill>
            <a:srgbClr val="2F4049"/>
          </a:solidFill>
          <a:ln w="12700">
            <a:solidFill>
              <a:srgbClr val="2F4049"/>
            </a:solidFill>
            <a:prstDash val="solid"/>
          </a:ln>
        </p:spPr>
      </p:sp>
      <p:sp>
        <p:nvSpPr>
          <p:cNvPr id="9" name="Text 7"/>
          <p:cNvSpPr txBox="1"/>
          <p:nvPr/>
        </p:nvSpPr>
        <p:spPr>
          <a:xfrm>
            <a:off x="4735449" y="402336"/>
            <a:ext cx="1322451" cy="237744"/>
          </a:xfrm>
          <a:prstGeom prst="rect">
            <a:avLst/>
          </a:prstGeom>
          <a:noFill/>
          <a:ln/>
        </p:spPr>
        <p:txBody>
          <a:bodyPr wrap="square" lIns="0" tIns="0" rIns="0" bIns="0" rtlCol="0" anchor="t"/>
          <a:lstStyle/>
          <a:p>
            <a:pPr indent="0" marL="0">
              <a:buNone/>
            </a:pPr>
            <a:r>
              <a:rPr lang="en-US" sz="1000" b="1" dirty="0">
                <a:solidFill>
                  <a:srgbClr val="9AA9B0"/>
                </a:solidFill>
                <a:latin typeface="Arial" pitchFamily="34" charset="0"/>
                <a:ea typeface="Arial" pitchFamily="34" charset="-122"/>
                <a:cs typeface="Arial" pitchFamily="34" charset="-120"/>
              </a:rPr>
              <a:t>4  </a:t>
            </a:r>
            <a:pPr indent="0" marL="0">
              <a:buNone/>
            </a:pPr>
            <a:r>
              <a:rPr lang="en-US" sz="1000" dirty="0">
                <a:solidFill>
                  <a:srgbClr val="9AA9B0"/>
                </a:solidFill>
                <a:latin typeface="Arial" pitchFamily="34" charset="0"/>
                <a:ea typeface="Arial" pitchFamily="34" charset="-122"/>
                <a:cs typeface="Arial" pitchFamily="34" charset="-120"/>
              </a:rPr>
              <a:t>Bootstrap</a:t>
            </a:r>
            <a:endParaRPr lang="en-US" sz="1000" dirty="0"/>
          </a:p>
        </p:txBody>
      </p:sp>
      <p:sp>
        <p:nvSpPr>
          <p:cNvPr id="10" name="Shape 8"/>
          <p:cNvSpPr/>
          <p:nvPr/>
        </p:nvSpPr>
        <p:spPr>
          <a:xfrm>
            <a:off x="6131052" y="292608"/>
            <a:ext cx="1322451" cy="45720"/>
          </a:xfrm>
          <a:prstGeom prst="rect">
            <a:avLst/>
          </a:prstGeom>
          <a:solidFill>
            <a:srgbClr val="2F4049"/>
          </a:solidFill>
          <a:ln w="12700">
            <a:solidFill>
              <a:srgbClr val="2F4049"/>
            </a:solidFill>
            <a:prstDash val="solid"/>
          </a:ln>
        </p:spPr>
      </p:sp>
      <p:sp>
        <p:nvSpPr>
          <p:cNvPr id="11" name="Text 9"/>
          <p:cNvSpPr txBox="1"/>
          <p:nvPr/>
        </p:nvSpPr>
        <p:spPr>
          <a:xfrm>
            <a:off x="6131052" y="402336"/>
            <a:ext cx="1322451" cy="237744"/>
          </a:xfrm>
          <a:prstGeom prst="rect">
            <a:avLst/>
          </a:prstGeom>
          <a:noFill/>
          <a:ln/>
        </p:spPr>
        <p:txBody>
          <a:bodyPr wrap="square" lIns="0" tIns="0" rIns="0" bIns="0" rtlCol="0" anchor="t"/>
          <a:lstStyle/>
          <a:p>
            <a:pPr indent="0" marL="0">
              <a:buNone/>
            </a:pPr>
            <a:r>
              <a:rPr lang="en-US" sz="1000" b="1" dirty="0">
                <a:solidFill>
                  <a:srgbClr val="9AA9B0"/>
                </a:solidFill>
                <a:latin typeface="Arial" pitchFamily="34" charset="0"/>
                <a:ea typeface="Arial" pitchFamily="34" charset="-122"/>
                <a:cs typeface="Arial" pitchFamily="34" charset="-120"/>
              </a:rPr>
              <a:t>5  </a:t>
            </a:r>
            <a:pPr indent="0" marL="0">
              <a:buNone/>
            </a:pPr>
            <a:r>
              <a:rPr lang="en-US" sz="1000" dirty="0">
                <a:solidFill>
                  <a:srgbClr val="9AA9B0"/>
                </a:solidFill>
                <a:latin typeface="Arial" pitchFamily="34" charset="0"/>
                <a:ea typeface="Arial" pitchFamily="34" charset="-122"/>
                <a:cs typeface="Arial" pitchFamily="34" charset="-120"/>
              </a:rPr>
              <a:t>Sélection</a:t>
            </a:r>
            <a:endParaRPr lang="en-US" sz="1000" dirty="0"/>
          </a:p>
        </p:txBody>
      </p:sp>
      <p:sp>
        <p:nvSpPr>
          <p:cNvPr id="12" name="Shape 10"/>
          <p:cNvSpPr/>
          <p:nvPr/>
        </p:nvSpPr>
        <p:spPr>
          <a:xfrm>
            <a:off x="7526655" y="292608"/>
            <a:ext cx="1322451" cy="45720"/>
          </a:xfrm>
          <a:prstGeom prst="rect">
            <a:avLst/>
          </a:prstGeom>
          <a:solidFill>
            <a:srgbClr val="2F4049"/>
          </a:solidFill>
          <a:ln w="12700">
            <a:solidFill>
              <a:srgbClr val="2F4049"/>
            </a:solidFill>
            <a:prstDash val="solid"/>
          </a:ln>
        </p:spPr>
      </p:sp>
      <p:sp>
        <p:nvSpPr>
          <p:cNvPr id="13" name="Text 11"/>
          <p:cNvSpPr txBox="1"/>
          <p:nvPr/>
        </p:nvSpPr>
        <p:spPr>
          <a:xfrm>
            <a:off x="7526655" y="402336"/>
            <a:ext cx="1322451" cy="237744"/>
          </a:xfrm>
          <a:prstGeom prst="rect">
            <a:avLst/>
          </a:prstGeom>
          <a:noFill/>
          <a:ln/>
        </p:spPr>
        <p:txBody>
          <a:bodyPr wrap="square" lIns="0" tIns="0" rIns="0" bIns="0" rtlCol="0" anchor="t"/>
          <a:lstStyle/>
          <a:p>
            <a:pPr indent="0" marL="0">
              <a:buNone/>
            </a:pPr>
            <a:r>
              <a:rPr lang="en-US" sz="1000" b="1" dirty="0">
                <a:solidFill>
                  <a:srgbClr val="9AA9B0"/>
                </a:solidFill>
                <a:latin typeface="Arial" pitchFamily="34" charset="0"/>
                <a:ea typeface="Arial" pitchFamily="34" charset="-122"/>
                <a:cs typeface="Arial" pitchFamily="34" charset="-120"/>
              </a:rPr>
              <a:t>6  </a:t>
            </a:r>
            <a:pPr indent="0" marL="0">
              <a:buNone/>
            </a:pPr>
            <a:r>
              <a:rPr lang="en-US" sz="1000" dirty="0">
                <a:solidFill>
                  <a:srgbClr val="9AA9B0"/>
                </a:solidFill>
                <a:latin typeface="Arial" pitchFamily="34" charset="0"/>
                <a:ea typeface="Arial" pitchFamily="34" charset="-122"/>
                <a:cs typeface="Arial" pitchFamily="34" charset="-120"/>
              </a:rPr>
              <a:t>Fusion</a:t>
            </a:r>
            <a:endParaRPr lang="en-US" sz="1000" dirty="0"/>
          </a:p>
        </p:txBody>
      </p:sp>
      <p:sp>
        <p:nvSpPr>
          <p:cNvPr id="14" name="Shape 12"/>
          <p:cNvSpPr/>
          <p:nvPr/>
        </p:nvSpPr>
        <p:spPr>
          <a:xfrm>
            <a:off x="8922258" y="292608"/>
            <a:ext cx="1322451" cy="45720"/>
          </a:xfrm>
          <a:prstGeom prst="rect">
            <a:avLst/>
          </a:prstGeom>
          <a:solidFill>
            <a:srgbClr val="2F4049"/>
          </a:solidFill>
          <a:ln w="12700">
            <a:solidFill>
              <a:srgbClr val="2F4049"/>
            </a:solidFill>
            <a:prstDash val="solid"/>
          </a:ln>
        </p:spPr>
      </p:sp>
      <p:sp>
        <p:nvSpPr>
          <p:cNvPr id="15" name="Text 13"/>
          <p:cNvSpPr txBox="1"/>
          <p:nvPr/>
        </p:nvSpPr>
        <p:spPr>
          <a:xfrm>
            <a:off x="8922258" y="402336"/>
            <a:ext cx="1322451" cy="237744"/>
          </a:xfrm>
          <a:prstGeom prst="rect">
            <a:avLst/>
          </a:prstGeom>
          <a:noFill/>
          <a:ln/>
        </p:spPr>
        <p:txBody>
          <a:bodyPr wrap="square" lIns="0" tIns="0" rIns="0" bIns="0" rtlCol="0" anchor="t"/>
          <a:lstStyle/>
          <a:p>
            <a:pPr indent="0" marL="0">
              <a:buNone/>
            </a:pPr>
            <a:r>
              <a:rPr lang="en-US" sz="1000" b="1" dirty="0">
                <a:solidFill>
                  <a:srgbClr val="9AA9B0"/>
                </a:solidFill>
                <a:latin typeface="Arial" pitchFamily="34" charset="0"/>
                <a:ea typeface="Arial" pitchFamily="34" charset="-122"/>
                <a:cs typeface="Arial" pitchFamily="34" charset="-120"/>
              </a:rPr>
              <a:t>7  </a:t>
            </a:r>
            <a:pPr indent="0" marL="0">
              <a:buNone/>
            </a:pPr>
            <a:r>
              <a:rPr lang="en-US" sz="1000" dirty="0">
                <a:solidFill>
                  <a:srgbClr val="9AA9B0"/>
                </a:solidFill>
                <a:latin typeface="Arial" pitchFamily="34" charset="0"/>
                <a:ea typeface="Arial" pitchFamily="34" charset="-122"/>
                <a:cs typeface="Arial" pitchFamily="34" charset="-120"/>
              </a:rPr>
              <a:t>Validation</a:t>
            </a:r>
            <a:endParaRPr lang="en-US" sz="1000" dirty="0"/>
          </a:p>
        </p:txBody>
      </p:sp>
      <p:sp>
        <p:nvSpPr>
          <p:cNvPr id="16" name="Shape 14"/>
          <p:cNvSpPr/>
          <p:nvPr/>
        </p:nvSpPr>
        <p:spPr>
          <a:xfrm>
            <a:off x="10317861" y="292608"/>
            <a:ext cx="1322451" cy="45720"/>
          </a:xfrm>
          <a:prstGeom prst="rect">
            <a:avLst/>
          </a:prstGeom>
          <a:solidFill>
            <a:srgbClr val="2F4049"/>
          </a:solidFill>
          <a:ln w="12700">
            <a:solidFill>
              <a:srgbClr val="2F4049"/>
            </a:solidFill>
            <a:prstDash val="solid"/>
          </a:ln>
        </p:spPr>
      </p:sp>
      <p:sp>
        <p:nvSpPr>
          <p:cNvPr id="17" name="Text 15"/>
          <p:cNvSpPr txBox="1"/>
          <p:nvPr/>
        </p:nvSpPr>
        <p:spPr>
          <a:xfrm>
            <a:off x="10317861" y="402336"/>
            <a:ext cx="1322451" cy="237744"/>
          </a:xfrm>
          <a:prstGeom prst="rect">
            <a:avLst/>
          </a:prstGeom>
          <a:noFill/>
          <a:ln/>
        </p:spPr>
        <p:txBody>
          <a:bodyPr wrap="square" lIns="0" tIns="0" rIns="0" bIns="0" rtlCol="0" anchor="t"/>
          <a:lstStyle/>
          <a:p>
            <a:pPr indent="0" marL="0">
              <a:buNone/>
            </a:pPr>
            <a:r>
              <a:rPr lang="en-US" sz="1000" b="1" dirty="0">
                <a:solidFill>
                  <a:srgbClr val="9AA9B0"/>
                </a:solidFill>
                <a:latin typeface="Arial" pitchFamily="34" charset="0"/>
                <a:ea typeface="Arial" pitchFamily="34" charset="-122"/>
                <a:cs typeface="Arial" pitchFamily="34" charset="-120"/>
              </a:rPr>
              <a:t>8  </a:t>
            </a:r>
            <a:pPr indent="0" marL="0">
              <a:buNone/>
            </a:pPr>
            <a:r>
              <a:rPr lang="en-US" sz="1000" dirty="0">
                <a:solidFill>
                  <a:srgbClr val="9AA9B0"/>
                </a:solidFill>
                <a:latin typeface="Arial" pitchFamily="34" charset="0"/>
                <a:ea typeface="Arial" pitchFamily="34" charset="-122"/>
                <a:cs typeface="Arial" pitchFamily="34" charset="-120"/>
              </a:rPr>
              <a:t>Production</a:t>
            </a:r>
            <a:endParaRPr lang="en-US" sz="1000" dirty="0"/>
          </a:p>
        </p:txBody>
      </p:sp>
      <p:sp>
        <p:nvSpPr>
          <p:cNvPr id="18" name="Text 16"/>
          <p:cNvSpPr txBox="1"/>
          <p:nvPr/>
        </p:nvSpPr>
        <p:spPr>
          <a:xfrm>
            <a:off x="548640" y="1737360"/>
            <a:ext cx="8595360" cy="2377440"/>
          </a:xfrm>
          <a:prstGeom prst="rect">
            <a:avLst/>
          </a:prstGeom>
          <a:noFill/>
          <a:ln/>
        </p:spPr>
        <p:txBody>
          <a:bodyPr wrap="square" lIns="0" tIns="0" rIns="0" bIns="0" rtlCol="0" anchor="t"/>
          <a:lstStyle/>
          <a:p>
            <a:pPr indent="0" marL="0">
              <a:lnSpc>
                <a:spcPct val="95000"/>
              </a:lnSpc>
              <a:buNone/>
            </a:pPr>
            <a:r>
              <a:rPr lang="en-US" sz="5000" b="1" dirty="0">
                <a:solidFill>
                  <a:srgbClr val="FFFFFF"/>
                </a:solidFill>
                <a:latin typeface="Arial" pitchFamily="34" charset="0"/>
                <a:ea typeface="Arial" pitchFamily="34" charset="-122"/>
                <a:cs typeface="Arial" pitchFamily="34" charset="-120"/>
              </a:rPr>
              <a:t>Un algorithme actions qui cherche le début des hausses</a:t>
            </a:r>
            <a:endParaRPr lang="en-US" sz="5000" dirty="0"/>
          </a:p>
        </p:txBody>
      </p:sp>
      <p:sp>
        <p:nvSpPr>
          <p:cNvPr id="19" name="Text 17"/>
          <p:cNvSpPr txBox="1"/>
          <p:nvPr/>
        </p:nvSpPr>
        <p:spPr>
          <a:xfrm>
            <a:off x="548640" y="4343400"/>
            <a:ext cx="7680960" cy="822960"/>
          </a:xfrm>
          <a:prstGeom prst="rect">
            <a:avLst/>
          </a:prstGeom>
          <a:noFill/>
          <a:ln/>
        </p:spPr>
        <p:txBody>
          <a:bodyPr wrap="square" lIns="0" tIns="0" rIns="0" bIns="0" rtlCol="0" anchor="t"/>
          <a:lstStyle/>
          <a:p>
            <a:pPr indent="0" marL="0">
              <a:buNone/>
            </a:pPr>
            <a:r>
              <a:rPr lang="en-US" sz="1900" dirty="0">
                <a:solidFill>
                  <a:srgbClr val="9AA9B0"/>
                </a:solidFill>
                <a:latin typeface="Arial" pitchFamily="34" charset="0"/>
                <a:ea typeface="Arial" pitchFamily="34" charset="-122"/>
                <a:cs typeface="Arial" pitchFamily="34" charset="-120"/>
              </a:rPr>
              <a:t>Sélection cross-sectionnelle par paniers de conditions, simulation jour par jour et validation hors échantillon.</a:t>
            </a:r>
            <a:endParaRPr lang="en-US" sz="1900" dirty="0"/>
          </a:p>
        </p:txBody>
      </p:sp>
      <p:sp>
        <p:nvSpPr>
          <p:cNvPr id="20" name="Text 18"/>
          <p:cNvSpPr txBox="1"/>
          <p:nvPr/>
        </p:nvSpPr>
        <p:spPr>
          <a:xfrm>
            <a:off x="548640" y="5349240"/>
            <a:ext cx="7680960" cy="365760"/>
          </a:xfrm>
          <a:prstGeom prst="rect">
            <a:avLst/>
          </a:prstGeom>
          <a:noFill/>
          <a:ln/>
        </p:spPr>
        <p:txBody>
          <a:bodyPr wrap="square" lIns="0" tIns="0" rIns="0" bIns="0" rtlCol="0" anchor="t"/>
          <a:lstStyle/>
          <a:p>
            <a:pPr indent="0" marL="0">
              <a:buNone/>
            </a:pPr>
            <a:r>
              <a:rPr lang="en-US" sz="1400" b="1" dirty="0">
                <a:solidFill>
                  <a:srgbClr val="3CC39E"/>
                </a:solidFill>
                <a:latin typeface="Arial" pitchFamily="34" charset="0"/>
                <a:ea typeface="Arial" pitchFamily="34" charset="-122"/>
                <a:cs typeface="Arial" pitchFamily="34" charset="-120"/>
              </a:rPr>
              <a:t>Python · environ 4 500 lignes · 40 contrôles automatiques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F0EE"/>
        </a:solidFill>
      </p:bgPr>
    </p:bg>
    <p:spTree>
      <p:nvGrpSpPr>
        <p:cNvPr id="1" name=""/>
        <p:cNvGrpSpPr/>
        <p:nvPr/>
      </p:nvGrpSpPr>
      <p:grpSpPr>
        <a:xfrm>
          <a:off x="0" y="0"/>
          <a:ext cx="0" cy="0"/>
          <a:chOff x="0" y="0"/>
          <a:chExt cx="0" cy="0"/>
        </a:xfrm>
      </p:grpSpPr>
      <p:sp>
        <p:nvSpPr>
          <p:cNvPr id="2" name="Shape 0"/>
          <p:cNvSpPr/>
          <p:nvPr/>
        </p:nvSpPr>
        <p:spPr>
          <a:xfrm>
            <a:off x="548640" y="292608"/>
            <a:ext cx="1322451" cy="45720"/>
          </a:xfrm>
          <a:prstGeom prst="rect">
            <a:avLst/>
          </a:prstGeom>
          <a:solidFill>
            <a:srgbClr val="C6CFCB"/>
          </a:solidFill>
          <a:ln w="12700">
            <a:solidFill>
              <a:srgbClr val="C6CFCB"/>
            </a:solidFill>
            <a:prstDash val="solid"/>
          </a:ln>
        </p:spPr>
      </p:sp>
      <p:sp>
        <p:nvSpPr>
          <p:cNvPr id="3" name="Text 1"/>
          <p:cNvSpPr txBox="1"/>
          <p:nvPr/>
        </p:nvSpPr>
        <p:spPr>
          <a:xfrm>
            <a:off x="548640"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1  </a:t>
            </a:r>
            <a:pPr indent="0" marL="0">
              <a:buNone/>
            </a:pPr>
            <a:r>
              <a:rPr lang="en-US" sz="1000" dirty="0">
                <a:solidFill>
                  <a:srgbClr val="52616C"/>
                </a:solidFill>
                <a:latin typeface="Arial" pitchFamily="34" charset="0"/>
                <a:ea typeface="Arial" pitchFamily="34" charset="-122"/>
                <a:cs typeface="Arial" pitchFamily="34" charset="-120"/>
              </a:rPr>
              <a:t>Données</a:t>
            </a:r>
            <a:endParaRPr lang="en-US" sz="1000" dirty="0"/>
          </a:p>
        </p:txBody>
      </p:sp>
      <p:sp>
        <p:nvSpPr>
          <p:cNvPr id="4" name="Shape 2"/>
          <p:cNvSpPr/>
          <p:nvPr/>
        </p:nvSpPr>
        <p:spPr>
          <a:xfrm>
            <a:off x="1944243" y="292608"/>
            <a:ext cx="1322451" cy="45720"/>
          </a:xfrm>
          <a:prstGeom prst="rect">
            <a:avLst/>
          </a:prstGeom>
          <a:solidFill>
            <a:srgbClr val="C6CFCB"/>
          </a:solidFill>
          <a:ln w="12700">
            <a:solidFill>
              <a:srgbClr val="C6CFCB"/>
            </a:solidFill>
            <a:prstDash val="solid"/>
          </a:ln>
        </p:spPr>
      </p:sp>
      <p:sp>
        <p:nvSpPr>
          <p:cNvPr id="5" name="Text 3"/>
          <p:cNvSpPr txBox="1"/>
          <p:nvPr/>
        </p:nvSpPr>
        <p:spPr>
          <a:xfrm>
            <a:off x="1944243"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2  </a:t>
            </a:r>
            <a:pPr indent="0" marL="0">
              <a:buNone/>
            </a:pPr>
            <a:r>
              <a:rPr lang="en-US" sz="1000" dirty="0">
                <a:solidFill>
                  <a:srgbClr val="52616C"/>
                </a:solidFill>
                <a:latin typeface="Arial" pitchFamily="34" charset="0"/>
                <a:ea typeface="Arial" pitchFamily="34" charset="-122"/>
                <a:cs typeface="Arial" pitchFamily="34" charset="-120"/>
              </a:rPr>
              <a:t>Indicateurs</a:t>
            </a:r>
            <a:endParaRPr lang="en-US" sz="1000" dirty="0"/>
          </a:p>
        </p:txBody>
      </p:sp>
      <p:sp>
        <p:nvSpPr>
          <p:cNvPr id="6" name="Shape 4"/>
          <p:cNvSpPr/>
          <p:nvPr/>
        </p:nvSpPr>
        <p:spPr>
          <a:xfrm>
            <a:off x="3339846" y="292608"/>
            <a:ext cx="1322451" cy="45720"/>
          </a:xfrm>
          <a:prstGeom prst="rect">
            <a:avLst/>
          </a:prstGeom>
          <a:solidFill>
            <a:srgbClr val="C6CFCB"/>
          </a:solidFill>
          <a:ln w="12700">
            <a:solidFill>
              <a:srgbClr val="C6CFCB"/>
            </a:solidFill>
            <a:prstDash val="solid"/>
          </a:ln>
        </p:spPr>
      </p:sp>
      <p:sp>
        <p:nvSpPr>
          <p:cNvPr id="7" name="Text 5"/>
          <p:cNvSpPr txBox="1"/>
          <p:nvPr/>
        </p:nvSpPr>
        <p:spPr>
          <a:xfrm>
            <a:off x="3339846"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3  </a:t>
            </a:r>
            <a:pPr indent="0" marL="0">
              <a:buNone/>
            </a:pPr>
            <a:r>
              <a:rPr lang="en-US" sz="1000" dirty="0">
                <a:solidFill>
                  <a:srgbClr val="52616C"/>
                </a:solidFill>
                <a:latin typeface="Arial" pitchFamily="34" charset="0"/>
                <a:ea typeface="Arial" pitchFamily="34" charset="-122"/>
                <a:cs typeface="Arial" pitchFamily="34" charset="-120"/>
              </a:rPr>
              <a:t>Paniers</a:t>
            </a:r>
            <a:endParaRPr lang="en-US" sz="1000" dirty="0"/>
          </a:p>
        </p:txBody>
      </p:sp>
      <p:sp>
        <p:nvSpPr>
          <p:cNvPr id="8" name="Shape 6"/>
          <p:cNvSpPr/>
          <p:nvPr/>
        </p:nvSpPr>
        <p:spPr>
          <a:xfrm>
            <a:off x="4735449" y="292608"/>
            <a:ext cx="1322451" cy="45720"/>
          </a:xfrm>
          <a:prstGeom prst="rect">
            <a:avLst/>
          </a:prstGeom>
          <a:solidFill>
            <a:srgbClr val="C6CFCB"/>
          </a:solidFill>
          <a:ln w="12700">
            <a:solidFill>
              <a:srgbClr val="C6CFCB"/>
            </a:solidFill>
            <a:prstDash val="solid"/>
          </a:ln>
        </p:spPr>
      </p:sp>
      <p:sp>
        <p:nvSpPr>
          <p:cNvPr id="9" name="Text 7"/>
          <p:cNvSpPr txBox="1"/>
          <p:nvPr/>
        </p:nvSpPr>
        <p:spPr>
          <a:xfrm>
            <a:off x="4735449"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4  </a:t>
            </a:r>
            <a:pPr indent="0" marL="0">
              <a:buNone/>
            </a:pPr>
            <a:r>
              <a:rPr lang="en-US" sz="1000" dirty="0">
                <a:solidFill>
                  <a:srgbClr val="52616C"/>
                </a:solidFill>
                <a:latin typeface="Arial" pitchFamily="34" charset="0"/>
                <a:ea typeface="Arial" pitchFamily="34" charset="-122"/>
                <a:cs typeface="Arial" pitchFamily="34" charset="-120"/>
              </a:rPr>
              <a:t>Bootstrap</a:t>
            </a:r>
            <a:endParaRPr lang="en-US" sz="1000" dirty="0"/>
          </a:p>
        </p:txBody>
      </p:sp>
      <p:sp>
        <p:nvSpPr>
          <p:cNvPr id="10" name="Shape 8"/>
          <p:cNvSpPr/>
          <p:nvPr/>
        </p:nvSpPr>
        <p:spPr>
          <a:xfrm>
            <a:off x="6131052" y="292608"/>
            <a:ext cx="1322451" cy="45720"/>
          </a:xfrm>
          <a:prstGeom prst="rect">
            <a:avLst/>
          </a:prstGeom>
          <a:solidFill>
            <a:srgbClr val="C6CFCB"/>
          </a:solidFill>
          <a:ln w="12700">
            <a:solidFill>
              <a:srgbClr val="C6CFCB"/>
            </a:solidFill>
            <a:prstDash val="solid"/>
          </a:ln>
        </p:spPr>
      </p:sp>
      <p:sp>
        <p:nvSpPr>
          <p:cNvPr id="11" name="Text 9"/>
          <p:cNvSpPr txBox="1"/>
          <p:nvPr/>
        </p:nvSpPr>
        <p:spPr>
          <a:xfrm>
            <a:off x="6131052"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5  </a:t>
            </a:r>
            <a:pPr indent="0" marL="0">
              <a:buNone/>
            </a:pPr>
            <a:r>
              <a:rPr lang="en-US" sz="1000" dirty="0">
                <a:solidFill>
                  <a:srgbClr val="52616C"/>
                </a:solidFill>
                <a:latin typeface="Arial" pitchFamily="34" charset="0"/>
                <a:ea typeface="Arial" pitchFamily="34" charset="-122"/>
                <a:cs typeface="Arial" pitchFamily="34" charset="-120"/>
              </a:rPr>
              <a:t>Sélection</a:t>
            </a:r>
            <a:endParaRPr lang="en-US" sz="1000" dirty="0"/>
          </a:p>
        </p:txBody>
      </p:sp>
      <p:sp>
        <p:nvSpPr>
          <p:cNvPr id="12" name="Shape 10"/>
          <p:cNvSpPr/>
          <p:nvPr/>
        </p:nvSpPr>
        <p:spPr>
          <a:xfrm>
            <a:off x="7526655" y="292608"/>
            <a:ext cx="1322451" cy="45720"/>
          </a:xfrm>
          <a:prstGeom prst="rect">
            <a:avLst/>
          </a:prstGeom>
          <a:solidFill>
            <a:srgbClr val="C6CFCB"/>
          </a:solidFill>
          <a:ln w="12700">
            <a:solidFill>
              <a:srgbClr val="C6CFCB"/>
            </a:solidFill>
            <a:prstDash val="solid"/>
          </a:ln>
        </p:spPr>
      </p:sp>
      <p:sp>
        <p:nvSpPr>
          <p:cNvPr id="13" name="Text 11"/>
          <p:cNvSpPr txBox="1"/>
          <p:nvPr/>
        </p:nvSpPr>
        <p:spPr>
          <a:xfrm>
            <a:off x="7526655"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6  </a:t>
            </a:r>
            <a:pPr indent="0" marL="0">
              <a:buNone/>
            </a:pPr>
            <a:r>
              <a:rPr lang="en-US" sz="1000" dirty="0">
                <a:solidFill>
                  <a:srgbClr val="52616C"/>
                </a:solidFill>
                <a:latin typeface="Arial" pitchFamily="34" charset="0"/>
                <a:ea typeface="Arial" pitchFamily="34" charset="-122"/>
                <a:cs typeface="Arial" pitchFamily="34" charset="-120"/>
              </a:rPr>
              <a:t>Fusion</a:t>
            </a:r>
            <a:endParaRPr lang="en-US" sz="1000" dirty="0"/>
          </a:p>
        </p:txBody>
      </p:sp>
      <p:sp>
        <p:nvSpPr>
          <p:cNvPr id="14" name="Shape 12"/>
          <p:cNvSpPr/>
          <p:nvPr/>
        </p:nvSpPr>
        <p:spPr>
          <a:xfrm>
            <a:off x="8922258" y="292608"/>
            <a:ext cx="1322451" cy="45720"/>
          </a:xfrm>
          <a:prstGeom prst="rect">
            <a:avLst/>
          </a:prstGeom>
          <a:solidFill>
            <a:srgbClr val="C6CFCB"/>
          </a:solidFill>
          <a:ln w="12700">
            <a:solidFill>
              <a:srgbClr val="C6CFCB"/>
            </a:solidFill>
            <a:prstDash val="solid"/>
          </a:ln>
        </p:spPr>
      </p:sp>
      <p:sp>
        <p:nvSpPr>
          <p:cNvPr id="15" name="Text 13"/>
          <p:cNvSpPr txBox="1"/>
          <p:nvPr/>
        </p:nvSpPr>
        <p:spPr>
          <a:xfrm>
            <a:off x="8922258"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7  </a:t>
            </a:r>
            <a:pPr indent="0" marL="0">
              <a:buNone/>
            </a:pPr>
            <a:r>
              <a:rPr lang="en-US" sz="1000" dirty="0">
                <a:solidFill>
                  <a:srgbClr val="52616C"/>
                </a:solidFill>
                <a:latin typeface="Arial" pitchFamily="34" charset="0"/>
                <a:ea typeface="Arial" pitchFamily="34" charset="-122"/>
                <a:cs typeface="Arial" pitchFamily="34" charset="-120"/>
              </a:rPr>
              <a:t>Validation</a:t>
            </a:r>
            <a:endParaRPr lang="en-US" sz="1000" dirty="0"/>
          </a:p>
        </p:txBody>
      </p:sp>
      <p:sp>
        <p:nvSpPr>
          <p:cNvPr id="16" name="Shape 14"/>
          <p:cNvSpPr/>
          <p:nvPr/>
        </p:nvSpPr>
        <p:spPr>
          <a:xfrm>
            <a:off x="10317861" y="292608"/>
            <a:ext cx="1322451" cy="45720"/>
          </a:xfrm>
          <a:prstGeom prst="rect">
            <a:avLst/>
          </a:prstGeom>
          <a:solidFill>
            <a:srgbClr val="C6CFCB"/>
          </a:solidFill>
          <a:ln w="12700">
            <a:solidFill>
              <a:srgbClr val="C6CFCB"/>
            </a:solidFill>
            <a:prstDash val="solid"/>
          </a:ln>
        </p:spPr>
      </p:sp>
      <p:sp>
        <p:nvSpPr>
          <p:cNvPr id="17" name="Text 15"/>
          <p:cNvSpPr txBox="1"/>
          <p:nvPr/>
        </p:nvSpPr>
        <p:spPr>
          <a:xfrm>
            <a:off x="10317861"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8  </a:t>
            </a:r>
            <a:pPr indent="0" marL="0">
              <a:buNone/>
            </a:pPr>
            <a:r>
              <a:rPr lang="en-US" sz="1000" dirty="0">
                <a:solidFill>
                  <a:srgbClr val="52616C"/>
                </a:solidFill>
                <a:latin typeface="Arial" pitchFamily="34" charset="0"/>
                <a:ea typeface="Arial" pitchFamily="34" charset="-122"/>
                <a:cs typeface="Arial" pitchFamily="34" charset="-120"/>
              </a:rPr>
              <a:t>Production</a:t>
            </a:r>
            <a:endParaRPr lang="en-US" sz="1000" dirty="0"/>
          </a:p>
        </p:txBody>
      </p:sp>
      <p:sp>
        <p:nvSpPr>
          <p:cNvPr id="18" name="Text 16"/>
          <p:cNvSpPr txBox="1"/>
          <p:nvPr/>
        </p:nvSpPr>
        <p:spPr>
          <a:xfrm>
            <a:off x="548640" y="914400"/>
            <a:ext cx="8046720" cy="1097280"/>
          </a:xfrm>
          <a:prstGeom prst="rect">
            <a:avLst/>
          </a:prstGeom>
          <a:noFill/>
          <a:ln/>
        </p:spPr>
        <p:txBody>
          <a:bodyPr wrap="square" lIns="0" tIns="0" rIns="0" bIns="0" rtlCol="0" anchor="t"/>
          <a:lstStyle/>
          <a:p>
            <a:pPr indent="0" marL="0">
              <a:buNone/>
            </a:pPr>
            <a:r>
              <a:rPr lang="en-US" sz="3200" b="1" dirty="0">
                <a:solidFill>
                  <a:srgbClr val="14202A"/>
                </a:solidFill>
                <a:latin typeface="Arial" pitchFamily="34" charset="0"/>
                <a:ea typeface="Arial" pitchFamily="34" charset="-122"/>
                <a:cs typeface="Arial" pitchFamily="34" charset="-120"/>
              </a:rPr>
              <a:t>La thèse : entrer au début du mouvement, pas après</a:t>
            </a:r>
            <a:endParaRPr lang="en-US" sz="3200" dirty="0"/>
          </a:p>
        </p:txBody>
      </p:sp>
      <p:sp>
        <p:nvSpPr>
          <p:cNvPr id="19" name="Shape 17"/>
          <p:cNvSpPr/>
          <p:nvPr/>
        </p:nvSpPr>
        <p:spPr>
          <a:xfrm>
            <a:off x="548640" y="2103120"/>
            <a:ext cx="3566160" cy="1554480"/>
          </a:xfrm>
          <a:prstGeom prst="rect">
            <a:avLst/>
          </a:prstGeom>
          <a:solidFill>
            <a:srgbClr val="F7F9F8"/>
          </a:solidFill>
          <a:ln w="9525">
            <a:solidFill>
              <a:srgbClr val="C6CFCB"/>
            </a:solidFill>
            <a:prstDash val="solid"/>
          </a:ln>
        </p:spPr>
      </p:sp>
      <p:sp>
        <p:nvSpPr>
          <p:cNvPr id="20" name="Text 18"/>
          <p:cNvSpPr txBox="1"/>
          <p:nvPr/>
        </p:nvSpPr>
        <p:spPr>
          <a:xfrm>
            <a:off x="777240" y="2286000"/>
            <a:ext cx="3108960" cy="548640"/>
          </a:xfrm>
          <a:prstGeom prst="rect">
            <a:avLst/>
          </a:prstGeom>
          <a:noFill/>
          <a:ln/>
        </p:spPr>
        <p:txBody>
          <a:bodyPr wrap="square" lIns="0" tIns="0" rIns="0" bIns="0" rtlCol="0" anchor="t"/>
          <a:lstStyle/>
          <a:p>
            <a:pPr indent="0" marL="0">
              <a:buNone/>
            </a:pPr>
            <a:r>
              <a:rPr lang="en-US" sz="1550" b="1" dirty="0">
                <a:solidFill>
                  <a:srgbClr val="14202A"/>
                </a:solidFill>
                <a:latin typeface="Arial" pitchFamily="34" charset="0"/>
                <a:ea typeface="Arial" pitchFamily="34" charset="-122"/>
                <a:cs typeface="Arial" pitchFamily="34" charset="-120"/>
              </a:rPr>
              <a:t>Volatilité en expansion</a:t>
            </a:r>
            <a:endParaRPr lang="en-US" sz="1550" dirty="0"/>
          </a:p>
        </p:txBody>
      </p:sp>
      <p:sp>
        <p:nvSpPr>
          <p:cNvPr id="21" name="Text 19"/>
          <p:cNvSpPr txBox="1"/>
          <p:nvPr/>
        </p:nvSpPr>
        <p:spPr>
          <a:xfrm>
            <a:off x="777240" y="2907792"/>
            <a:ext cx="3108960" cy="640080"/>
          </a:xfrm>
          <a:prstGeom prst="rect">
            <a:avLst/>
          </a:prstGeom>
          <a:noFill/>
          <a:ln/>
        </p:spPr>
        <p:txBody>
          <a:bodyPr wrap="square" lIns="0" tIns="0" rIns="0" bIns="0" rtlCol="0" anchor="t"/>
          <a:lstStyle/>
          <a:p>
            <a:pPr indent="0" marL="0">
              <a:buNone/>
            </a:pPr>
            <a:r>
              <a:rPr lang="en-US" sz="1300" dirty="0">
                <a:solidFill>
                  <a:srgbClr val="52616C"/>
                </a:solidFill>
                <a:latin typeface="Arial" pitchFamily="34" charset="0"/>
                <a:ea typeface="Arial" pitchFamily="34" charset="-122"/>
                <a:cs typeface="Arial" pitchFamily="34" charset="-120"/>
              </a:rPr>
              <a:t>L'ATR augmente : il se passe quelque chose.</a:t>
            </a:r>
            <a:endParaRPr lang="en-US" sz="1300" dirty="0"/>
          </a:p>
        </p:txBody>
      </p:sp>
      <p:sp>
        <p:nvSpPr>
          <p:cNvPr id="22" name="Shape 20"/>
          <p:cNvSpPr/>
          <p:nvPr/>
        </p:nvSpPr>
        <p:spPr>
          <a:xfrm>
            <a:off x="4389120" y="2103120"/>
            <a:ext cx="3566160" cy="1554480"/>
          </a:xfrm>
          <a:prstGeom prst="rect">
            <a:avLst/>
          </a:prstGeom>
          <a:solidFill>
            <a:srgbClr val="F7F9F8"/>
          </a:solidFill>
          <a:ln w="9525">
            <a:solidFill>
              <a:srgbClr val="C6CFCB"/>
            </a:solidFill>
            <a:prstDash val="solid"/>
          </a:ln>
        </p:spPr>
      </p:sp>
      <p:sp>
        <p:nvSpPr>
          <p:cNvPr id="23" name="Text 21"/>
          <p:cNvSpPr txBox="1"/>
          <p:nvPr/>
        </p:nvSpPr>
        <p:spPr>
          <a:xfrm>
            <a:off x="4617720" y="2286000"/>
            <a:ext cx="3108960" cy="548640"/>
          </a:xfrm>
          <a:prstGeom prst="rect">
            <a:avLst/>
          </a:prstGeom>
          <a:noFill/>
          <a:ln/>
        </p:spPr>
        <p:txBody>
          <a:bodyPr wrap="square" lIns="0" tIns="0" rIns="0" bIns="0" rtlCol="0" anchor="t"/>
          <a:lstStyle/>
          <a:p>
            <a:pPr indent="0" marL="0">
              <a:buNone/>
            </a:pPr>
            <a:r>
              <a:rPr lang="en-US" sz="1550" b="1" dirty="0">
                <a:solidFill>
                  <a:srgbClr val="14202A"/>
                </a:solidFill>
                <a:latin typeface="Arial" pitchFamily="34" charset="0"/>
                <a:ea typeface="Arial" pitchFamily="34" charset="-122"/>
                <a:cs typeface="Arial" pitchFamily="34" charset="-120"/>
              </a:rPr>
              <a:t>Tendance haussière</a:t>
            </a:r>
            <a:endParaRPr lang="en-US" sz="1550" dirty="0"/>
          </a:p>
        </p:txBody>
      </p:sp>
      <p:sp>
        <p:nvSpPr>
          <p:cNvPr id="24" name="Text 22"/>
          <p:cNvSpPr txBox="1"/>
          <p:nvPr/>
        </p:nvSpPr>
        <p:spPr>
          <a:xfrm>
            <a:off x="4617720" y="2907792"/>
            <a:ext cx="3108960" cy="640080"/>
          </a:xfrm>
          <a:prstGeom prst="rect">
            <a:avLst/>
          </a:prstGeom>
          <a:noFill/>
          <a:ln/>
        </p:spPr>
        <p:txBody>
          <a:bodyPr wrap="square" lIns="0" tIns="0" rIns="0" bIns="0" rtlCol="0" anchor="t"/>
          <a:lstStyle/>
          <a:p>
            <a:pPr indent="0" marL="0">
              <a:buNone/>
            </a:pPr>
            <a:r>
              <a:rPr lang="en-US" sz="1300" dirty="0">
                <a:solidFill>
                  <a:srgbClr val="52616C"/>
                </a:solidFill>
                <a:latin typeface="Arial" pitchFamily="34" charset="0"/>
                <a:ea typeface="Arial" pitchFamily="34" charset="-122"/>
                <a:cs typeface="Arial" pitchFamily="34" charset="-120"/>
              </a:rPr>
              <a:t>Log-rendements glissants positifs.</a:t>
            </a:r>
            <a:endParaRPr lang="en-US" sz="1300" dirty="0"/>
          </a:p>
        </p:txBody>
      </p:sp>
      <p:sp>
        <p:nvSpPr>
          <p:cNvPr id="25" name="Shape 23"/>
          <p:cNvSpPr/>
          <p:nvPr/>
        </p:nvSpPr>
        <p:spPr>
          <a:xfrm>
            <a:off x="548640" y="3931920"/>
            <a:ext cx="3566160" cy="1554480"/>
          </a:xfrm>
          <a:prstGeom prst="rect">
            <a:avLst/>
          </a:prstGeom>
          <a:solidFill>
            <a:srgbClr val="F7F9F8"/>
          </a:solidFill>
          <a:ln w="9525">
            <a:solidFill>
              <a:srgbClr val="C6CFCB"/>
            </a:solidFill>
            <a:prstDash val="solid"/>
          </a:ln>
        </p:spPr>
      </p:sp>
      <p:sp>
        <p:nvSpPr>
          <p:cNvPr id="26" name="Text 24"/>
          <p:cNvSpPr txBox="1"/>
          <p:nvPr/>
        </p:nvSpPr>
        <p:spPr>
          <a:xfrm>
            <a:off x="777240" y="4114800"/>
            <a:ext cx="3108960" cy="548640"/>
          </a:xfrm>
          <a:prstGeom prst="rect">
            <a:avLst/>
          </a:prstGeom>
          <a:noFill/>
          <a:ln/>
        </p:spPr>
        <p:txBody>
          <a:bodyPr wrap="square" lIns="0" tIns="0" rIns="0" bIns="0" rtlCol="0" anchor="t"/>
          <a:lstStyle/>
          <a:p>
            <a:pPr indent="0" marL="0">
              <a:buNone/>
            </a:pPr>
            <a:r>
              <a:rPr lang="en-US" sz="1550" b="1" dirty="0">
                <a:solidFill>
                  <a:srgbClr val="14202A"/>
                </a:solidFill>
                <a:latin typeface="Arial" pitchFamily="34" charset="0"/>
                <a:ea typeface="Arial" pitchFamily="34" charset="-122"/>
                <a:cs typeface="Arial" pitchFamily="34" charset="-120"/>
              </a:rPr>
              <a:t>Au niveau de sa moyenne, qui monte</a:t>
            </a:r>
            <a:endParaRPr lang="en-US" sz="1550" dirty="0"/>
          </a:p>
        </p:txBody>
      </p:sp>
      <p:sp>
        <p:nvSpPr>
          <p:cNvPr id="27" name="Text 25"/>
          <p:cNvSpPr txBox="1"/>
          <p:nvPr/>
        </p:nvSpPr>
        <p:spPr>
          <a:xfrm>
            <a:off x="777240" y="4736592"/>
            <a:ext cx="3108960" cy="640080"/>
          </a:xfrm>
          <a:prstGeom prst="rect">
            <a:avLst/>
          </a:prstGeom>
          <a:noFill/>
          <a:ln/>
        </p:spPr>
        <p:txBody>
          <a:bodyPr wrap="square" lIns="0" tIns="0" rIns="0" bIns="0" rtlCol="0" anchor="t"/>
          <a:lstStyle/>
          <a:p>
            <a:pPr indent="0" marL="0">
              <a:buNone/>
            </a:pPr>
            <a:r>
              <a:rPr lang="en-US" sz="1300" dirty="0">
                <a:solidFill>
                  <a:srgbClr val="52616C"/>
                </a:solidFill>
                <a:latin typeface="Arial" pitchFamily="34" charset="0"/>
                <a:ea typeface="Arial" pitchFamily="34" charset="-122"/>
                <a:cs typeface="Arial" pitchFamily="34" charset="-120"/>
              </a:rPr>
              <a:t>Pas bien au-dessus : un cours très étendu signale qu'on arrive après la hausse.</a:t>
            </a:r>
            <a:endParaRPr lang="en-US" sz="1300" dirty="0"/>
          </a:p>
        </p:txBody>
      </p:sp>
      <p:sp>
        <p:nvSpPr>
          <p:cNvPr id="28" name="Shape 26"/>
          <p:cNvSpPr/>
          <p:nvPr/>
        </p:nvSpPr>
        <p:spPr>
          <a:xfrm>
            <a:off x="4389120" y="3931920"/>
            <a:ext cx="3566160" cy="1554480"/>
          </a:xfrm>
          <a:prstGeom prst="rect">
            <a:avLst/>
          </a:prstGeom>
          <a:solidFill>
            <a:srgbClr val="F7F9F8"/>
          </a:solidFill>
          <a:ln w="9525">
            <a:solidFill>
              <a:srgbClr val="C6CFCB"/>
            </a:solidFill>
            <a:prstDash val="solid"/>
          </a:ln>
        </p:spPr>
      </p:sp>
      <p:sp>
        <p:nvSpPr>
          <p:cNvPr id="29" name="Text 27"/>
          <p:cNvSpPr txBox="1"/>
          <p:nvPr/>
        </p:nvSpPr>
        <p:spPr>
          <a:xfrm>
            <a:off x="4617720" y="4114800"/>
            <a:ext cx="3108960" cy="548640"/>
          </a:xfrm>
          <a:prstGeom prst="rect">
            <a:avLst/>
          </a:prstGeom>
          <a:noFill/>
          <a:ln/>
        </p:spPr>
        <p:txBody>
          <a:bodyPr wrap="square" lIns="0" tIns="0" rIns="0" bIns="0" rtlCol="0" anchor="t"/>
          <a:lstStyle/>
          <a:p>
            <a:pPr indent="0" marL="0">
              <a:buNone/>
            </a:pPr>
            <a:r>
              <a:rPr lang="en-US" sz="1550" b="1" dirty="0">
                <a:solidFill>
                  <a:srgbClr val="14202A"/>
                </a:solidFill>
                <a:latin typeface="Arial" pitchFamily="34" charset="0"/>
                <a:ea typeface="Arial" pitchFamily="34" charset="-122"/>
                <a:cs typeface="Arial" pitchFamily="34" charset="-120"/>
              </a:rPr>
              <a:t>Volumes en hausse</a:t>
            </a:r>
            <a:endParaRPr lang="en-US" sz="1550" dirty="0"/>
          </a:p>
        </p:txBody>
      </p:sp>
      <p:sp>
        <p:nvSpPr>
          <p:cNvPr id="30" name="Text 28"/>
          <p:cNvSpPr txBox="1"/>
          <p:nvPr/>
        </p:nvSpPr>
        <p:spPr>
          <a:xfrm>
            <a:off x="4617720" y="4736592"/>
            <a:ext cx="3108960" cy="640080"/>
          </a:xfrm>
          <a:prstGeom prst="rect">
            <a:avLst/>
          </a:prstGeom>
          <a:noFill/>
          <a:ln/>
        </p:spPr>
        <p:txBody>
          <a:bodyPr wrap="square" lIns="0" tIns="0" rIns="0" bIns="0" rtlCol="0" anchor="t"/>
          <a:lstStyle/>
          <a:p>
            <a:pPr indent="0" marL="0">
              <a:buNone/>
            </a:pPr>
            <a:r>
              <a:rPr lang="en-US" sz="1300" dirty="0">
                <a:solidFill>
                  <a:srgbClr val="52616C"/>
                </a:solidFill>
                <a:latin typeface="Arial" pitchFamily="34" charset="0"/>
                <a:ea typeface="Arial" pitchFamily="34" charset="-122"/>
                <a:cs typeface="Arial" pitchFamily="34" charset="-120"/>
              </a:rPr>
              <a:t>Le mouvement est suivi par le marché.</a:t>
            </a:r>
            <a:endParaRPr lang="en-US" sz="1300" dirty="0"/>
          </a:p>
        </p:txBody>
      </p:sp>
      <p:sp>
        <p:nvSpPr>
          <p:cNvPr id="31" name="Shape 29"/>
          <p:cNvSpPr/>
          <p:nvPr/>
        </p:nvSpPr>
        <p:spPr>
          <a:xfrm>
            <a:off x="8183880" y="2103120"/>
            <a:ext cx="3456432" cy="3383280"/>
          </a:xfrm>
          <a:prstGeom prst="rect">
            <a:avLst/>
          </a:prstGeom>
          <a:solidFill>
            <a:srgbClr val="D2E8E1"/>
          </a:solidFill>
          <a:ln w="12700">
            <a:solidFill>
              <a:srgbClr val="D2E8E1"/>
            </a:solidFill>
            <a:prstDash val="solid"/>
          </a:ln>
        </p:spPr>
      </p:sp>
      <p:sp>
        <p:nvSpPr>
          <p:cNvPr id="32" name="Text 30"/>
          <p:cNvSpPr txBox="1"/>
          <p:nvPr/>
        </p:nvSpPr>
        <p:spPr>
          <a:xfrm>
            <a:off x="8412480" y="2423160"/>
            <a:ext cx="3017520" cy="914400"/>
          </a:xfrm>
          <a:prstGeom prst="rect">
            <a:avLst/>
          </a:prstGeom>
          <a:noFill/>
          <a:ln/>
        </p:spPr>
        <p:txBody>
          <a:bodyPr wrap="square" lIns="0" tIns="0" rIns="0" bIns="0" rtlCol="0" anchor="t"/>
          <a:lstStyle/>
          <a:p>
            <a:pPr indent="0" marL="0">
              <a:buNone/>
            </a:pPr>
            <a:r>
              <a:rPr lang="en-US" sz="1800" b="1" dirty="0">
                <a:solidFill>
                  <a:srgbClr val="0A7560"/>
                </a:solidFill>
                <a:latin typeface="Arial" pitchFamily="34" charset="0"/>
                <a:ea typeface="Arial" pitchFamily="34" charset="-122"/>
                <a:cs typeface="Arial" pitchFamily="34" charset="-120"/>
              </a:rPr>
              <a:t>Chaque conviction devient une condition testable.</a:t>
            </a:r>
            <a:endParaRPr lang="en-US" sz="1800" dirty="0"/>
          </a:p>
        </p:txBody>
      </p:sp>
      <p:sp>
        <p:nvSpPr>
          <p:cNvPr id="33" name="Text 31"/>
          <p:cNvSpPr txBox="1"/>
          <p:nvPr/>
        </p:nvSpPr>
        <p:spPr>
          <a:xfrm>
            <a:off x="8412480" y="3429000"/>
            <a:ext cx="3017520" cy="1463040"/>
          </a:xfrm>
          <a:prstGeom prst="rect">
            <a:avLst/>
          </a:prstGeom>
          <a:noFill/>
          <a:ln/>
        </p:spPr>
        <p:txBody>
          <a:bodyPr wrap="square" lIns="0" tIns="0" rIns="0" bIns="0" rtlCol="0" anchor="t"/>
          <a:lstStyle/>
          <a:p>
            <a:pPr indent="0" marL="0">
              <a:buNone/>
            </a:pPr>
            <a:r>
              <a:rPr lang="en-US" sz="1500" dirty="0">
                <a:solidFill>
                  <a:srgbClr val="14202A"/>
                </a:solidFill>
                <a:latin typeface="Arial" pitchFamily="34" charset="0"/>
                <a:ea typeface="Arial" pitchFamily="34" charset="-122"/>
                <a:cs typeface="Arial" pitchFamily="34" charset="-120"/>
              </a:rPr>
              <a:t>Le modèle ne décide pas si elle est juste : il le mesure, et il peut la rejeter.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F0EE"/>
        </a:solidFill>
      </p:bgPr>
    </p:bg>
    <p:spTree>
      <p:nvGrpSpPr>
        <p:cNvPr id="1" name=""/>
        <p:cNvGrpSpPr/>
        <p:nvPr/>
      </p:nvGrpSpPr>
      <p:grpSpPr>
        <a:xfrm>
          <a:off x="0" y="0"/>
          <a:ext cx="0" cy="0"/>
          <a:chOff x="0" y="0"/>
          <a:chExt cx="0" cy="0"/>
        </a:xfrm>
      </p:grpSpPr>
      <p:sp>
        <p:nvSpPr>
          <p:cNvPr id="2" name="Shape 0"/>
          <p:cNvSpPr/>
          <p:nvPr/>
        </p:nvSpPr>
        <p:spPr>
          <a:xfrm>
            <a:off x="548640" y="292608"/>
            <a:ext cx="1322451" cy="45720"/>
          </a:xfrm>
          <a:prstGeom prst="rect">
            <a:avLst/>
          </a:prstGeom>
          <a:solidFill>
            <a:srgbClr val="52616C"/>
          </a:solidFill>
          <a:ln w="12700">
            <a:solidFill>
              <a:srgbClr val="52616C"/>
            </a:solidFill>
            <a:prstDash val="solid"/>
          </a:ln>
        </p:spPr>
      </p:sp>
      <p:sp>
        <p:nvSpPr>
          <p:cNvPr id="3" name="Text 1"/>
          <p:cNvSpPr txBox="1"/>
          <p:nvPr/>
        </p:nvSpPr>
        <p:spPr>
          <a:xfrm>
            <a:off x="548640"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1  </a:t>
            </a:r>
            <a:pPr indent="0" marL="0">
              <a:buNone/>
            </a:pPr>
            <a:r>
              <a:rPr lang="en-US" sz="1000" dirty="0">
                <a:solidFill>
                  <a:srgbClr val="14202A"/>
                </a:solidFill>
                <a:latin typeface="Arial" pitchFamily="34" charset="0"/>
                <a:ea typeface="Arial" pitchFamily="34" charset="-122"/>
                <a:cs typeface="Arial" pitchFamily="34" charset="-120"/>
              </a:rPr>
              <a:t>Données</a:t>
            </a:r>
            <a:endParaRPr lang="en-US" sz="1000" dirty="0"/>
          </a:p>
        </p:txBody>
      </p:sp>
      <p:sp>
        <p:nvSpPr>
          <p:cNvPr id="4" name="Shape 2"/>
          <p:cNvSpPr/>
          <p:nvPr/>
        </p:nvSpPr>
        <p:spPr>
          <a:xfrm>
            <a:off x="1944243" y="292608"/>
            <a:ext cx="1322451" cy="45720"/>
          </a:xfrm>
          <a:prstGeom prst="rect">
            <a:avLst/>
          </a:prstGeom>
          <a:solidFill>
            <a:srgbClr val="52616C"/>
          </a:solidFill>
          <a:ln w="12700">
            <a:solidFill>
              <a:srgbClr val="52616C"/>
            </a:solidFill>
            <a:prstDash val="solid"/>
          </a:ln>
        </p:spPr>
      </p:sp>
      <p:sp>
        <p:nvSpPr>
          <p:cNvPr id="5" name="Text 3"/>
          <p:cNvSpPr txBox="1"/>
          <p:nvPr/>
        </p:nvSpPr>
        <p:spPr>
          <a:xfrm>
            <a:off x="1944243"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2  </a:t>
            </a:r>
            <a:pPr indent="0" marL="0">
              <a:buNone/>
            </a:pPr>
            <a:r>
              <a:rPr lang="en-US" sz="1000" dirty="0">
                <a:solidFill>
                  <a:srgbClr val="14202A"/>
                </a:solidFill>
                <a:latin typeface="Arial" pitchFamily="34" charset="0"/>
                <a:ea typeface="Arial" pitchFamily="34" charset="-122"/>
                <a:cs typeface="Arial" pitchFamily="34" charset="-120"/>
              </a:rPr>
              <a:t>Indicateurs</a:t>
            </a:r>
            <a:endParaRPr lang="en-US" sz="1000" dirty="0"/>
          </a:p>
        </p:txBody>
      </p:sp>
      <p:sp>
        <p:nvSpPr>
          <p:cNvPr id="6" name="Shape 4"/>
          <p:cNvSpPr/>
          <p:nvPr/>
        </p:nvSpPr>
        <p:spPr>
          <a:xfrm>
            <a:off x="3339846" y="292608"/>
            <a:ext cx="1322451" cy="45720"/>
          </a:xfrm>
          <a:prstGeom prst="rect">
            <a:avLst/>
          </a:prstGeom>
          <a:solidFill>
            <a:srgbClr val="52616C"/>
          </a:solidFill>
          <a:ln w="12700">
            <a:solidFill>
              <a:srgbClr val="52616C"/>
            </a:solidFill>
            <a:prstDash val="solid"/>
          </a:ln>
        </p:spPr>
      </p:sp>
      <p:sp>
        <p:nvSpPr>
          <p:cNvPr id="7" name="Text 5"/>
          <p:cNvSpPr txBox="1"/>
          <p:nvPr/>
        </p:nvSpPr>
        <p:spPr>
          <a:xfrm>
            <a:off x="3339846"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3  </a:t>
            </a:r>
            <a:pPr indent="0" marL="0">
              <a:buNone/>
            </a:pPr>
            <a:r>
              <a:rPr lang="en-US" sz="1000" dirty="0">
                <a:solidFill>
                  <a:srgbClr val="14202A"/>
                </a:solidFill>
                <a:latin typeface="Arial" pitchFamily="34" charset="0"/>
                <a:ea typeface="Arial" pitchFamily="34" charset="-122"/>
                <a:cs typeface="Arial" pitchFamily="34" charset="-120"/>
              </a:rPr>
              <a:t>Paniers</a:t>
            </a:r>
            <a:endParaRPr lang="en-US" sz="1000" dirty="0"/>
          </a:p>
        </p:txBody>
      </p:sp>
      <p:sp>
        <p:nvSpPr>
          <p:cNvPr id="8" name="Shape 6"/>
          <p:cNvSpPr/>
          <p:nvPr/>
        </p:nvSpPr>
        <p:spPr>
          <a:xfrm>
            <a:off x="4735449" y="292608"/>
            <a:ext cx="1322451" cy="45720"/>
          </a:xfrm>
          <a:prstGeom prst="rect">
            <a:avLst/>
          </a:prstGeom>
          <a:solidFill>
            <a:srgbClr val="52616C"/>
          </a:solidFill>
          <a:ln w="12700">
            <a:solidFill>
              <a:srgbClr val="52616C"/>
            </a:solidFill>
            <a:prstDash val="solid"/>
          </a:ln>
        </p:spPr>
      </p:sp>
      <p:sp>
        <p:nvSpPr>
          <p:cNvPr id="9" name="Text 7"/>
          <p:cNvSpPr txBox="1"/>
          <p:nvPr/>
        </p:nvSpPr>
        <p:spPr>
          <a:xfrm>
            <a:off x="4735449"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4  </a:t>
            </a:r>
            <a:pPr indent="0" marL="0">
              <a:buNone/>
            </a:pPr>
            <a:r>
              <a:rPr lang="en-US" sz="1000" dirty="0">
                <a:solidFill>
                  <a:srgbClr val="14202A"/>
                </a:solidFill>
                <a:latin typeface="Arial" pitchFamily="34" charset="0"/>
                <a:ea typeface="Arial" pitchFamily="34" charset="-122"/>
                <a:cs typeface="Arial" pitchFamily="34" charset="-120"/>
              </a:rPr>
              <a:t>Bootstrap</a:t>
            </a:r>
            <a:endParaRPr lang="en-US" sz="1000" dirty="0"/>
          </a:p>
        </p:txBody>
      </p:sp>
      <p:sp>
        <p:nvSpPr>
          <p:cNvPr id="10" name="Shape 8"/>
          <p:cNvSpPr/>
          <p:nvPr/>
        </p:nvSpPr>
        <p:spPr>
          <a:xfrm>
            <a:off x="6131052" y="292608"/>
            <a:ext cx="1322451" cy="45720"/>
          </a:xfrm>
          <a:prstGeom prst="rect">
            <a:avLst/>
          </a:prstGeom>
          <a:solidFill>
            <a:srgbClr val="52616C"/>
          </a:solidFill>
          <a:ln w="12700">
            <a:solidFill>
              <a:srgbClr val="52616C"/>
            </a:solidFill>
            <a:prstDash val="solid"/>
          </a:ln>
        </p:spPr>
      </p:sp>
      <p:sp>
        <p:nvSpPr>
          <p:cNvPr id="11" name="Text 9"/>
          <p:cNvSpPr txBox="1"/>
          <p:nvPr/>
        </p:nvSpPr>
        <p:spPr>
          <a:xfrm>
            <a:off x="6131052"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5  </a:t>
            </a:r>
            <a:pPr indent="0" marL="0">
              <a:buNone/>
            </a:pPr>
            <a:r>
              <a:rPr lang="en-US" sz="1000" dirty="0">
                <a:solidFill>
                  <a:srgbClr val="14202A"/>
                </a:solidFill>
                <a:latin typeface="Arial" pitchFamily="34" charset="0"/>
                <a:ea typeface="Arial" pitchFamily="34" charset="-122"/>
                <a:cs typeface="Arial" pitchFamily="34" charset="-120"/>
              </a:rPr>
              <a:t>Sélection</a:t>
            </a:r>
            <a:endParaRPr lang="en-US" sz="1000" dirty="0"/>
          </a:p>
        </p:txBody>
      </p:sp>
      <p:sp>
        <p:nvSpPr>
          <p:cNvPr id="12" name="Shape 10"/>
          <p:cNvSpPr/>
          <p:nvPr/>
        </p:nvSpPr>
        <p:spPr>
          <a:xfrm>
            <a:off x="7526655" y="292608"/>
            <a:ext cx="1322451" cy="45720"/>
          </a:xfrm>
          <a:prstGeom prst="rect">
            <a:avLst/>
          </a:prstGeom>
          <a:solidFill>
            <a:srgbClr val="52616C"/>
          </a:solidFill>
          <a:ln w="12700">
            <a:solidFill>
              <a:srgbClr val="52616C"/>
            </a:solidFill>
            <a:prstDash val="solid"/>
          </a:ln>
        </p:spPr>
      </p:sp>
      <p:sp>
        <p:nvSpPr>
          <p:cNvPr id="13" name="Text 11"/>
          <p:cNvSpPr txBox="1"/>
          <p:nvPr/>
        </p:nvSpPr>
        <p:spPr>
          <a:xfrm>
            <a:off x="7526655"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6  </a:t>
            </a:r>
            <a:pPr indent="0" marL="0">
              <a:buNone/>
            </a:pPr>
            <a:r>
              <a:rPr lang="en-US" sz="1000" dirty="0">
                <a:solidFill>
                  <a:srgbClr val="14202A"/>
                </a:solidFill>
                <a:latin typeface="Arial" pitchFamily="34" charset="0"/>
                <a:ea typeface="Arial" pitchFamily="34" charset="-122"/>
                <a:cs typeface="Arial" pitchFamily="34" charset="-120"/>
              </a:rPr>
              <a:t>Fusion</a:t>
            </a:r>
            <a:endParaRPr lang="en-US" sz="1000" dirty="0"/>
          </a:p>
        </p:txBody>
      </p:sp>
      <p:sp>
        <p:nvSpPr>
          <p:cNvPr id="14" name="Shape 12"/>
          <p:cNvSpPr/>
          <p:nvPr/>
        </p:nvSpPr>
        <p:spPr>
          <a:xfrm>
            <a:off x="8922258" y="292608"/>
            <a:ext cx="1322451" cy="45720"/>
          </a:xfrm>
          <a:prstGeom prst="rect">
            <a:avLst/>
          </a:prstGeom>
          <a:solidFill>
            <a:srgbClr val="52616C"/>
          </a:solidFill>
          <a:ln w="12700">
            <a:solidFill>
              <a:srgbClr val="52616C"/>
            </a:solidFill>
            <a:prstDash val="solid"/>
          </a:ln>
        </p:spPr>
      </p:sp>
      <p:sp>
        <p:nvSpPr>
          <p:cNvPr id="15" name="Text 13"/>
          <p:cNvSpPr txBox="1"/>
          <p:nvPr/>
        </p:nvSpPr>
        <p:spPr>
          <a:xfrm>
            <a:off x="8922258"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7  </a:t>
            </a:r>
            <a:pPr indent="0" marL="0">
              <a:buNone/>
            </a:pPr>
            <a:r>
              <a:rPr lang="en-US" sz="1000" dirty="0">
                <a:solidFill>
                  <a:srgbClr val="14202A"/>
                </a:solidFill>
                <a:latin typeface="Arial" pitchFamily="34" charset="0"/>
                <a:ea typeface="Arial" pitchFamily="34" charset="-122"/>
                <a:cs typeface="Arial" pitchFamily="34" charset="-120"/>
              </a:rPr>
              <a:t>Validation</a:t>
            </a:r>
            <a:endParaRPr lang="en-US" sz="1000" dirty="0"/>
          </a:p>
        </p:txBody>
      </p:sp>
      <p:sp>
        <p:nvSpPr>
          <p:cNvPr id="16" name="Shape 14"/>
          <p:cNvSpPr/>
          <p:nvPr/>
        </p:nvSpPr>
        <p:spPr>
          <a:xfrm>
            <a:off x="10317861" y="292608"/>
            <a:ext cx="1322451" cy="45720"/>
          </a:xfrm>
          <a:prstGeom prst="rect">
            <a:avLst/>
          </a:prstGeom>
          <a:solidFill>
            <a:srgbClr val="52616C"/>
          </a:solidFill>
          <a:ln w="12700">
            <a:solidFill>
              <a:srgbClr val="52616C"/>
            </a:solidFill>
            <a:prstDash val="solid"/>
          </a:ln>
        </p:spPr>
      </p:sp>
      <p:sp>
        <p:nvSpPr>
          <p:cNvPr id="17" name="Text 15"/>
          <p:cNvSpPr txBox="1"/>
          <p:nvPr/>
        </p:nvSpPr>
        <p:spPr>
          <a:xfrm>
            <a:off x="10317861"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8  </a:t>
            </a:r>
            <a:pPr indent="0" marL="0">
              <a:buNone/>
            </a:pPr>
            <a:r>
              <a:rPr lang="en-US" sz="1000" dirty="0">
                <a:solidFill>
                  <a:srgbClr val="14202A"/>
                </a:solidFill>
                <a:latin typeface="Arial" pitchFamily="34" charset="0"/>
                <a:ea typeface="Arial" pitchFamily="34" charset="-122"/>
                <a:cs typeface="Arial" pitchFamily="34" charset="-120"/>
              </a:rPr>
              <a:t>Production</a:t>
            </a:r>
            <a:endParaRPr lang="en-US" sz="1000" dirty="0"/>
          </a:p>
        </p:txBody>
      </p:sp>
      <p:sp>
        <p:nvSpPr>
          <p:cNvPr id="18" name="Text 16"/>
          <p:cNvSpPr txBox="1"/>
          <p:nvPr/>
        </p:nvSpPr>
        <p:spPr>
          <a:xfrm>
            <a:off x="548640" y="914400"/>
            <a:ext cx="10058400" cy="1097280"/>
          </a:xfrm>
          <a:prstGeom prst="rect">
            <a:avLst/>
          </a:prstGeom>
          <a:noFill/>
          <a:ln/>
        </p:spPr>
        <p:txBody>
          <a:bodyPr wrap="square" lIns="0" tIns="0" rIns="0" bIns="0" rtlCol="0" anchor="t"/>
          <a:lstStyle/>
          <a:p>
            <a:pPr indent="0" marL="0">
              <a:buNone/>
            </a:pPr>
            <a:r>
              <a:rPr lang="en-US" sz="3200" b="1" dirty="0">
                <a:solidFill>
                  <a:srgbClr val="14202A"/>
                </a:solidFill>
                <a:latin typeface="Arial" pitchFamily="34" charset="0"/>
                <a:ea typeface="Arial" pitchFamily="34" charset="-122"/>
                <a:cs typeface="Arial" pitchFamily="34" charset="-120"/>
              </a:rPr>
              <a:t>Huit étapes, de la donnée brute à l'ordre du matin</a:t>
            </a:r>
            <a:endParaRPr lang="en-US" sz="3200" dirty="0"/>
          </a:p>
        </p:txBody>
      </p:sp>
      <p:sp>
        <p:nvSpPr>
          <p:cNvPr id="19" name="Shape 17"/>
          <p:cNvSpPr/>
          <p:nvPr/>
        </p:nvSpPr>
        <p:spPr>
          <a:xfrm>
            <a:off x="548640" y="1965960"/>
            <a:ext cx="2567178" cy="1828800"/>
          </a:xfrm>
          <a:prstGeom prst="rect">
            <a:avLst/>
          </a:prstGeom>
          <a:solidFill>
            <a:srgbClr val="F7F9F8"/>
          </a:solidFill>
          <a:ln w="9525">
            <a:solidFill>
              <a:srgbClr val="C6CFCB"/>
            </a:solidFill>
            <a:prstDash val="solid"/>
          </a:ln>
        </p:spPr>
      </p:sp>
      <p:sp>
        <p:nvSpPr>
          <p:cNvPr id="20" name="Text 18"/>
          <p:cNvSpPr txBox="1"/>
          <p:nvPr/>
        </p:nvSpPr>
        <p:spPr>
          <a:xfrm>
            <a:off x="777240" y="2148840"/>
            <a:ext cx="914400" cy="548640"/>
          </a:xfrm>
          <a:prstGeom prst="rect">
            <a:avLst/>
          </a:prstGeom>
          <a:noFill/>
          <a:ln/>
        </p:spPr>
        <p:txBody>
          <a:bodyPr wrap="square" lIns="0" tIns="0" rIns="0" bIns="0" rtlCol="0" anchor="t"/>
          <a:lstStyle/>
          <a:p>
            <a:pPr indent="0" marL="0">
              <a:buNone/>
            </a:pPr>
            <a:r>
              <a:rPr lang="en-US" sz="3000" b="1" dirty="0">
                <a:solidFill>
                  <a:srgbClr val="0A7560"/>
                </a:solidFill>
                <a:latin typeface="Arial" pitchFamily="34" charset="0"/>
                <a:ea typeface="Arial" pitchFamily="34" charset="-122"/>
                <a:cs typeface="Arial" pitchFamily="34" charset="-120"/>
              </a:rPr>
              <a:t>1</a:t>
            </a:r>
            <a:endParaRPr lang="en-US" sz="3000" dirty="0"/>
          </a:p>
        </p:txBody>
      </p:sp>
      <p:sp>
        <p:nvSpPr>
          <p:cNvPr id="21" name="Text 19"/>
          <p:cNvSpPr txBox="1"/>
          <p:nvPr/>
        </p:nvSpPr>
        <p:spPr>
          <a:xfrm>
            <a:off x="777240" y="2743200"/>
            <a:ext cx="2109978" cy="365760"/>
          </a:xfrm>
          <a:prstGeom prst="rect">
            <a:avLst/>
          </a:prstGeom>
          <a:noFill/>
          <a:ln/>
        </p:spPr>
        <p:txBody>
          <a:bodyPr wrap="square" lIns="0" tIns="0" rIns="0" bIns="0" rtlCol="0" anchor="t"/>
          <a:lstStyle/>
          <a:p>
            <a:pPr indent="0" marL="0">
              <a:buNone/>
            </a:pPr>
            <a:r>
              <a:rPr lang="en-US" sz="1600" b="1" dirty="0">
                <a:solidFill>
                  <a:srgbClr val="14202A"/>
                </a:solidFill>
                <a:latin typeface="Arial" pitchFamily="34" charset="0"/>
                <a:ea typeface="Arial" pitchFamily="34" charset="-122"/>
                <a:cs typeface="Arial" pitchFamily="34" charset="-120"/>
              </a:rPr>
              <a:t>Données</a:t>
            </a:r>
            <a:endParaRPr lang="en-US" sz="1600" dirty="0"/>
          </a:p>
        </p:txBody>
      </p:sp>
      <p:sp>
        <p:nvSpPr>
          <p:cNvPr id="22" name="Text 20"/>
          <p:cNvSpPr txBox="1"/>
          <p:nvPr/>
        </p:nvSpPr>
        <p:spPr>
          <a:xfrm>
            <a:off x="777240" y="3108960"/>
            <a:ext cx="2109978" cy="594360"/>
          </a:xfrm>
          <a:prstGeom prst="rect">
            <a:avLst/>
          </a:prstGeom>
          <a:noFill/>
          <a:ln/>
        </p:spPr>
        <p:txBody>
          <a:bodyPr wrap="square" lIns="0" tIns="0" rIns="0" bIns="0" rtlCol="0" anchor="t"/>
          <a:lstStyle/>
          <a:p>
            <a:pPr indent="0" marL="0">
              <a:buNone/>
            </a:pPr>
            <a:r>
              <a:rPr lang="en-US" sz="1200" dirty="0">
                <a:solidFill>
                  <a:srgbClr val="52616C"/>
                </a:solidFill>
                <a:latin typeface="Arial" pitchFamily="34" charset="0"/>
                <a:ea typeface="Arial" pitchFamily="34" charset="-122"/>
                <a:cs typeface="Arial" pitchFamily="34" charset="-120"/>
              </a:rPr>
              <a:t>OHLCV journalier, calendrier nettoyé</a:t>
            </a:r>
            <a:endParaRPr lang="en-US" sz="1200" dirty="0"/>
          </a:p>
        </p:txBody>
      </p:sp>
      <p:sp>
        <p:nvSpPr>
          <p:cNvPr id="23" name="Shape 21"/>
          <p:cNvSpPr/>
          <p:nvPr/>
        </p:nvSpPr>
        <p:spPr>
          <a:xfrm>
            <a:off x="3390138" y="1965960"/>
            <a:ext cx="2567178" cy="1828800"/>
          </a:xfrm>
          <a:prstGeom prst="rect">
            <a:avLst/>
          </a:prstGeom>
          <a:solidFill>
            <a:srgbClr val="F7F9F8"/>
          </a:solidFill>
          <a:ln w="9525">
            <a:solidFill>
              <a:srgbClr val="C6CFCB"/>
            </a:solidFill>
            <a:prstDash val="solid"/>
          </a:ln>
        </p:spPr>
      </p:sp>
      <p:sp>
        <p:nvSpPr>
          <p:cNvPr id="24" name="Text 22"/>
          <p:cNvSpPr txBox="1"/>
          <p:nvPr/>
        </p:nvSpPr>
        <p:spPr>
          <a:xfrm>
            <a:off x="3618738" y="2148840"/>
            <a:ext cx="914400" cy="548640"/>
          </a:xfrm>
          <a:prstGeom prst="rect">
            <a:avLst/>
          </a:prstGeom>
          <a:noFill/>
          <a:ln/>
        </p:spPr>
        <p:txBody>
          <a:bodyPr wrap="square" lIns="0" tIns="0" rIns="0" bIns="0" rtlCol="0" anchor="t"/>
          <a:lstStyle/>
          <a:p>
            <a:pPr indent="0" marL="0">
              <a:buNone/>
            </a:pPr>
            <a:r>
              <a:rPr lang="en-US" sz="3000" b="1" dirty="0">
                <a:solidFill>
                  <a:srgbClr val="0A7560"/>
                </a:solidFill>
                <a:latin typeface="Arial" pitchFamily="34" charset="0"/>
                <a:ea typeface="Arial" pitchFamily="34" charset="-122"/>
                <a:cs typeface="Arial" pitchFamily="34" charset="-120"/>
              </a:rPr>
              <a:t>2</a:t>
            </a:r>
            <a:endParaRPr lang="en-US" sz="3000" dirty="0"/>
          </a:p>
        </p:txBody>
      </p:sp>
      <p:sp>
        <p:nvSpPr>
          <p:cNvPr id="25" name="Text 23"/>
          <p:cNvSpPr txBox="1"/>
          <p:nvPr/>
        </p:nvSpPr>
        <p:spPr>
          <a:xfrm>
            <a:off x="3618738" y="2743200"/>
            <a:ext cx="2109978" cy="365760"/>
          </a:xfrm>
          <a:prstGeom prst="rect">
            <a:avLst/>
          </a:prstGeom>
          <a:noFill/>
          <a:ln/>
        </p:spPr>
        <p:txBody>
          <a:bodyPr wrap="square" lIns="0" tIns="0" rIns="0" bIns="0" rtlCol="0" anchor="t"/>
          <a:lstStyle/>
          <a:p>
            <a:pPr indent="0" marL="0">
              <a:buNone/>
            </a:pPr>
            <a:r>
              <a:rPr lang="en-US" sz="1600" b="1" dirty="0">
                <a:solidFill>
                  <a:srgbClr val="14202A"/>
                </a:solidFill>
                <a:latin typeface="Arial" pitchFamily="34" charset="0"/>
                <a:ea typeface="Arial" pitchFamily="34" charset="-122"/>
                <a:cs typeface="Arial" pitchFamily="34" charset="-120"/>
              </a:rPr>
              <a:t>Indicateurs</a:t>
            </a:r>
            <a:endParaRPr lang="en-US" sz="1600" dirty="0"/>
          </a:p>
        </p:txBody>
      </p:sp>
      <p:sp>
        <p:nvSpPr>
          <p:cNvPr id="26" name="Text 24"/>
          <p:cNvSpPr txBox="1"/>
          <p:nvPr/>
        </p:nvSpPr>
        <p:spPr>
          <a:xfrm>
            <a:off x="3618738" y="3108960"/>
            <a:ext cx="2109978" cy="594360"/>
          </a:xfrm>
          <a:prstGeom prst="rect">
            <a:avLst/>
          </a:prstGeom>
          <a:noFill/>
          <a:ln/>
        </p:spPr>
        <p:txBody>
          <a:bodyPr wrap="square" lIns="0" tIns="0" rIns="0" bIns="0" rtlCol="0" anchor="t"/>
          <a:lstStyle/>
          <a:p>
            <a:pPr indent="0" marL="0">
              <a:buNone/>
            </a:pPr>
            <a:r>
              <a:rPr lang="en-US" sz="1200" dirty="0">
                <a:solidFill>
                  <a:srgbClr val="52616C"/>
                </a:solidFill>
                <a:latin typeface="Arial" pitchFamily="34" charset="0"/>
                <a:ea typeface="Arial" pitchFamily="34" charset="-122"/>
                <a:cs typeface="Arial" pitchFamily="34" charset="-120"/>
              </a:rPr>
              <a:t>Codés à la main, causaux, normalisés</a:t>
            </a:r>
            <a:endParaRPr lang="en-US" sz="1200" dirty="0"/>
          </a:p>
        </p:txBody>
      </p:sp>
      <p:sp>
        <p:nvSpPr>
          <p:cNvPr id="27" name="Shape 25"/>
          <p:cNvSpPr/>
          <p:nvPr/>
        </p:nvSpPr>
        <p:spPr>
          <a:xfrm>
            <a:off x="6231636" y="1965960"/>
            <a:ext cx="2567178" cy="1828800"/>
          </a:xfrm>
          <a:prstGeom prst="rect">
            <a:avLst/>
          </a:prstGeom>
          <a:solidFill>
            <a:srgbClr val="F7F9F8"/>
          </a:solidFill>
          <a:ln w="9525">
            <a:solidFill>
              <a:srgbClr val="C6CFCB"/>
            </a:solidFill>
            <a:prstDash val="solid"/>
          </a:ln>
        </p:spPr>
      </p:sp>
      <p:sp>
        <p:nvSpPr>
          <p:cNvPr id="28" name="Text 26"/>
          <p:cNvSpPr txBox="1"/>
          <p:nvPr/>
        </p:nvSpPr>
        <p:spPr>
          <a:xfrm>
            <a:off x="6460236" y="2148840"/>
            <a:ext cx="914400" cy="548640"/>
          </a:xfrm>
          <a:prstGeom prst="rect">
            <a:avLst/>
          </a:prstGeom>
          <a:noFill/>
          <a:ln/>
        </p:spPr>
        <p:txBody>
          <a:bodyPr wrap="square" lIns="0" tIns="0" rIns="0" bIns="0" rtlCol="0" anchor="t"/>
          <a:lstStyle/>
          <a:p>
            <a:pPr indent="0" marL="0">
              <a:buNone/>
            </a:pPr>
            <a:r>
              <a:rPr lang="en-US" sz="3000" b="1" dirty="0">
                <a:solidFill>
                  <a:srgbClr val="0A7560"/>
                </a:solidFill>
                <a:latin typeface="Arial" pitchFamily="34" charset="0"/>
                <a:ea typeface="Arial" pitchFamily="34" charset="-122"/>
                <a:cs typeface="Arial" pitchFamily="34" charset="-120"/>
              </a:rPr>
              <a:t>3</a:t>
            </a:r>
            <a:endParaRPr lang="en-US" sz="3000" dirty="0"/>
          </a:p>
        </p:txBody>
      </p:sp>
      <p:sp>
        <p:nvSpPr>
          <p:cNvPr id="29" name="Text 27"/>
          <p:cNvSpPr txBox="1"/>
          <p:nvPr/>
        </p:nvSpPr>
        <p:spPr>
          <a:xfrm>
            <a:off x="6460236" y="2743200"/>
            <a:ext cx="2109978" cy="365760"/>
          </a:xfrm>
          <a:prstGeom prst="rect">
            <a:avLst/>
          </a:prstGeom>
          <a:noFill/>
          <a:ln/>
        </p:spPr>
        <p:txBody>
          <a:bodyPr wrap="square" lIns="0" tIns="0" rIns="0" bIns="0" rtlCol="0" anchor="t"/>
          <a:lstStyle/>
          <a:p>
            <a:pPr indent="0" marL="0">
              <a:buNone/>
            </a:pPr>
            <a:r>
              <a:rPr lang="en-US" sz="1600" b="1" dirty="0">
                <a:solidFill>
                  <a:srgbClr val="14202A"/>
                </a:solidFill>
                <a:latin typeface="Arial" pitchFamily="34" charset="0"/>
                <a:ea typeface="Arial" pitchFamily="34" charset="-122"/>
                <a:cs typeface="Arial" pitchFamily="34" charset="-120"/>
              </a:rPr>
              <a:t>Paniers</a:t>
            </a:r>
            <a:endParaRPr lang="en-US" sz="1600" dirty="0"/>
          </a:p>
        </p:txBody>
      </p:sp>
      <p:sp>
        <p:nvSpPr>
          <p:cNvPr id="30" name="Text 28"/>
          <p:cNvSpPr txBox="1"/>
          <p:nvPr/>
        </p:nvSpPr>
        <p:spPr>
          <a:xfrm>
            <a:off x="6460236" y="3108960"/>
            <a:ext cx="2109978" cy="594360"/>
          </a:xfrm>
          <a:prstGeom prst="rect">
            <a:avLst/>
          </a:prstGeom>
          <a:noFill/>
          <a:ln/>
        </p:spPr>
        <p:txBody>
          <a:bodyPr wrap="square" lIns="0" tIns="0" rIns="0" bIns="0" rtlCol="0" anchor="t"/>
          <a:lstStyle/>
          <a:p>
            <a:pPr indent="0" marL="0">
              <a:buNone/>
            </a:pPr>
            <a:r>
              <a:rPr lang="en-US" sz="1200" dirty="0">
                <a:solidFill>
                  <a:srgbClr val="52616C"/>
                </a:solidFill>
                <a:latin typeface="Arial" pitchFamily="34" charset="0"/>
                <a:ea typeface="Arial" pitchFamily="34" charset="-122"/>
                <a:cs typeface="Arial" pitchFamily="34" charset="-120"/>
              </a:rPr>
              <a:t>Conditions d'entrée et de sortie</a:t>
            </a:r>
            <a:endParaRPr lang="en-US" sz="1200" dirty="0"/>
          </a:p>
        </p:txBody>
      </p:sp>
      <p:sp>
        <p:nvSpPr>
          <p:cNvPr id="31" name="Shape 29"/>
          <p:cNvSpPr/>
          <p:nvPr/>
        </p:nvSpPr>
        <p:spPr>
          <a:xfrm>
            <a:off x="9073134" y="1965960"/>
            <a:ext cx="2567178" cy="1828800"/>
          </a:xfrm>
          <a:prstGeom prst="rect">
            <a:avLst/>
          </a:prstGeom>
          <a:solidFill>
            <a:srgbClr val="F7F9F8"/>
          </a:solidFill>
          <a:ln w="9525">
            <a:solidFill>
              <a:srgbClr val="C6CFCB"/>
            </a:solidFill>
            <a:prstDash val="solid"/>
          </a:ln>
        </p:spPr>
      </p:sp>
      <p:sp>
        <p:nvSpPr>
          <p:cNvPr id="32" name="Text 30"/>
          <p:cNvSpPr txBox="1"/>
          <p:nvPr/>
        </p:nvSpPr>
        <p:spPr>
          <a:xfrm>
            <a:off x="9301734" y="2148840"/>
            <a:ext cx="914400" cy="548640"/>
          </a:xfrm>
          <a:prstGeom prst="rect">
            <a:avLst/>
          </a:prstGeom>
          <a:noFill/>
          <a:ln/>
        </p:spPr>
        <p:txBody>
          <a:bodyPr wrap="square" lIns="0" tIns="0" rIns="0" bIns="0" rtlCol="0" anchor="t"/>
          <a:lstStyle/>
          <a:p>
            <a:pPr indent="0" marL="0">
              <a:buNone/>
            </a:pPr>
            <a:r>
              <a:rPr lang="en-US" sz="3000" b="1" dirty="0">
                <a:solidFill>
                  <a:srgbClr val="0A7560"/>
                </a:solidFill>
                <a:latin typeface="Arial" pitchFamily="34" charset="0"/>
                <a:ea typeface="Arial" pitchFamily="34" charset="-122"/>
                <a:cs typeface="Arial" pitchFamily="34" charset="-120"/>
              </a:rPr>
              <a:t>4</a:t>
            </a:r>
            <a:endParaRPr lang="en-US" sz="3000" dirty="0"/>
          </a:p>
        </p:txBody>
      </p:sp>
      <p:sp>
        <p:nvSpPr>
          <p:cNvPr id="33" name="Text 31"/>
          <p:cNvSpPr txBox="1"/>
          <p:nvPr/>
        </p:nvSpPr>
        <p:spPr>
          <a:xfrm>
            <a:off x="9301734" y="2743200"/>
            <a:ext cx="2109978" cy="365760"/>
          </a:xfrm>
          <a:prstGeom prst="rect">
            <a:avLst/>
          </a:prstGeom>
          <a:noFill/>
          <a:ln/>
        </p:spPr>
        <p:txBody>
          <a:bodyPr wrap="square" lIns="0" tIns="0" rIns="0" bIns="0" rtlCol="0" anchor="t"/>
          <a:lstStyle/>
          <a:p>
            <a:pPr indent="0" marL="0">
              <a:buNone/>
            </a:pPr>
            <a:r>
              <a:rPr lang="en-US" sz="1600" b="1" dirty="0">
                <a:solidFill>
                  <a:srgbClr val="14202A"/>
                </a:solidFill>
                <a:latin typeface="Arial" pitchFamily="34" charset="0"/>
                <a:ea typeface="Arial" pitchFamily="34" charset="-122"/>
                <a:cs typeface="Arial" pitchFamily="34" charset="-120"/>
              </a:rPr>
              <a:t>Bootstrap</a:t>
            </a:r>
            <a:endParaRPr lang="en-US" sz="1600" dirty="0"/>
          </a:p>
        </p:txBody>
      </p:sp>
      <p:sp>
        <p:nvSpPr>
          <p:cNvPr id="34" name="Text 32"/>
          <p:cNvSpPr txBox="1"/>
          <p:nvPr/>
        </p:nvSpPr>
        <p:spPr>
          <a:xfrm>
            <a:off x="9301734" y="3108960"/>
            <a:ext cx="2109978" cy="594360"/>
          </a:xfrm>
          <a:prstGeom prst="rect">
            <a:avLst/>
          </a:prstGeom>
          <a:noFill/>
          <a:ln/>
        </p:spPr>
        <p:txBody>
          <a:bodyPr wrap="square" lIns="0" tIns="0" rIns="0" bIns="0" rtlCol="0" anchor="t"/>
          <a:lstStyle/>
          <a:p>
            <a:pPr indent="0" marL="0">
              <a:buNone/>
            </a:pPr>
            <a:r>
              <a:rPr lang="en-US" sz="1200" dirty="0">
                <a:solidFill>
                  <a:srgbClr val="52616C"/>
                </a:solidFill>
                <a:latin typeface="Arial" pitchFamily="34" charset="0"/>
                <a:ea typeface="Arial" pitchFamily="34" charset="-122"/>
                <a:cs typeface="Arial" pitchFamily="34" charset="-120"/>
              </a:rPr>
              <a:t>Simulation jour par jour, fenêtres indépendantes</a:t>
            </a:r>
            <a:endParaRPr lang="en-US" sz="1200" dirty="0"/>
          </a:p>
        </p:txBody>
      </p:sp>
      <p:sp>
        <p:nvSpPr>
          <p:cNvPr id="35" name="Shape 33"/>
          <p:cNvSpPr/>
          <p:nvPr/>
        </p:nvSpPr>
        <p:spPr>
          <a:xfrm>
            <a:off x="548640" y="4069080"/>
            <a:ext cx="2567178" cy="1828800"/>
          </a:xfrm>
          <a:prstGeom prst="rect">
            <a:avLst/>
          </a:prstGeom>
          <a:solidFill>
            <a:srgbClr val="F7F9F8"/>
          </a:solidFill>
          <a:ln w="9525">
            <a:solidFill>
              <a:srgbClr val="C6CFCB"/>
            </a:solidFill>
            <a:prstDash val="solid"/>
          </a:ln>
        </p:spPr>
      </p:sp>
      <p:sp>
        <p:nvSpPr>
          <p:cNvPr id="36" name="Text 34"/>
          <p:cNvSpPr txBox="1"/>
          <p:nvPr/>
        </p:nvSpPr>
        <p:spPr>
          <a:xfrm>
            <a:off x="777240" y="4251960"/>
            <a:ext cx="914400" cy="548640"/>
          </a:xfrm>
          <a:prstGeom prst="rect">
            <a:avLst/>
          </a:prstGeom>
          <a:noFill/>
          <a:ln/>
        </p:spPr>
        <p:txBody>
          <a:bodyPr wrap="square" lIns="0" tIns="0" rIns="0" bIns="0" rtlCol="0" anchor="t"/>
          <a:lstStyle/>
          <a:p>
            <a:pPr indent="0" marL="0">
              <a:buNone/>
            </a:pPr>
            <a:r>
              <a:rPr lang="en-US" sz="3000" b="1" dirty="0">
                <a:solidFill>
                  <a:srgbClr val="0A7560"/>
                </a:solidFill>
                <a:latin typeface="Arial" pitchFamily="34" charset="0"/>
                <a:ea typeface="Arial" pitchFamily="34" charset="-122"/>
                <a:cs typeface="Arial" pitchFamily="34" charset="-120"/>
              </a:rPr>
              <a:t>5</a:t>
            </a:r>
            <a:endParaRPr lang="en-US" sz="3000" dirty="0"/>
          </a:p>
        </p:txBody>
      </p:sp>
      <p:sp>
        <p:nvSpPr>
          <p:cNvPr id="37" name="Text 35"/>
          <p:cNvSpPr txBox="1"/>
          <p:nvPr/>
        </p:nvSpPr>
        <p:spPr>
          <a:xfrm>
            <a:off x="777240" y="4846320"/>
            <a:ext cx="2109978" cy="365760"/>
          </a:xfrm>
          <a:prstGeom prst="rect">
            <a:avLst/>
          </a:prstGeom>
          <a:noFill/>
          <a:ln/>
        </p:spPr>
        <p:txBody>
          <a:bodyPr wrap="square" lIns="0" tIns="0" rIns="0" bIns="0" rtlCol="0" anchor="t"/>
          <a:lstStyle/>
          <a:p>
            <a:pPr indent="0" marL="0">
              <a:buNone/>
            </a:pPr>
            <a:r>
              <a:rPr lang="en-US" sz="1600" b="1" dirty="0">
                <a:solidFill>
                  <a:srgbClr val="14202A"/>
                </a:solidFill>
                <a:latin typeface="Arial" pitchFamily="34" charset="0"/>
                <a:ea typeface="Arial" pitchFamily="34" charset="-122"/>
                <a:cs typeface="Arial" pitchFamily="34" charset="-120"/>
              </a:rPr>
              <a:t>Sélection</a:t>
            </a:r>
            <a:endParaRPr lang="en-US" sz="1600" dirty="0"/>
          </a:p>
        </p:txBody>
      </p:sp>
      <p:sp>
        <p:nvSpPr>
          <p:cNvPr id="38" name="Text 36"/>
          <p:cNvSpPr txBox="1"/>
          <p:nvPr/>
        </p:nvSpPr>
        <p:spPr>
          <a:xfrm>
            <a:off x="777240" y="5212080"/>
            <a:ext cx="2109978" cy="594360"/>
          </a:xfrm>
          <a:prstGeom prst="rect">
            <a:avLst/>
          </a:prstGeom>
          <a:noFill/>
          <a:ln/>
        </p:spPr>
        <p:txBody>
          <a:bodyPr wrap="square" lIns="0" tIns="0" rIns="0" bIns="0" rtlCol="0" anchor="t"/>
          <a:lstStyle/>
          <a:p>
            <a:pPr indent="0" marL="0">
              <a:buNone/>
            </a:pPr>
            <a:r>
              <a:rPr lang="en-US" sz="1200" dirty="0">
                <a:solidFill>
                  <a:srgbClr val="52616C"/>
                </a:solidFill>
                <a:latin typeface="Arial" pitchFamily="34" charset="0"/>
                <a:ea typeface="Arial" pitchFamily="34" charset="-122"/>
                <a:cs typeface="Arial" pitchFamily="34" charset="-120"/>
              </a:rPr>
              <a:t>Meilleur couple entrée-sortie par horizon</a:t>
            </a:r>
            <a:endParaRPr lang="en-US" sz="1200" dirty="0"/>
          </a:p>
        </p:txBody>
      </p:sp>
      <p:sp>
        <p:nvSpPr>
          <p:cNvPr id="39" name="Shape 37"/>
          <p:cNvSpPr/>
          <p:nvPr/>
        </p:nvSpPr>
        <p:spPr>
          <a:xfrm>
            <a:off x="3390138" y="4069080"/>
            <a:ext cx="2567178" cy="1828800"/>
          </a:xfrm>
          <a:prstGeom prst="rect">
            <a:avLst/>
          </a:prstGeom>
          <a:solidFill>
            <a:srgbClr val="F7F9F8"/>
          </a:solidFill>
          <a:ln w="9525">
            <a:solidFill>
              <a:srgbClr val="C6CFCB"/>
            </a:solidFill>
            <a:prstDash val="solid"/>
          </a:ln>
        </p:spPr>
      </p:sp>
      <p:sp>
        <p:nvSpPr>
          <p:cNvPr id="40" name="Text 38"/>
          <p:cNvSpPr txBox="1"/>
          <p:nvPr/>
        </p:nvSpPr>
        <p:spPr>
          <a:xfrm>
            <a:off x="3618738" y="4251960"/>
            <a:ext cx="914400" cy="548640"/>
          </a:xfrm>
          <a:prstGeom prst="rect">
            <a:avLst/>
          </a:prstGeom>
          <a:noFill/>
          <a:ln/>
        </p:spPr>
        <p:txBody>
          <a:bodyPr wrap="square" lIns="0" tIns="0" rIns="0" bIns="0" rtlCol="0" anchor="t"/>
          <a:lstStyle/>
          <a:p>
            <a:pPr indent="0" marL="0">
              <a:buNone/>
            </a:pPr>
            <a:r>
              <a:rPr lang="en-US" sz="3000" b="1" dirty="0">
                <a:solidFill>
                  <a:srgbClr val="0A7560"/>
                </a:solidFill>
                <a:latin typeface="Arial" pitchFamily="34" charset="0"/>
                <a:ea typeface="Arial" pitchFamily="34" charset="-122"/>
                <a:cs typeface="Arial" pitchFamily="34" charset="-120"/>
              </a:rPr>
              <a:t>6</a:t>
            </a:r>
            <a:endParaRPr lang="en-US" sz="3000" dirty="0"/>
          </a:p>
        </p:txBody>
      </p:sp>
      <p:sp>
        <p:nvSpPr>
          <p:cNvPr id="41" name="Text 39"/>
          <p:cNvSpPr txBox="1"/>
          <p:nvPr/>
        </p:nvSpPr>
        <p:spPr>
          <a:xfrm>
            <a:off x="3618738" y="4846320"/>
            <a:ext cx="2109978" cy="365760"/>
          </a:xfrm>
          <a:prstGeom prst="rect">
            <a:avLst/>
          </a:prstGeom>
          <a:noFill/>
          <a:ln/>
        </p:spPr>
        <p:txBody>
          <a:bodyPr wrap="square" lIns="0" tIns="0" rIns="0" bIns="0" rtlCol="0" anchor="t"/>
          <a:lstStyle/>
          <a:p>
            <a:pPr indent="0" marL="0">
              <a:buNone/>
            </a:pPr>
            <a:r>
              <a:rPr lang="en-US" sz="1600" b="1" dirty="0">
                <a:solidFill>
                  <a:srgbClr val="14202A"/>
                </a:solidFill>
                <a:latin typeface="Arial" pitchFamily="34" charset="0"/>
                <a:ea typeface="Arial" pitchFamily="34" charset="-122"/>
                <a:cs typeface="Arial" pitchFamily="34" charset="-120"/>
              </a:rPr>
              <a:t>Fusion</a:t>
            </a:r>
            <a:endParaRPr lang="en-US" sz="1600" dirty="0"/>
          </a:p>
        </p:txBody>
      </p:sp>
      <p:sp>
        <p:nvSpPr>
          <p:cNvPr id="42" name="Text 40"/>
          <p:cNvSpPr txBox="1"/>
          <p:nvPr/>
        </p:nvSpPr>
        <p:spPr>
          <a:xfrm>
            <a:off x="3618738" y="5212080"/>
            <a:ext cx="2109978" cy="594360"/>
          </a:xfrm>
          <a:prstGeom prst="rect">
            <a:avLst/>
          </a:prstGeom>
          <a:noFill/>
          <a:ln/>
        </p:spPr>
        <p:txBody>
          <a:bodyPr wrap="square" lIns="0" tIns="0" rIns="0" bIns="0" rtlCol="0" anchor="t"/>
          <a:lstStyle/>
          <a:p>
            <a:pPr indent="0" marL="0">
              <a:buNone/>
            </a:pPr>
            <a:r>
              <a:rPr lang="en-US" sz="1200" dirty="0">
                <a:solidFill>
                  <a:srgbClr val="52616C"/>
                </a:solidFill>
                <a:latin typeface="Arial" pitchFamily="34" charset="0"/>
                <a:ea typeface="Arial" pitchFamily="34" charset="-122"/>
                <a:cs typeface="Arial" pitchFamily="34" charset="-120"/>
              </a:rPr>
              <a:t>Panier final sans indicateurs redondants</a:t>
            </a:r>
            <a:endParaRPr lang="en-US" sz="1200" dirty="0"/>
          </a:p>
        </p:txBody>
      </p:sp>
      <p:sp>
        <p:nvSpPr>
          <p:cNvPr id="43" name="Shape 41"/>
          <p:cNvSpPr/>
          <p:nvPr/>
        </p:nvSpPr>
        <p:spPr>
          <a:xfrm>
            <a:off x="6231636" y="4069080"/>
            <a:ext cx="2567178" cy="1828800"/>
          </a:xfrm>
          <a:prstGeom prst="rect">
            <a:avLst/>
          </a:prstGeom>
          <a:solidFill>
            <a:srgbClr val="F7F9F8"/>
          </a:solidFill>
          <a:ln w="9525">
            <a:solidFill>
              <a:srgbClr val="C6CFCB"/>
            </a:solidFill>
            <a:prstDash val="solid"/>
          </a:ln>
        </p:spPr>
      </p:sp>
      <p:sp>
        <p:nvSpPr>
          <p:cNvPr id="44" name="Text 42"/>
          <p:cNvSpPr txBox="1"/>
          <p:nvPr/>
        </p:nvSpPr>
        <p:spPr>
          <a:xfrm>
            <a:off x="6460236" y="4251960"/>
            <a:ext cx="914400" cy="548640"/>
          </a:xfrm>
          <a:prstGeom prst="rect">
            <a:avLst/>
          </a:prstGeom>
          <a:noFill/>
          <a:ln/>
        </p:spPr>
        <p:txBody>
          <a:bodyPr wrap="square" lIns="0" tIns="0" rIns="0" bIns="0" rtlCol="0" anchor="t"/>
          <a:lstStyle/>
          <a:p>
            <a:pPr indent="0" marL="0">
              <a:buNone/>
            </a:pPr>
            <a:r>
              <a:rPr lang="en-US" sz="3000" b="1" dirty="0">
                <a:solidFill>
                  <a:srgbClr val="0A7560"/>
                </a:solidFill>
                <a:latin typeface="Arial" pitchFamily="34" charset="0"/>
                <a:ea typeface="Arial" pitchFamily="34" charset="-122"/>
                <a:cs typeface="Arial" pitchFamily="34" charset="-120"/>
              </a:rPr>
              <a:t>7</a:t>
            </a:r>
            <a:endParaRPr lang="en-US" sz="3000" dirty="0"/>
          </a:p>
        </p:txBody>
      </p:sp>
      <p:sp>
        <p:nvSpPr>
          <p:cNvPr id="45" name="Text 43"/>
          <p:cNvSpPr txBox="1"/>
          <p:nvPr/>
        </p:nvSpPr>
        <p:spPr>
          <a:xfrm>
            <a:off x="6460236" y="4846320"/>
            <a:ext cx="2109978" cy="365760"/>
          </a:xfrm>
          <a:prstGeom prst="rect">
            <a:avLst/>
          </a:prstGeom>
          <a:noFill/>
          <a:ln/>
        </p:spPr>
        <p:txBody>
          <a:bodyPr wrap="square" lIns="0" tIns="0" rIns="0" bIns="0" rtlCol="0" anchor="t"/>
          <a:lstStyle/>
          <a:p>
            <a:pPr indent="0" marL="0">
              <a:buNone/>
            </a:pPr>
            <a:r>
              <a:rPr lang="en-US" sz="1600" b="1" dirty="0">
                <a:solidFill>
                  <a:srgbClr val="14202A"/>
                </a:solidFill>
                <a:latin typeface="Arial" pitchFamily="34" charset="0"/>
                <a:ea typeface="Arial" pitchFamily="34" charset="-122"/>
                <a:cs typeface="Arial" pitchFamily="34" charset="-120"/>
              </a:rPr>
              <a:t>Validation</a:t>
            </a:r>
            <a:endParaRPr lang="en-US" sz="1600" dirty="0"/>
          </a:p>
        </p:txBody>
      </p:sp>
      <p:sp>
        <p:nvSpPr>
          <p:cNvPr id="46" name="Text 44"/>
          <p:cNvSpPr txBox="1"/>
          <p:nvPr/>
        </p:nvSpPr>
        <p:spPr>
          <a:xfrm>
            <a:off x="6460236" y="5212080"/>
            <a:ext cx="2109978" cy="594360"/>
          </a:xfrm>
          <a:prstGeom prst="rect">
            <a:avLst/>
          </a:prstGeom>
          <a:noFill/>
          <a:ln/>
        </p:spPr>
        <p:txBody>
          <a:bodyPr wrap="square" lIns="0" tIns="0" rIns="0" bIns="0" rtlCol="0" anchor="t"/>
          <a:lstStyle/>
          <a:p>
            <a:pPr indent="0" marL="0">
              <a:buNone/>
            </a:pPr>
            <a:r>
              <a:rPr lang="en-US" sz="1200" dirty="0">
                <a:solidFill>
                  <a:srgbClr val="52616C"/>
                </a:solidFill>
                <a:latin typeface="Arial" pitchFamily="34" charset="0"/>
                <a:ea typeface="Arial" pitchFamily="34" charset="-122"/>
                <a:cs typeface="Arial" pitchFamily="34" charset="-120"/>
              </a:rPr>
              <a:t>Rejeu sur une période jamais vue</a:t>
            </a:r>
            <a:endParaRPr lang="en-US" sz="1200" dirty="0"/>
          </a:p>
        </p:txBody>
      </p:sp>
      <p:sp>
        <p:nvSpPr>
          <p:cNvPr id="47" name="Shape 45"/>
          <p:cNvSpPr/>
          <p:nvPr/>
        </p:nvSpPr>
        <p:spPr>
          <a:xfrm>
            <a:off x="9073134" y="4069080"/>
            <a:ext cx="2567178" cy="1828800"/>
          </a:xfrm>
          <a:prstGeom prst="rect">
            <a:avLst/>
          </a:prstGeom>
          <a:solidFill>
            <a:srgbClr val="F7F9F8"/>
          </a:solidFill>
          <a:ln w="9525">
            <a:solidFill>
              <a:srgbClr val="C6CFCB"/>
            </a:solidFill>
            <a:prstDash val="solid"/>
          </a:ln>
        </p:spPr>
      </p:sp>
      <p:sp>
        <p:nvSpPr>
          <p:cNvPr id="48" name="Text 46"/>
          <p:cNvSpPr txBox="1"/>
          <p:nvPr/>
        </p:nvSpPr>
        <p:spPr>
          <a:xfrm>
            <a:off x="9301734" y="4251960"/>
            <a:ext cx="914400" cy="548640"/>
          </a:xfrm>
          <a:prstGeom prst="rect">
            <a:avLst/>
          </a:prstGeom>
          <a:noFill/>
          <a:ln/>
        </p:spPr>
        <p:txBody>
          <a:bodyPr wrap="square" lIns="0" tIns="0" rIns="0" bIns="0" rtlCol="0" anchor="t"/>
          <a:lstStyle/>
          <a:p>
            <a:pPr indent="0" marL="0">
              <a:buNone/>
            </a:pPr>
            <a:r>
              <a:rPr lang="en-US" sz="3000" b="1" dirty="0">
                <a:solidFill>
                  <a:srgbClr val="0A7560"/>
                </a:solidFill>
                <a:latin typeface="Arial" pitchFamily="34" charset="0"/>
                <a:ea typeface="Arial" pitchFamily="34" charset="-122"/>
                <a:cs typeface="Arial" pitchFamily="34" charset="-120"/>
              </a:rPr>
              <a:t>8</a:t>
            </a:r>
            <a:endParaRPr lang="en-US" sz="3000" dirty="0"/>
          </a:p>
        </p:txBody>
      </p:sp>
      <p:sp>
        <p:nvSpPr>
          <p:cNvPr id="49" name="Text 47"/>
          <p:cNvSpPr txBox="1"/>
          <p:nvPr/>
        </p:nvSpPr>
        <p:spPr>
          <a:xfrm>
            <a:off x="9301734" y="4846320"/>
            <a:ext cx="2109978" cy="365760"/>
          </a:xfrm>
          <a:prstGeom prst="rect">
            <a:avLst/>
          </a:prstGeom>
          <a:noFill/>
          <a:ln/>
        </p:spPr>
        <p:txBody>
          <a:bodyPr wrap="square" lIns="0" tIns="0" rIns="0" bIns="0" rtlCol="0" anchor="t"/>
          <a:lstStyle/>
          <a:p>
            <a:pPr indent="0" marL="0">
              <a:buNone/>
            </a:pPr>
            <a:r>
              <a:rPr lang="en-US" sz="1600" b="1" dirty="0">
                <a:solidFill>
                  <a:srgbClr val="14202A"/>
                </a:solidFill>
                <a:latin typeface="Arial" pitchFamily="34" charset="0"/>
                <a:ea typeface="Arial" pitchFamily="34" charset="-122"/>
                <a:cs typeface="Arial" pitchFamily="34" charset="-120"/>
              </a:rPr>
              <a:t>Production</a:t>
            </a:r>
            <a:endParaRPr lang="en-US" sz="1600" dirty="0"/>
          </a:p>
        </p:txBody>
      </p:sp>
      <p:sp>
        <p:nvSpPr>
          <p:cNvPr id="50" name="Text 48"/>
          <p:cNvSpPr txBox="1"/>
          <p:nvPr/>
        </p:nvSpPr>
        <p:spPr>
          <a:xfrm>
            <a:off x="9301734" y="5212080"/>
            <a:ext cx="2109978" cy="594360"/>
          </a:xfrm>
          <a:prstGeom prst="rect">
            <a:avLst/>
          </a:prstGeom>
          <a:noFill/>
          <a:ln/>
        </p:spPr>
        <p:txBody>
          <a:bodyPr wrap="square" lIns="0" tIns="0" rIns="0" bIns="0" rtlCol="0" anchor="t"/>
          <a:lstStyle/>
          <a:p>
            <a:pPr indent="0" marL="0">
              <a:buNone/>
            </a:pPr>
            <a:r>
              <a:rPr lang="en-US" sz="1200" dirty="0">
                <a:solidFill>
                  <a:srgbClr val="52616C"/>
                </a:solidFill>
                <a:latin typeface="Arial" pitchFamily="34" charset="0"/>
                <a:ea typeface="Arial" pitchFamily="34" charset="-122"/>
                <a:cs typeface="Arial" pitchFamily="34" charset="-120"/>
              </a:rPr>
              <a:t>Carnet d'ordres à passer à l'ouverture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F0EE"/>
        </a:solidFill>
      </p:bgPr>
    </p:bg>
    <p:spTree>
      <p:nvGrpSpPr>
        <p:cNvPr id="1" name=""/>
        <p:cNvGrpSpPr/>
        <p:nvPr/>
      </p:nvGrpSpPr>
      <p:grpSpPr>
        <a:xfrm>
          <a:off x="0" y="0"/>
          <a:ext cx="0" cy="0"/>
          <a:chOff x="0" y="0"/>
          <a:chExt cx="0" cy="0"/>
        </a:xfrm>
      </p:grpSpPr>
      <p:sp>
        <p:nvSpPr>
          <p:cNvPr id="2" name="Shape 0"/>
          <p:cNvSpPr/>
          <p:nvPr/>
        </p:nvSpPr>
        <p:spPr>
          <a:xfrm>
            <a:off x="548640" y="278892"/>
            <a:ext cx="1322451" cy="73152"/>
          </a:xfrm>
          <a:prstGeom prst="rect">
            <a:avLst/>
          </a:prstGeom>
          <a:solidFill>
            <a:srgbClr val="0A7560"/>
          </a:solidFill>
          <a:ln w="12700">
            <a:solidFill>
              <a:srgbClr val="0A7560"/>
            </a:solidFill>
            <a:prstDash val="solid"/>
          </a:ln>
        </p:spPr>
      </p:sp>
      <p:sp>
        <p:nvSpPr>
          <p:cNvPr id="3" name="Text 1"/>
          <p:cNvSpPr txBox="1"/>
          <p:nvPr/>
        </p:nvSpPr>
        <p:spPr>
          <a:xfrm>
            <a:off x="548640" y="402336"/>
            <a:ext cx="1322451" cy="237744"/>
          </a:xfrm>
          <a:prstGeom prst="rect">
            <a:avLst/>
          </a:prstGeom>
          <a:noFill/>
          <a:ln/>
        </p:spPr>
        <p:txBody>
          <a:bodyPr wrap="square" lIns="0" tIns="0" rIns="0" bIns="0" rtlCol="0" anchor="t"/>
          <a:lstStyle/>
          <a:p>
            <a:pPr indent="0" marL="0">
              <a:buNone/>
            </a:pPr>
            <a:r>
              <a:rPr lang="en-US" sz="1000" b="1" dirty="0">
                <a:solidFill>
                  <a:srgbClr val="0A7560"/>
                </a:solidFill>
                <a:latin typeface="Arial" pitchFamily="34" charset="0"/>
                <a:ea typeface="Arial" pitchFamily="34" charset="-122"/>
                <a:cs typeface="Arial" pitchFamily="34" charset="-120"/>
              </a:rPr>
              <a:t>1  </a:t>
            </a:r>
            <a:pPr indent="0" marL="0">
              <a:buNone/>
            </a:pPr>
            <a:r>
              <a:rPr lang="en-US" sz="1000" b="1" dirty="0">
                <a:solidFill>
                  <a:srgbClr val="0A7560"/>
                </a:solidFill>
                <a:latin typeface="Arial" pitchFamily="34" charset="0"/>
                <a:ea typeface="Arial" pitchFamily="34" charset="-122"/>
                <a:cs typeface="Arial" pitchFamily="34" charset="-120"/>
              </a:rPr>
              <a:t>Données</a:t>
            </a:r>
            <a:endParaRPr lang="en-US" sz="1000" dirty="0"/>
          </a:p>
        </p:txBody>
      </p:sp>
      <p:sp>
        <p:nvSpPr>
          <p:cNvPr id="4" name="Shape 2"/>
          <p:cNvSpPr/>
          <p:nvPr/>
        </p:nvSpPr>
        <p:spPr>
          <a:xfrm>
            <a:off x="1944243" y="278892"/>
            <a:ext cx="1322451" cy="73152"/>
          </a:xfrm>
          <a:prstGeom prst="rect">
            <a:avLst/>
          </a:prstGeom>
          <a:solidFill>
            <a:srgbClr val="0A7560"/>
          </a:solidFill>
          <a:ln w="12700">
            <a:solidFill>
              <a:srgbClr val="0A7560"/>
            </a:solidFill>
            <a:prstDash val="solid"/>
          </a:ln>
        </p:spPr>
      </p:sp>
      <p:sp>
        <p:nvSpPr>
          <p:cNvPr id="5" name="Text 3"/>
          <p:cNvSpPr txBox="1"/>
          <p:nvPr/>
        </p:nvSpPr>
        <p:spPr>
          <a:xfrm>
            <a:off x="1944243" y="402336"/>
            <a:ext cx="1322451" cy="237744"/>
          </a:xfrm>
          <a:prstGeom prst="rect">
            <a:avLst/>
          </a:prstGeom>
          <a:noFill/>
          <a:ln/>
        </p:spPr>
        <p:txBody>
          <a:bodyPr wrap="square" lIns="0" tIns="0" rIns="0" bIns="0" rtlCol="0" anchor="t"/>
          <a:lstStyle/>
          <a:p>
            <a:pPr indent="0" marL="0">
              <a:buNone/>
            </a:pPr>
            <a:r>
              <a:rPr lang="en-US" sz="1000" b="1" dirty="0">
                <a:solidFill>
                  <a:srgbClr val="0A7560"/>
                </a:solidFill>
                <a:latin typeface="Arial" pitchFamily="34" charset="0"/>
                <a:ea typeface="Arial" pitchFamily="34" charset="-122"/>
                <a:cs typeface="Arial" pitchFamily="34" charset="-120"/>
              </a:rPr>
              <a:t>2  </a:t>
            </a:r>
            <a:pPr indent="0" marL="0">
              <a:buNone/>
            </a:pPr>
            <a:r>
              <a:rPr lang="en-US" sz="1000" b="1" dirty="0">
                <a:solidFill>
                  <a:srgbClr val="0A7560"/>
                </a:solidFill>
                <a:latin typeface="Arial" pitchFamily="34" charset="0"/>
                <a:ea typeface="Arial" pitchFamily="34" charset="-122"/>
                <a:cs typeface="Arial" pitchFamily="34" charset="-120"/>
              </a:rPr>
              <a:t>Indicateurs</a:t>
            </a:r>
            <a:endParaRPr lang="en-US" sz="1000" dirty="0"/>
          </a:p>
        </p:txBody>
      </p:sp>
      <p:sp>
        <p:nvSpPr>
          <p:cNvPr id="6" name="Shape 4"/>
          <p:cNvSpPr/>
          <p:nvPr/>
        </p:nvSpPr>
        <p:spPr>
          <a:xfrm>
            <a:off x="3339846" y="292608"/>
            <a:ext cx="1322451" cy="45720"/>
          </a:xfrm>
          <a:prstGeom prst="rect">
            <a:avLst/>
          </a:prstGeom>
          <a:solidFill>
            <a:srgbClr val="C6CFCB"/>
          </a:solidFill>
          <a:ln w="12700">
            <a:solidFill>
              <a:srgbClr val="C6CFCB"/>
            </a:solidFill>
            <a:prstDash val="solid"/>
          </a:ln>
        </p:spPr>
      </p:sp>
      <p:sp>
        <p:nvSpPr>
          <p:cNvPr id="7" name="Text 5"/>
          <p:cNvSpPr txBox="1"/>
          <p:nvPr/>
        </p:nvSpPr>
        <p:spPr>
          <a:xfrm>
            <a:off x="3339846"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3  </a:t>
            </a:r>
            <a:pPr indent="0" marL="0">
              <a:buNone/>
            </a:pPr>
            <a:r>
              <a:rPr lang="en-US" sz="1000" dirty="0">
                <a:solidFill>
                  <a:srgbClr val="52616C"/>
                </a:solidFill>
                <a:latin typeface="Arial" pitchFamily="34" charset="0"/>
                <a:ea typeface="Arial" pitchFamily="34" charset="-122"/>
                <a:cs typeface="Arial" pitchFamily="34" charset="-120"/>
              </a:rPr>
              <a:t>Paniers</a:t>
            </a:r>
            <a:endParaRPr lang="en-US" sz="1000" dirty="0"/>
          </a:p>
        </p:txBody>
      </p:sp>
      <p:sp>
        <p:nvSpPr>
          <p:cNvPr id="8" name="Shape 6"/>
          <p:cNvSpPr/>
          <p:nvPr/>
        </p:nvSpPr>
        <p:spPr>
          <a:xfrm>
            <a:off x="4735449" y="292608"/>
            <a:ext cx="1322451" cy="45720"/>
          </a:xfrm>
          <a:prstGeom prst="rect">
            <a:avLst/>
          </a:prstGeom>
          <a:solidFill>
            <a:srgbClr val="C6CFCB"/>
          </a:solidFill>
          <a:ln w="12700">
            <a:solidFill>
              <a:srgbClr val="C6CFCB"/>
            </a:solidFill>
            <a:prstDash val="solid"/>
          </a:ln>
        </p:spPr>
      </p:sp>
      <p:sp>
        <p:nvSpPr>
          <p:cNvPr id="9" name="Text 7"/>
          <p:cNvSpPr txBox="1"/>
          <p:nvPr/>
        </p:nvSpPr>
        <p:spPr>
          <a:xfrm>
            <a:off x="4735449"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4  </a:t>
            </a:r>
            <a:pPr indent="0" marL="0">
              <a:buNone/>
            </a:pPr>
            <a:r>
              <a:rPr lang="en-US" sz="1000" dirty="0">
                <a:solidFill>
                  <a:srgbClr val="52616C"/>
                </a:solidFill>
                <a:latin typeface="Arial" pitchFamily="34" charset="0"/>
                <a:ea typeface="Arial" pitchFamily="34" charset="-122"/>
                <a:cs typeface="Arial" pitchFamily="34" charset="-120"/>
              </a:rPr>
              <a:t>Bootstrap</a:t>
            </a:r>
            <a:endParaRPr lang="en-US" sz="1000" dirty="0"/>
          </a:p>
        </p:txBody>
      </p:sp>
      <p:sp>
        <p:nvSpPr>
          <p:cNvPr id="10" name="Shape 8"/>
          <p:cNvSpPr/>
          <p:nvPr/>
        </p:nvSpPr>
        <p:spPr>
          <a:xfrm>
            <a:off x="6131052" y="292608"/>
            <a:ext cx="1322451" cy="45720"/>
          </a:xfrm>
          <a:prstGeom prst="rect">
            <a:avLst/>
          </a:prstGeom>
          <a:solidFill>
            <a:srgbClr val="C6CFCB"/>
          </a:solidFill>
          <a:ln w="12700">
            <a:solidFill>
              <a:srgbClr val="C6CFCB"/>
            </a:solidFill>
            <a:prstDash val="solid"/>
          </a:ln>
        </p:spPr>
      </p:sp>
      <p:sp>
        <p:nvSpPr>
          <p:cNvPr id="11" name="Text 9"/>
          <p:cNvSpPr txBox="1"/>
          <p:nvPr/>
        </p:nvSpPr>
        <p:spPr>
          <a:xfrm>
            <a:off x="6131052"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5  </a:t>
            </a:r>
            <a:pPr indent="0" marL="0">
              <a:buNone/>
            </a:pPr>
            <a:r>
              <a:rPr lang="en-US" sz="1000" dirty="0">
                <a:solidFill>
                  <a:srgbClr val="52616C"/>
                </a:solidFill>
                <a:latin typeface="Arial" pitchFamily="34" charset="0"/>
                <a:ea typeface="Arial" pitchFamily="34" charset="-122"/>
                <a:cs typeface="Arial" pitchFamily="34" charset="-120"/>
              </a:rPr>
              <a:t>Sélection</a:t>
            </a:r>
            <a:endParaRPr lang="en-US" sz="1000" dirty="0"/>
          </a:p>
        </p:txBody>
      </p:sp>
      <p:sp>
        <p:nvSpPr>
          <p:cNvPr id="12" name="Shape 10"/>
          <p:cNvSpPr/>
          <p:nvPr/>
        </p:nvSpPr>
        <p:spPr>
          <a:xfrm>
            <a:off x="7526655" y="292608"/>
            <a:ext cx="1322451" cy="45720"/>
          </a:xfrm>
          <a:prstGeom prst="rect">
            <a:avLst/>
          </a:prstGeom>
          <a:solidFill>
            <a:srgbClr val="C6CFCB"/>
          </a:solidFill>
          <a:ln w="12700">
            <a:solidFill>
              <a:srgbClr val="C6CFCB"/>
            </a:solidFill>
            <a:prstDash val="solid"/>
          </a:ln>
        </p:spPr>
      </p:sp>
      <p:sp>
        <p:nvSpPr>
          <p:cNvPr id="13" name="Text 11"/>
          <p:cNvSpPr txBox="1"/>
          <p:nvPr/>
        </p:nvSpPr>
        <p:spPr>
          <a:xfrm>
            <a:off x="7526655"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6  </a:t>
            </a:r>
            <a:pPr indent="0" marL="0">
              <a:buNone/>
            </a:pPr>
            <a:r>
              <a:rPr lang="en-US" sz="1000" dirty="0">
                <a:solidFill>
                  <a:srgbClr val="52616C"/>
                </a:solidFill>
                <a:latin typeface="Arial" pitchFamily="34" charset="0"/>
                <a:ea typeface="Arial" pitchFamily="34" charset="-122"/>
                <a:cs typeface="Arial" pitchFamily="34" charset="-120"/>
              </a:rPr>
              <a:t>Fusion</a:t>
            </a:r>
            <a:endParaRPr lang="en-US" sz="1000" dirty="0"/>
          </a:p>
        </p:txBody>
      </p:sp>
      <p:sp>
        <p:nvSpPr>
          <p:cNvPr id="14" name="Shape 12"/>
          <p:cNvSpPr/>
          <p:nvPr/>
        </p:nvSpPr>
        <p:spPr>
          <a:xfrm>
            <a:off x="8922258" y="292608"/>
            <a:ext cx="1322451" cy="45720"/>
          </a:xfrm>
          <a:prstGeom prst="rect">
            <a:avLst/>
          </a:prstGeom>
          <a:solidFill>
            <a:srgbClr val="C6CFCB"/>
          </a:solidFill>
          <a:ln w="12700">
            <a:solidFill>
              <a:srgbClr val="C6CFCB"/>
            </a:solidFill>
            <a:prstDash val="solid"/>
          </a:ln>
        </p:spPr>
      </p:sp>
      <p:sp>
        <p:nvSpPr>
          <p:cNvPr id="15" name="Text 13"/>
          <p:cNvSpPr txBox="1"/>
          <p:nvPr/>
        </p:nvSpPr>
        <p:spPr>
          <a:xfrm>
            <a:off x="8922258"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7  </a:t>
            </a:r>
            <a:pPr indent="0" marL="0">
              <a:buNone/>
            </a:pPr>
            <a:r>
              <a:rPr lang="en-US" sz="1000" dirty="0">
                <a:solidFill>
                  <a:srgbClr val="52616C"/>
                </a:solidFill>
                <a:latin typeface="Arial" pitchFamily="34" charset="0"/>
                <a:ea typeface="Arial" pitchFamily="34" charset="-122"/>
                <a:cs typeface="Arial" pitchFamily="34" charset="-120"/>
              </a:rPr>
              <a:t>Validation</a:t>
            </a:r>
            <a:endParaRPr lang="en-US" sz="1000" dirty="0"/>
          </a:p>
        </p:txBody>
      </p:sp>
      <p:sp>
        <p:nvSpPr>
          <p:cNvPr id="16" name="Shape 14"/>
          <p:cNvSpPr/>
          <p:nvPr/>
        </p:nvSpPr>
        <p:spPr>
          <a:xfrm>
            <a:off x="10317861" y="292608"/>
            <a:ext cx="1322451" cy="45720"/>
          </a:xfrm>
          <a:prstGeom prst="rect">
            <a:avLst/>
          </a:prstGeom>
          <a:solidFill>
            <a:srgbClr val="C6CFCB"/>
          </a:solidFill>
          <a:ln w="12700">
            <a:solidFill>
              <a:srgbClr val="C6CFCB"/>
            </a:solidFill>
            <a:prstDash val="solid"/>
          </a:ln>
        </p:spPr>
      </p:sp>
      <p:sp>
        <p:nvSpPr>
          <p:cNvPr id="17" name="Text 15"/>
          <p:cNvSpPr txBox="1"/>
          <p:nvPr/>
        </p:nvSpPr>
        <p:spPr>
          <a:xfrm>
            <a:off x="10317861"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8  </a:t>
            </a:r>
            <a:pPr indent="0" marL="0">
              <a:buNone/>
            </a:pPr>
            <a:r>
              <a:rPr lang="en-US" sz="1000" dirty="0">
                <a:solidFill>
                  <a:srgbClr val="52616C"/>
                </a:solidFill>
                <a:latin typeface="Arial" pitchFamily="34" charset="0"/>
                <a:ea typeface="Arial" pitchFamily="34" charset="-122"/>
                <a:cs typeface="Arial" pitchFamily="34" charset="-120"/>
              </a:rPr>
              <a:t>Production</a:t>
            </a:r>
            <a:endParaRPr lang="en-US" sz="1000" dirty="0"/>
          </a:p>
        </p:txBody>
      </p:sp>
      <p:sp>
        <p:nvSpPr>
          <p:cNvPr id="18" name="Text 16"/>
          <p:cNvSpPr txBox="1"/>
          <p:nvPr/>
        </p:nvSpPr>
        <p:spPr>
          <a:xfrm>
            <a:off x="548640" y="914400"/>
            <a:ext cx="5486400" cy="1097280"/>
          </a:xfrm>
          <a:prstGeom prst="rect">
            <a:avLst/>
          </a:prstGeom>
          <a:noFill/>
          <a:ln/>
        </p:spPr>
        <p:txBody>
          <a:bodyPr wrap="square" lIns="0" tIns="0" rIns="0" bIns="0" rtlCol="0" anchor="t"/>
          <a:lstStyle/>
          <a:p>
            <a:pPr indent="0" marL="0">
              <a:buNone/>
            </a:pPr>
            <a:r>
              <a:rPr lang="en-US" sz="3200" b="1" dirty="0">
                <a:solidFill>
                  <a:srgbClr val="14202A"/>
                </a:solidFill>
                <a:latin typeface="Arial" pitchFamily="34" charset="0"/>
                <a:ea typeface="Arial" pitchFamily="34" charset="-122"/>
                <a:cs typeface="Arial" pitchFamily="34" charset="-120"/>
              </a:rPr>
              <a:t>Des indicateurs codés à la main, tous causaux</a:t>
            </a:r>
            <a:endParaRPr lang="en-US" sz="3200" dirty="0"/>
          </a:p>
        </p:txBody>
      </p:sp>
      <p:sp>
        <p:nvSpPr>
          <p:cNvPr id="19" name="Text 17"/>
          <p:cNvSpPr txBox="1"/>
          <p:nvPr/>
        </p:nvSpPr>
        <p:spPr>
          <a:xfrm>
            <a:off x="548640" y="2148840"/>
            <a:ext cx="5120640" cy="3291840"/>
          </a:xfrm>
          <a:prstGeom prst="rect">
            <a:avLst/>
          </a:prstGeom>
          <a:noFill/>
          <a:ln/>
        </p:spPr>
        <p:txBody>
          <a:bodyPr wrap="square" lIns="0" tIns="0" rIns="0" bIns="0" rtlCol="0" anchor="t"/>
          <a:lstStyle/>
          <a:p>
            <a:pPr indent="0" marL="0">
              <a:lnSpc>
                <a:spcPct val="112000"/>
              </a:lnSpc>
              <a:buNone/>
            </a:pPr>
            <a:r>
              <a:rPr lang="en-US" sz="1500" b="1" dirty="0">
                <a:solidFill>
                  <a:srgbClr val="14202A"/>
                </a:solidFill>
                <a:latin typeface="Arial" pitchFamily="34" charset="0"/>
                <a:ea typeface="Arial" pitchFamily="34" charset="-122"/>
                <a:cs typeface="Arial" pitchFamily="34" charset="-120"/>
              </a:rPr>
              <a:t>EMA </a:t>
            </a:r>
            <a:pPr indent="0" marL="0">
              <a:lnSpc>
                <a:spcPct val="112000"/>
              </a:lnSpc>
              <a:spcAft>
                <a:spcPts val="900"/>
              </a:spcAft>
              <a:buNone/>
            </a:pPr>
            <a:r>
              <a:rPr lang="en-US" sz="1500" dirty="0">
                <a:solidFill>
                  <a:srgbClr val="14202A"/>
                </a:solidFill>
                <a:latin typeface="Arial" pitchFamily="34" charset="0"/>
                <a:ea typeface="Arial" pitchFamily="34" charset="-122"/>
                <a:cs typeface="Arial" pitchFamily="34" charset="-120"/>
              </a:rPr>
              <a:t>par récurrence, α = 2/(N+1), validée contre pandas.</a:t>
            </a:r>
            <a:endParaRPr lang="en-US" sz="1500" dirty="0"/>
          </a:p>
          <a:p>
            <a:pPr indent="0" marL="0">
              <a:lnSpc>
                <a:spcPct val="112000"/>
              </a:lnSpc>
              <a:buNone/>
            </a:pPr>
            <a:r>
              <a:rPr lang="en-US" sz="1500" b="1" dirty="0">
                <a:solidFill>
                  <a:srgbClr val="14202A"/>
                </a:solidFill>
                <a:latin typeface="Arial" pitchFamily="34" charset="0"/>
                <a:ea typeface="Arial" pitchFamily="34" charset="-122"/>
                <a:cs typeface="Arial" pitchFamily="34" charset="-120"/>
              </a:rPr>
              <a:t>ATR </a:t>
            </a:r>
            <a:pPr indent="0" marL="0">
              <a:lnSpc>
                <a:spcPct val="112000"/>
              </a:lnSpc>
              <a:spcAft>
                <a:spcPts val="900"/>
              </a:spcAft>
              <a:buNone/>
            </a:pPr>
            <a:r>
              <a:rPr lang="en-US" sz="1500" dirty="0">
                <a:solidFill>
                  <a:srgbClr val="14202A"/>
                </a:solidFill>
                <a:latin typeface="Arial" pitchFamily="34" charset="0"/>
                <a:ea typeface="Arial" pitchFamily="34" charset="-122"/>
                <a:cs typeface="Arial" pitchFamily="34" charset="-120"/>
              </a:rPr>
              <a:t>avec le lissage de Wilder, α = 1/N, deux fois plus lent qu'une EMA.</a:t>
            </a:r>
            <a:endParaRPr lang="en-US" sz="1500" dirty="0"/>
          </a:p>
          <a:p>
            <a:pPr indent="0" marL="0">
              <a:lnSpc>
                <a:spcPct val="112000"/>
              </a:lnSpc>
              <a:buNone/>
            </a:pPr>
            <a:r>
              <a:rPr lang="en-US" sz="1500" b="1" dirty="0">
                <a:solidFill>
                  <a:srgbClr val="14202A"/>
                </a:solidFill>
                <a:latin typeface="Arial" pitchFamily="34" charset="0"/>
                <a:ea typeface="Arial" pitchFamily="34" charset="-122"/>
                <a:cs typeface="Arial" pitchFamily="34" charset="-120"/>
              </a:rPr>
              <a:t>ADX, ratio d'efficience, KAMA </a:t>
            </a:r>
            <a:pPr indent="0" marL="0">
              <a:lnSpc>
                <a:spcPct val="112000"/>
              </a:lnSpc>
              <a:spcAft>
                <a:spcPts val="900"/>
              </a:spcAft>
              <a:buNone/>
            </a:pPr>
            <a:r>
              <a:rPr lang="en-US" sz="1500" dirty="0">
                <a:solidFill>
                  <a:srgbClr val="14202A"/>
                </a:solidFill>
                <a:latin typeface="Arial" pitchFamily="34" charset="0"/>
                <a:ea typeface="Arial" pitchFamily="34" charset="-122"/>
                <a:cs typeface="Arial" pitchFamily="34" charset="-120"/>
              </a:rPr>
              <a:t>pour le régime de tendance.</a:t>
            </a:r>
            <a:endParaRPr lang="en-US" sz="1500" dirty="0"/>
          </a:p>
          <a:p>
            <a:pPr indent="0" marL="0">
              <a:lnSpc>
                <a:spcPct val="112000"/>
              </a:lnSpc>
              <a:buNone/>
            </a:pPr>
            <a:r>
              <a:rPr lang="en-US" sz="1500" b="1" dirty="0">
                <a:solidFill>
                  <a:srgbClr val="14202A"/>
                </a:solidFill>
                <a:latin typeface="Arial" pitchFamily="34" charset="0"/>
                <a:ea typeface="Arial" pitchFamily="34" charset="-122"/>
                <a:cs typeface="Arial" pitchFamily="34" charset="-120"/>
              </a:rPr>
              <a:t>Volume relatif, pente et distance </a:t>
            </a:r>
            <a:pPr indent="0" marL="0">
              <a:lnSpc>
                <a:spcPct val="112000"/>
              </a:lnSpc>
              <a:spcAft>
                <a:spcPts val="900"/>
              </a:spcAft>
              <a:buNone/>
            </a:pPr>
            <a:r>
              <a:rPr lang="en-US" sz="1500" dirty="0">
                <a:solidFill>
                  <a:srgbClr val="14202A"/>
                </a:solidFill>
                <a:latin typeface="Arial" pitchFamily="34" charset="0"/>
                <a:ea typeface="Arial" pitchFamily="34" charset="-122"/>
                <a:cs typeface="Arial" pitchFamily="34" charset="-120"/>
              </a:rPr>
              <a:t>à la moyenne mobile.</a:t>
            </a:r>
            <a:endParaRPr lang="en-US" sz="1500" dirty="0"/>
          </a:p>
        </p:txBody>
      </p:sp>
      <p:sp>
        <p:nvSpPr>
          <p:cNvPr id="20" name="Shape 18"/>
          <p:cNvSpPr/>
          <p:nvPr/>
        </p:nvSpPr>
        <p:spPr>
          <a:xfrm>
            <a:off x="6263640" y="960120"/>
            <a:ext cx="5376672" cy="2148840"/>
          </a:xfrm>
          <a:prstGeom prst="rect">
            <a:avLst/>
          </a:prstGeom>
          <a:solidFill>
            <a:srgbClr val="D2E8E1"/>
          </a:solidFill>
          <a:ln w="12700">
            <a:solidFill>
              <a:srgbClr val="D2E8E1"/>
            </a:solidFill>
            <a:prstDash val="solid"/>
          </a:ln>
        </p:spPr>
      </p:sp>
      <p:sp>
        <p:nvSpPr>
          <p:cNvPr id="21" name="Text 19"/>
          <p:cNvSpPr txBox="1"/>
          <p:nvPr/>
        </p:nvSpPr>
        <p:spPr>
          <a:xfrm>
            <a:off x="6537960" y="1170432"/>
            <a:ext cx="4828032" cy="365760"/>
          </a:xfrm>
          <a:prstGeom prst="rect">
            <a:avLst/>
          </a:prstGeom>
          <a:noFill/>
          <a:ln/>
        </p:spPr>
        <p:txBody>
          <a:bodyPr wrap="square" lIns="0" tIns="0" rIns="0" bIns="0" rtlCol="0" anchor="t"/>
          <a:lstStyle/>
          <a:p>
            <a:pPr indent="0" marL="0">
              <a:buNone/>
            </a:pPr>
            <a:r>
              <a:rPr lang="en-US" sz="1700" b="1" dirty="0">
                <a:solidFill>
                  <a:srgbClr val="0A7560"/>
                </a:solidFill>
                <a:latin typeface="Arial" pitchFamily="34" charset="0"/>
                <a:ea typeface="Arial" pitchFamily="34" charset="-122"/>
                <a:cs typeface="Arial" pitchFamily="34" charset="-120"/>
              </a:rPr>
              <a:t>Causalité</a:t>
            </a:r>
            <a:endParaRPr lang="en-US" sz="1700" dirty="0"/>
          </a:p>
        </p:txBody>
      </p:sp>
      <p:sp>
        <p:nvSpPr>
          <p:cNvPr id="22" name="Text 20"/>
          <p:cNvSpPr txBox="1"/>
          <p:nvPr/>
        </p:nvSpPr>
        <p:spPr>
          <a:xfrm>
            <a:off x="6537960" y="1572768"/>
            <a:ext cx="4828032" cy="1371600"/>
          </a:xfrm>
          <a:prstGeom prst="rect">
            <a:avLst/>
          </a:prstGeom>
          <a:noFill/>
          <a:ln/>
        </p:spPr>
        <p:txBody>
          <a:bodyPr wrap="square" lIns="0" tIns="0" rIns="0" bIns="0" rtlCol="0" anchor="t"/>
          <a:lstStyle/>
          <a:p>
            <a:pPr indent="0" marL="0">
              <a:buNone/>
            </a:pPr>
            <a:r>
              <a:rPr lang="en-US" sz="1400" dirty="0">
                <a:solidFill>
                  <a:srgbClr val="14202A"/>
                </a:solidFill>
                <a:latin typeface="Arial" pitchFamily="34" charset="0"/>
                <a:ea typeface="Arial" pitchFamily="34" charset="-122"/>
                <a:cs typeface="Arial" pitchFamily="34" charset="-120"/>
              </a:rPr>
              <a:t>La valeur en t n'utilise jamais t+1. Tous les indicateurs sont récursifs ou glissants : l'absence de look-ahead est garantie par construction.</a:t>
            </a:r>
            <a:endParaRPr lang="en-US" sz="1400" dirty="0"/>
          </a:p>
        </p:txBody>
      </p:sp>
      <p:sp>
        <p:nvSpPr>
          <p:cNvPr id="23" name="Shape 21"/>
          <p:cNvSpPr/>
          <p:nvPr/>
        </p:nvSpPr>
        <p:spPr>
          <a:xfrm>
            <a:off x="6263640" y="3291840"/>
            <a:ext cx="5376672" cy="2148840"/>
          </a:xfrm>
          <a:prstGeom prst="rect">
            <a:avLst/>
          </a:prstGeom>
          <a:solidFill>
            <a:srgbClr val="D2E8E1"/>
          </a:solidFill>
          <a:ln w="12700">
            <a:solidFill>
              <a:srgbClr val="D2E8E1"/>
            </a:solidFill>
            <a:prstDash val="solid"/>
          </a:ln>
        </p:spPr>
      </p:sp>
      <p:sp>
        <p:nvSpPr>
          <p:cNvPr id="24" name="Text 22"/>
          <p:cNvSpPr txBox="1"/>
          <p:nvPr/>
        </p:nvSpPr>
        <p:spPr>
          <a:xfrm>
            <a:off x="6537960" y="3502152"/>
            <a:ext cx="4828032" cy="365760"/>
          </a:xfrm>
          <a:prstGeom prst="rect">
            <a:avLst/>
          </a:prstGeom>
          <a:noFill/>
          <a:ln/>
        </p:spPr>
        <p:txBody>
          <a:bodyPr wrap="square" lIns="0" tIns="0" rIns="0" bIns="0" rtlCol="0" anchor="t"/>
          <a:lstStyle/>
          <a:p>
            <a:pPr indent="0" marL="0">
              <a:buNone/>
            </a:pPr>
            <a:r>
              <a:rPr lang="en-US" sz="1700" b="1" dirty="0">
                <a:solidFill>
                  <a:srgbClr val="0A7560"/>
                </a:solidFill>
                <a:latin typeface="Arial" pitchFamily="34" charset="0"/>
                <a:ea typeface="Arial" pitchFamily="34" charset="-122"/>
                <a:cs typeface="Arial" pitchFamily="34" charset="-120"/>
              </a:rPr>
              <a:t>Normalisation</a:t>
            </a:r>
            <a:endParaRPr lang="en-US" sz="1700" dirty="0"/>
          </a:p>
        </p:txBody>
      </p:sp>
      <p:sp>
        <p:nvSpPr>
          <p:cNvPr id="25" name="Text 23"/>
          <p:cNvSpPr txBox="1"/>
          <p:nvPr/>
        </p:nvSpPr>
        <p:spPr>
          <a:xfrm>
            <a:off x="6537960" y="3904488"/>
            <a:ext cx="4828032" cy="1371600"/>
          </a:xfrm>
          <a:prstGeom prst="rect">
            <a:avLst/>
          </a:prstGeom>
          <a:noFill/>
          <a:ln/>
        </p:spPr>
        <p:txBody>
          <a:bodyPr wrap="square" lIns="0" tIns="0" rIns="0" bIns="0" rtlCol="0" anchor="t"/>
          <a:lstStyle/>
          <a:p>
            <a:pPr indent="0" marL="0">
              <a:buNone/>
            </a:pPr>
            <a:r>
              <a:rPr lang="en-US" sz="1400" dirty="0">
                <a:solidFill>
                  <a:srgbClr val="14202A"/>
                </a:solidFill>
                <a:latin typeface="Arial" pitchFamily="34" charset="0"/>
                <a:ea typeface="Arial" pitchFamily="34" charset="-122"/>
                <a:cs typeface="Arial" pitchFamily="34" charset="-120"/>
              </a:rPr>
              <a:t>Tout est exprimé en ATR ou en rang percentile du jour : un titre à 20 € se compare à un titre à 900 €, et 2017 à 2022.</a:t>
            </a:r>
            <a:endParaRPr lang="en-US" sz="1400" dirty="0"/>
          </a:p>
        </p:txBody>
      </p:sp>
      <p:sp>
        <p:nvSpPr>
          <p:cNvPr id="26" name="Text 24"/>
          <p:cNvSpPr txBox="1"/>
          <p:nvPr/>
        </p:nvSpPr>
        <p:spPr>
          <a:xfrm>
            <a:off x="6263640" y="5669280"/>
            <a:ext cx="5376672" cy="685800"/>
          </a:xfrm>
          <a:prstGeom prst="rect">
            <a:avLst/>
          </a:prstGeom>
          <a:noFill/>
          <a:ln/>
        </p:spPr>
        <p:txBody>
          <a:bodyPr wrap="square" lIns="0" tIns="0" rIns="0" bIns="0" rtlCol="0" anchor="t"/>
          <a:lstStyle/>
          <a:p>
            <a:pPr indent="0" marL="0">
              <a:buNone/>
            </a:pPr>
            <a:r>
              <a:rPr lang="en-US" sz="1150" dirty="0">
                <a:solidFill>
                  <a:srgbClr val="52616C"/>
                </a:solidFill>
                <a:latin typeface="Arial" pitchFamily="34" charset="0"/>
                <a:ea typeface="Arial" pitchFamily="34" charset="-122"/>
                <a:cs typeface="Arial" pitchFamily="34" charset="-120"/>
              </a:rPr>
              <a:t>Calendrier filtré : une date où moins de 60 % des titres cotent est écartée, faute de quoi l'equity chutait artificiellement les jours fériés partiels.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F0EE"/>
        </a:solidFill>
      </p:bgPr>
    </p:bg>
    <p:spTree>
      <p:nvGrpSpPr>
        <p:cNvPr id="1" name=""/>
        <p:cNvGrpSpPr/>
        <p:nvPr/>
      </p:nvGrpSpPr>
      <p:grpSpPr>
        <a:xfrm>
          <a:off x="0" y="0"/>
          <a:ext cx="0" cy="0"/>
          <a:chOff x="0" y="0"/>
          <a:chExt cx="0" cy="0"/>
        </a:xfrm>
      </p:grpSpPr>
      <p:sp>
        <p:nvSpPr>
          <p:cNvPr id="2" name="Shape 0"/>
          <p:cNvSpPr/>
          <p:nvPr/>
        </p:nvSpPr>
        <p:spPr>
          <a:xfrm>
            <a:off x="548640" y="292608"/>
            <a:ext cx="1322451" cy="45720"/>
          </a:xfrm>
          <a:prstGeom prst="rect">
            <a:avLst/>
          </a:prstGeom>
          <a:solidFill>
            <a:srgbClr val="52616C"/>
          </a:solidFill>
          <a:ln w="12700">
            <a:solidFill>
              <a:srgbClr val="52616C"/>
            </a:solidFill>
            <a:prstDash val="solid"/>
          </a:ln>
        </p:spPr>
      </p:sp>
      <p:sp>
        <p:nvSpPr>
          <p:cNvPr id="3" name="Text 1"/>
          <p:cNvSpPr txBox="1"/>
          <p:nvPr/>
        </p:nvSpPr>
        <p:spPr>
          <a:xfrm>
            <a:off x="548640"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1  </a:t>
            </a:r>
            <a:pPr indent="0" marL="0">
              <a:buNone/>
            </a:pPr>
            <a:r>
              <a:rPr lang="en-US" sz="1000" dirty="0">
                <a:solidFill>
                  <a:srgbClr val="14202A"/>
                </a:solidFill>
                <a:latin typeface="Arial" pitchFamily="34" charset="0"/>
                <a:ea typeface="Arial" pitchFamily="34" charset="-122"/>
                <a:cs typeface="Arial" pitchFamily="34" charset="-120"/>
              </a:rPr>
              <a:t>Données</a:t>
            </a:r>
            <a:endParaRPr lang="en-US" sz="1000" dirty="0"/>
          </a:p>
        </p:txBody>
      </p:sp>
      <p:sp>
        <p:nvSpPr>
          <p:cNvPr id="4" name="Shape 2"/>
          <p:cNvSpPr/>
          <p:nvPr/>
        </p:nvSpPr>
        <p:spPr>
          <a:xfrm>
            <a:off x="1944243" y="292608"/>
            <a:ext cx="1322451" cy="45720"/>
          </a:xfrm>
          <a:prstGeom prst="rect">
            <a:avLst/>
          </a:prstGeom>
          <a:solidFill>
            <a:srgbClr val="52616C"/>
          </a:solidFill>
          <a:ln w="12700">
            <a:solidFill>
              <a:srgbClr val="52616C"/>
            </a:solidFill>
            <a:prstDash val="solid"/>
          </a:ln>
        </p:spPr>
      </p:sp>
      <p:sp>
        <p:nvSpPr>
          <p:cNvPr id="5" name="Text 3"/>
          <p:cNvSpPr txBox="1"/>
          <p:nvPr/>
        </p:nvSpPr>
        <p:spPr>
          <a:xfrm>
            <a:off x="1944243"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2  </a:t>
            </a:r>
            <a:pPr indent="0" marL="0">
              <a:buNone/>
            </a:pPr>
            <a:r>
              <a:rPr lang="en-US" sz="1000" dirty="0">
                <a:solidFill>
                  <a:srgbClr val="14202A"/>
                </a:solidFill>
                <a:latin typeface="Arial" pitchFamily="34" charset="0"/>
                <a:ea typeface="Arial" pitchFamily="34" charset="-122"/>
                <a:cs typeface="Arial" pitchFamily="34" charset="-120"/>
              </a:rPr>
              <a:t>Indicateurs</a:t>
            </a:r>
            <a:endParaRPr lang="en-US" sz="1000" dirty="0"/>
          </a:p>
        </p:txBody>
      </p:sp>
      <p:sp>
        <p:nvSpPr>
          <p:cNvPr id="6" name="Shape 4"/>
          <p:cNvSpPr/>
          <p:nvPr/>
        </p:nvSpPr>
        <p:spPr>
          <a:xfrm>
            <a:off x="3339846" y="278892"/>
            <a:ext cx="1322451" cy="73152"/>
          </a:xfrm>
          <a:prstGeom prst="rect">
            <a:avLst/>
          </a:prstGeom>
          <a:solidFill>
            <a:srgbClr val="0A7560"/>
          </a:solidFill>
          <a:ln w="12700">
            <a:solidFill>
              <a:srgbClr val="0A7560"/>
            </a:solidFill>
            <a:prstDash val="solid"/>
          </a:ln>
        </p:spPr>
      </p:sp>
      <p:sp>
        <p:nvSpPr>
          <p:cNvPr id="7" name="Text 5"/>
          <p:cNvSpPr txBox="1"/>
          <p:nvPr/>
        </p:nvSpPr>
        <p:spPr>
          <a:xfrm>
            <a:off x="3339846" y="402336"/>
            <a:ext cx="1322451" cy="237744"/>
          </a:xfrm>
          <a:prstGeom prst="rect">
            <a:avLst/>
          </a:prstGeom>
          <a:noFill/>
          <a:ln/>
        </p:spPr>
        <p:txBody>
          <a:bodyPr wrap="square" lIns="0" tIns="0" rIns="0" bIns="0" rtlCol="0" anchor="t"/>
          <a:lstStyle/>
          <a:p>
            <a:pPr indent="0" marL="0">
              <a:buNone/>
            </a:pPr>
            <a:r>
              <a:rPr lang="en-US" sz="1000" b="1" dirty="0">
                <a:solidFill>
                  <a:srgbClr val="0A7560"/>
                </a:solidFill>
                <a:latin typeface="Arial" pitchFamily="34" charset="0"/>
                <a:ea typeface="Arial" pitchFamily="34" charset="-122"/>
                <a:cs typeface="Arial" pitchFamily="34" charset="-120"/>
              </a:rPr>
              <a:t>3  </a:t>
            </a:r>
            <a:pPr indent="0" marL="0">
              <a:buNone/>
            </a:pPr>
            <a:r>
              <a:rPr lang="en-US" sz="1000" b="1" dirty="0">
                <a:solidFill>
                  <a:srgbClr val="0A7560"/>
                </a:solidFill>
                <a:latin typeface="Arial" pitchFamily="34" charset="0"/>
                <a:ea typeface="Arial" pitchFamily="34" charset="-122"/>
                <a:cs typeface="Arial" pitchFamily="34" charset="-120"/>
              </a:rPr>
              <a:t>Paniers</a:t>
            </a:r>
            <a:endParaRPr lang="en-US" sz="1000" dirty="0"/>
          </a:p>
        </p:txBody>
      </p:sp>
      <p:sp>
        <p:nvSpPr>
          <p:cNvPr id="8" name="Shape 6"/>
          <p:cNvSpPr/>
          <p:nvPr/>
        </p:nvSpPr>
        <p:spPr>
          <a:xfrm>
            <a:off x="4735449" y="292608"/>
            <a:ext cx="1322451" cy="45720"/>
          </a:xfrm>
          <a:prstGeom prst="rect">
            <a:avLst/>
          </a:prstGeom>
          <a:solidFill>
            <a:srgbClr val="C6CFCB"/>
          </a:solidFill>
          <a:ln w="12700">
            <a:solidFill>
              <a:srgbClr val="C6CFCB"/>
            </a:solidFill>
            <a:prstDash val="solid"/>
          </a:ln>
        </p:spPr>
      </p:sp>
      <p:sp>
        <p:nvSpPr>
          <p:cNvPr id="9" name="Text 7"/>
          <p:cNvSpPr txBox="1"/>
          <p:nvPr/>
        </p:nvSpPr>
        <p:spPr>
          <a:xfrm>
            <a:off x="4735449"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4  </a:t>
            </a:r>
            <a:pPr indent="0" marL="0">
              <a:buNone/>
            </a:pPr>
            <a:r>
              <a:rPr lang="en-US" sz="1000" dirty="0">
                <a:solidFill>
                  <a:srgbClr val="52616C"/>
                </a:solidFill>
                <a:latin typeface="Arial" pitchFamily="34" charset="0"/>
                <a:ea typeface="Arial" pitchFamily="34" charset="-122"/>
                <a:cs typeface="Arial" pitchFamily="34" charset="-120"/>
              </a:rPr>
              <a:t>Bootstrap</a:t>
            </a:r>
            <a:endParaRPr lang="en-US" sz="1000" dirty="0"/>
          </a:p>
        </p:txBody>
      </p:sp>
      <p:sp>
        <p:nvSpPr>
          <p:cNvPr id="10" name="Shape 8"/>
          <p:cNvSpPr/>
          <p:nvPr/>
        </p:nvSpPr>
        <p:spPr>
          <a:xfrm>
            <a:off x="6131052" y="292608"/>
            <a:ext cx="1322451" cy="45720"/>
          </a:xfrm>
          <a:prstGeom prst="rect">
            <a:avLst/>
          </a:prstGeom>
          <a:solidFill>
            <a:srgbClr val="C6CFCB"/>
          </a:solidFill>
          <a:ln w="12700">
            <a:solidFill>
              <a:srgbClr val="C6CFCB"/>
            </a:solidFill>
            <a:prstDash val="solid"/>
          </a:ln>
        </p:spPr>
      </p:sp>
      <p:sp>
        <p:nvSpPr>
          <p:cNvPr id="11" name="Text 9"/>
          <p:cNvSpPr txBox="1"/>
          <p:nvPr/>
        </p:nvSpPr>
        <p:spPr>
          <a:xfrm>
            <a:off x="6131052"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5  </a:t>
            </a:r>
            <a:pPr indent="0" marL="0">
              <a:buNone/>
            </a:pPr>
            <a:r>
              <a:rPr lang="en-US" sz="1000" dirty="0">
                <a:solidFill>
                  <a:srgbClr val="52616C"/>
                </a:solidFill>
                <a:latin typeface="Arial" pitchFamily="34" charset="0"/>
                <a:ea typeface="Arial" pitchFamily="34" charset="-122"/>
                <a:cs typeface="Arial" pitchFamily="34" charset="-120"/>
              </a:rPr>
              <a:t>Sélection</a:t>
            </a:r>
            <a:endParaRPr lang="en-US" sz="1000" dirty="0"/>
          </a:p>
        </p:txBody>
      </p:sp>
      <p:sp>
        <p:nvSpPr>
          <p:cNvPr id="12" name="Shape 10"/>
          <p:cNvSpPr/>
          <p:nvPr/>
        </p:nvSpPr>
        <p:spPr>
          <a:xfrm>
            <a:off x="7526655" y="292608"/>
            <a:ext cx="1322451" cy="45720"/>
          </a:xfrm>
          <a:prstGeom prst="rect">
            <a:avLst/>
          </a:prstGeom>
          <a:solidFill>
            <a:srgbClr val="C6CFCB"/>
          </a:solidFill>
          <a:ln w="12700">
            <a:solidFill>
              <a:srgbClr val="C6CFCB"/>
            </a:solidFill>
            <a:prstDash val="solid"/>
          </a:ln>
        </p:spPr>
      </p:sp>
      <p:sp>
        <p:nvSpPr>
          <p:cNvPr id="13" name="Text 11"/>
          <p:cNvSpPr txBox="1"/>
          <p:nvPr/>
        </p:nvSpPr>
        <p:spPr>
          <a:xfrm>
            <a:off x="7526655"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6  </a:t>
            </a:r>
            <a:pPr indent="0" marL="0">
              <a:buNone/>
            </a:pPr>
            <a:r>
              <a:rPr lang="en-US" sz="1000" dirty="0">
                <a:solidFill>
                  <a:srgbClr val="52616C"/>
                </a:solidFill>
                <a:latin typeface="Arial" pitchFamily="34" charset="0"/>
                <a:ea typeface="Arial" pitchFamily="34" charset="-122"/>
                <a:cs typeface="Arial" pitchFamily="34" charset="-120"/>
              </a:rPr>
              <a:t>Fusion</a:t>
            </a:r>
            <a:endParaRPr lang="en-US" sz="1000" dirty="0"/>
          </a:p>
        </p:txBody>
      </p:sp>
      <p:sp>
        <p:nvSpPr>
          <p:cNvPr id="14" name="Shape 12"/>
          <p:cNvSpPr/>
          <p:nvPr/>
        </p:nvSpPr>
        <p:spPr>
          <a:xfrm>
            <a:off x="8922258" y="292608"/>
            <a:ext cx="1322451" cy="45720"/>
          </a:xfrm>
          <a:prstGeom prst="rect">
            <a:avLst/>
          </a:prstGeom>
          <a:solidFill>
            <a:srgbClr val="C6CFCB"/>
          </a:solidFill>
          <a:ln w="12700">
            <a:solidFill>
              <a:srgbClr val="C6CFCB"/>
            </a:solidFill>
            <a:prstDash val="solid"/>
          </a:ln>
        </p:spPr>
      </p:sp>
      <p:sp>
        <p:nvSpPr>
          <p:cNvPr id="15" name="Text 13"/>
          <p:cNvSpPr txBox="1"/>
          <p:nvPr/>
        </p:nvSpPr>
        <p:spPr>
          <a:xfrm>
            <a:off x="8922258"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7  </a:t>
            </a:r>
            <a:pPr indent="0" marL="0">
              <a:buNone/>
            </a:pPr>
            <a:r>
              <a:rPr lang="en-US" sz="1000" dirty="0">
                <a:solidFill>
                  <a:srgbClr val="52616C"/>
                </a:solidFill>
                <a:latin typeface="Arial" pitchFamily="34" charset="0"/>
                <a:ea typeface="Arial" pitchFamily="34" charset="-122"/>
                <a:cs typeface="Arial" pitchFamily="34" charset="-120"/>
              </a:rPr>
              <a:t>Validation</a:t>
            </a:r>
            <a:endParaRPr lang="en-US" sz="1000" dirty="0"/>
          </a:p>
        </p:txBody>
      </p:sp>
      <p:sp>
        <p:nvSpPr>
          <p:cNvPr id="16" name="Shape 14"/>
          <p:cNvSpPr/>
          <p:nvPr/>
        </p:nvSpPr>
        <p:spPr>
          <a:xfrm>
            <a:off x="10317861" y="292608"/>
            <a:ext cx="1322451" cy="45720"/>
          </a:xfrm>
          <a:prstGeom prst="rect">
            <a:avLst/>
          </a:prstGeom>
          <a:solidFill>
            <a:srgbClr val="C6CFCB"/>
          </a:solidFill>
          <a:ln w="12700">
            <a:solidFill>
              <a:srgbClr val="C6CFCB"/>
            </a:solidFill>
            <a:prstDash val="solid"/>
          </a:ln>
        </p:spPr>
      </p:sp>
      <p:sp>
        <p:nvSpPr>
          <p:cNvPr id="17" name="Text 15"/>
          <p:cNvSpPr txBox="1"/>
          <p:nvPr/>
        </p:nvSpPr>
        <p:spPr>
          <a:xfrm>
            <a:off x="10317861"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8  </a:t>
            </a:r>
            <a:pPr indent="0" marL="0">
              <a:buNone/>
            </a:pPr>
            <a:r>
              <a:rPr lang="en-US" sz="1000" dirty="0">
                <a:solidFill>
                  <a:srgbClr val="52616C"/>
                </a:solidFill>
                <a:latin typeface="Arial" pitchFamily="34" charset="0"/>
                <a:ea typeface="Arial" pitchFamily="34" charset="-122"/>
                <a:cs typeface="Arial" pitchFamily="34" charset="-120"/>
              </a:rPr>
              <a:t>Production</a:t>
            </a:r>
            <a:endParaRPr lang="en-US" sz="1000" dirty="0"/>
          </a:p>
        </p:txBody>
      </p:sp>
      <p:sp>
        <p:nvSpPr>
          <p:cNvPr id="18" name="Text 16"/>
          <p:cNvSpPr txBox="1"/>
          <p:nvPr/>
        </p:nvSpPr>
        <p:spPr>
          <a:xfrm>
            <a:off x="548640" y="914400"/>
            <a:ext cx="10515600" cy="1097280"/>
          </a:xfrm>
          <a:prstGeom prst="rect">
            <a:avLst/>
          </a:prstGeom>
          <a:noFill/>
          <a:ln/>
        </p:spPr>
        <p:txBody>
          <a:bodyPr wrap="square" lIns="0" tIns="0" rIns="0" bIns="0" rtlCol="0" anchor="t"/>
          <a:lstStyle/>
          <a:p>
            <a:pPr indent="0" marL="0">
              <a:buNone/>
            </a:pPr>
            <a:r>
              <a:rPr lang="en-US" sz="3200" b="1" dirty="0">
                <a:solidFill>
                  <a:srgbClr val="14202A"/>
                </a:solidFill>
                <a:latin typeface="Arial" pitchFamily="34" charset="0"/>
                <a:ea typeface="Arial" pitchFamily="34" charset="-122"/>
                <a:cs typeface="Arial" pitchFamily="34" charset="-120"/>
              </a:rPr>
              <a:t>Deux familles d'indicateurs : ceux qui classent, ceux qui situent</a:t>
            </a:r>
            <a:endParaRPr lang="en-US" sz="3200" dirty="0"/>
          </a:p>
        </p:txBody>
      </p:sp>
      <p:sp>
        <p:nvSpPr>
          <p:cNvPr id="19" name="Shape 17"/>
          <p:cNvSpPr/>
          <p:nvPr/>
        </p:nvSpPr>
        <p:spPr>
          <a:xfrm>
            <a:off x="548640" y="2148840"/>
            <a:ext cx="5408676" cy="2514600"/>
          </a:xfrm>
          <a:prstGeom prst="rect">
            <a:avLst/>
          </a:prstGeom>
          <a:solidFill>
            <a:srgbClr val="D2E8E1"/>
          </a:solidFill>
          <a:ln w="12700">
            <a:solidFill>
              <a:srgbClr val="D2E8E1"/>
            </a:solidFill>
            <a:prstDash val="solid"/>
          </a:ln>
        </p:spPr>
      </p:sp>
      <p:sp>
        <p:nvSpPr>
          <p:cNvPr id="20" name="Text 18"/>
          <p:cNvSpPr txBox="1"/>
          <p:nvPr/>
        </p:nvSpPr>
        <p:spPr>
          <a:xfrm>
            <a:off x="868680" y="2423160"/>
            <a:ext cx="4768596" cy="411480"/>
          </a:xfrm>
          <a:prstGeom prst="rect">
            <a:avLst/>
          </a:prstGeom>
          <a:noFill/>
          <a:ln/>
        </p:spPr>
        <p:txBody>
          <a:bodyPr wrap="square" lIns="0" tIns="0" rIns="0" bIns="0" rtlCol="0" anchor="t"/>
          <a:lstStyle/>
          <a:p>
            <a:pPr indent="0" marL="0">
              <a:buNone/>
            </a:pPr>
            <a:r>
              <a:rPr lang="en-US" sz="2000" b="1" dirty="0">
                <a:solidFill>
                  <a:srgbClr val="0A7560"/>
                </a:solidFill>
                <a:latin typeface="Arial" pitchFamily="34" charset="0"/>
                <a:ea typeface="Arial" pitchFamily="34" charset="-122"/>
                <a:cs typeface="Arial" pitchFamily="34" charset="-120"/>
              </a:rPr>
              <a:t>Direction</a:t>
            </a:r>
            <a:endParaRPr lang="en-US" sz="2000" dirty="0"/>
          </a:p>
        </p:txBody>
      </p:sp>
      <p:sp>
        <p:nvSpPr>
          <p:cNvPr id="21" name="Text 19"/>
          <p:cNvSpPr txBox="1"/>
          <p:nvPr/>
        </p:nvSpPr>
        <p:spPr>
          <a:xfrm>
            <a:off x="868680" y="2926080"/>
            <a:ext cx="4768596" cy="685800"/>
          </a:xfrm>
          <a:prstGeom prst="rect">
            <a:avLst/>
          </a:prstGeom>
          <a:noFill/>
          <a:ln/>
        </p:spPr>
        <p:txBody>
          <a:bodyPr wrap="square" lIns="0" tIns="0" rIns="0" bIns="0" rtlCol="0" anchor="t"/>
          <a:lstStyle/>
          <a:p>
            <a:pPr indent="0" marL="0">
              <a:buNone/>
            </a:pPr>
            <a:r>
              <a:rPr lang="en-US" sz="1500" b="1" dirty="0">
                <a:solidFill>
                  <a:srgbClr val="14202A"/>
                </a:solidFill>
                <a:latin typeface="Arial" pitchFamily="34" charset="0"/>
                <a:ea typeface="Arial" pitchFamily="34" charset="-122"/>
                <a:cs typeface="Arial" pitchFamily="34" charset="-120"/>
              </a:rPr>
              <a:t>Momentum, pente de la moyenne mobile, distance signée au cours.</a:t>
            </a:r>
            <a:endParaRPr lang="en-US" sz="1500" dirty="0"/>
          </a:p>
        </p:txBody>
      </p:sp>
      <p:sp>
        <p:nvSpPr>
          <p:cNvPr id="22" name="Text 20"/>
          <p:cNvSpPr txBox="1"/>
          <p:nvPr/>
        </p:nvSpPr>
        <p:spPr>
          <a:xfrm>
            <a:off x="868680" y="3657600"/>
            <a:ext cx="4768596" cy="822960"/>
          </a:xfrm>
          <a:prstGeom prst="rect">
            <a:avLst/>
          </a:prstGeom>
          <a:noFill/>
          <a:ln/>
        </p:spPr>
        <p:txBody>
          <a:bodyPr wrap="square" lIns="0" tIns="0" rIns="0" bIns="0" rtlCol="0" anchor="t"/>
          <a:lstStyle/>
          <a:p>
            <a:pPr indent="0" marL="0">
              <a:buNone/>
            </a:pPr>
            <a:r>
              <a:rPr lang="en-US" sz="1400" dirty="0">
                <a:solidFill>
                  <a:srgbClr val="52616C"/>
                </a:solidFill>
                <a:latin typeface="Arial" pitchFamily="34" charset="0"/>
                <a:ea typeface="Arial" pitchFamily="34" charset="-122"/>
                <a:cs typeface="Arial" pitchFamily="34" charset="-120"/>
              </a:rPr>
              <a:t>Plus la valeur est haute, plus le titre est haussier. La relation est monotone : on peut classer.</a:t>
            </a:r>
            <a:endParaRPr lang="en-US" sz="1400" dirty="0"/>
          </a:p>
        </p:txBody>
      </p:sp>
      <p:sp>
        <p:nvSpPr>
          <p:cNvPr id="23" name="Shape 21"/>
          <p:cNvSpPr/>
          <p:nvPr/>
        </p:nvSpPr>
        <p:spPr>
          <a:xfrm>
            <a:off x="6231636" y="2148840"/>
            <a:ext cx="5408676" cy="2514600"/>
          </a:xfrm>
          <a:prstGeom prst="rect">
            <a:avLst/>
          </a:prstGeom>
          <a:solidFill>
            <a:srgbClr val="F2E2CC"/>
          </a:solidFill>
          <a:ln w="12700">
            <a:solidFill>
              <a:srgbClr val="F2E2CC"/>
            </a:solidFill>
            <a:prstDash val="solid"/>
          </a:ln>
        </p:spPr>
      </p:sp>
      <p:sp>
        <p:nvSpPr>
          <p:cNvPr id="24" name="Text 22"/>
          <p:cNvSpPr txBox="1"/>
          <p:nvPr/>
        </p:nvSpPr>
        <p:spPr>
          <a:xfrm>
            <a:off x="6551676" y="2423160"/>
            <a:ext cx="4768596" cy="411480"/>
          </a:xfrm>
          <a:prstGeom prst="rect">
            <a:avLst/>
          </a:prstGeom>
          <a:noFill/>
          <a:ln/>
        </p:spPr>
        <p:txBody>
          <a:bodyPr wrap="square" lIns="0" tIns="0" rIns="0" bIns="0" rtlCol="0" anchor="t"/>
          <a:lstStyle/>
          <a:p>
            <a:pPr indent="0" marL="0">
              <a:buNone/>
            </a:pPr>
            <a:r>
              <a:rPr lang="en-US" sz="2000" b="1" dirty="0">
                <a:solidFill>
                  <a:srgbClr val="A35F12"/>
                </a:solidFill>
                <a:latin typeface="Arial" pitchFamily="34" charset="0"/>
                <a:ea typeface="Arial" pitchFamily="34" charset="-122"/>
                <a:cs typeface="Arial" pitchFamily="34" charset="-120"/>
              </a:rPr>
              <a:t>Contexte</a:t>
            </a:r>
            <a:endParaRPr lang="en-US" sz="2000" dirty="0"/>
          </a:p>
        </p:txBody>
      </p:sp>
      <p:sp>
        <p:nvSpPr>
          <p:cNvPr id="25" name="Text 23"/>
          <p:cNvSpPr txBox="1"/>
          <p:nvPr/>
        </p:nvSpPr>
        <p:spPr>
          <a:xfrm>
            <a:off x="6551676" y="2926080"/>
            <a:ext cx="4768596" cy="685800"/>
          </a:xfrm>
          <a:prstGeom prst="rect">
            <a:avLst/>
          </a:prstGeom>
          <a:noFill/>
          <a:ln/>
        </p:spPr>
        <p:txBody>
          <a:bodyPr wrap="square" lIns="0" tIns="0" rIns="0" bIns="0" rtlCol="0" anchor="t"/>
          <a:lstStyle/>
          <a:p>
            <a:pPr indent="0" marL="0">
              <a:buNone/>
            </a:pPr>
            <a:r>
              <a:rPr lang="en-US" sz="1500" b="1" dirty="0">
                <a:solidFill>
                  <a:srgbClr val="14202A"/>
                </a:solidFill>
                <a:latin typeface="Arial" pitchFamily="34" charset="0"/>
                <a:ea typeface="Arial" pitchFamily="34" charset="-122"/>
                <a:cs typeface="Arial" pitchFamily="34" charset="-120"/>
              </a:rPr>
              <a:t>ADX, ATR, volume relatif, ratio d'efficience.</a:t>
            </a:r>
            <a:endParaRPr lang="en-US" sz="1500" dirty="0"/>
          </a:p>
        </p:txBody>
      </p:sp>
      <p:sp>
        <p:nvSpPr>
          <p:cNvPr id="26" name="Text 24"/>
          <p:cNvSpPr txBox="1"/>
          <p:nvPr/>
        </p:nvSpPr>
        <p:spPr>
          <a:xfrm>
            <a:off x="6551676" y="3657600"/>
            <a:ext cx="4768596" cy="822960"/>
          </a:xfrm>
          <a:prstGeom prst="rect">
            <a:avLst/>
          </a:prstGeom>
          <a:noFill/>
          <a:ln/>
        </p:spPr>
        <p:txBody>
          <a:bodyPr wrap="square" lIns="0" tIns="0" rIns="0" bIns="0" rtlCol="0" anchor="t"/>
          <a:lstStyle/>
          <a:p>
            <a:pPr indent="0" marL="0">
              <a:buNone/>
            </a:pPr>
            <a:r>
              <a:rPr lang="en-US" sz="1400" dirty="0">
                <a:solidFill>
                  <a:srgbClr val="52616C"/>
                </a:solidFill>
                <a:latin typeface="Arial" pitchFamily="34" charset="0"/>
                <a:ea typeface="Arial" pitchFamily="34" charset="-122"/>
                <a:cs typeface="Arial" pitchFamily="34" charset="-120"/>
              </a:rPr>
              <a:t>Un ADX à 60 n'est pas meilleur qu'à 30 : il peut signaler une hausse violente comme un krach. On ne classe pas, on situe.</a:t>
            </a:r>
            <a:endParaRPr lang="en-US" sz="1400" dirty="0"/>
          </a:p>
        </p:txBody>
      </p:sp>
      <p:sp>
        <p:nvSpPr>
          <p:cNvPr id="27" name="Text 25"/>
          <p:cNvSpPr txBox="1"/>
          <p:nvPr/>
        </p:nvSpPr>
        <p:spPr>
          <a:xfrm>
            <a:off x="548640" y="5029200"/>
            <a:ext cx="9144000" cy="822960"/>
          </a:xfrm>
          <a:prstGeom prst="rect">
            <a:avLst/>
          </a:prstGeom>
          <a:noFill/>
          <a:ln/>
        </p:spPr>
        <p:txBody>
          <a:bodyPr wrap="square" lIns="0" tIns="0" rIns="0" bIns="0" rtlCol="0" anchor="t"/>
          <a:lstStyle/>
          <a:p>
            <a:pPr indent="0" marL="0">
              <a:buNone/>
            </a:pPr>
            <a:r>
              <a:rPr lang="en-US" sz="1600" dirty="0">
                <a:solidFill>
                  <a:srgbClr val="14202A"/>
                </a:solidFill>
                <a:latin typeface="Arial" pitchFamily="34" charset="0"/>
                <a:ea typeface="Arial" pitchFamily="34" charset="-122"/>
                <a:cs typeface="Arial" pitchFamily="34" charset="-120"/>
              </a:rPr>
              <a:t>Les premiers ordonnent les titres, les seconds disent si le contexte de la conviction est réuni. Ce principe de monotonie commande toute l'architecture.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F0EE"/>
        </a:solidFill>
      </p:bgPr>
    </p:bg>
    <p:spTree>
      <p:nvGrpSpPr>
        <p:cNvPr id="1" name=""/>
        <p:cNvGrpSpPr/>
        <p:nvPr/>
      </p:nvGrpSpPr>
      <p:grpSpPr>
        <a:xfrm>
          <a:off x="0" y="0"/>
          <a:ext cx="0" cy="0"/>
          <a:chOff x="0" y="0"/>
          <a:chExt cx="0" cy="0"/>
        </a:xfrm>
      </p:grpSpPr>
      <p:sp>
        <p:nvSpPr>
          <p:cNvPr id="2" name="Shape 0"/>
          <p:cNvSpPr/>
          <p:nvPr/>
        </p:nvSpPr>
        <p:spPr>
          <a:xfrm>
            <a:off x="548640" y="292608"/>
            <a:ext cx="1322451" cy="45720"/>
          </a:xfrm>
          <a:prstGeom prst="rect">
            <a:avLst/>
          </a:prstGeom>
          <a:solidFill>
            <a:srgbClr val="52616C"/>
          </a:solidFill>
          <a:ln w="12700">
            <a:solidFill>
              <a:srgbClr val="52616C"/>
            </a:solidFill>
            <a:prstDash val="solid"/>
          </a:ln>
        </p:spPr>
      </p:sp>
      <p:sp>
        <p:nvSpPr>
          <p:cNvPr id="3" name="Text 1"/>
          <p:cNvSpPr txBox="1"/>
          <p:nvPr/>
        </p:nvSpPr>
        <p:spPr>
          <a:xfrm>
            <a:off x="548640"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1  </a:t>
            </a:r>
            <a:pPr indent="0" marL="0">
              <a:buNone/>
            </a:pPr>
            <a:r>
              <a:rPr lang="en-US" sz="1000" dirty="0">
                <a:solidFill>
                  <a:srgbClr val="14202A"/>
                </a:solidFill>
                <a:latin typeface="Arial" pitchFamily="34" charset="0"/>
                <a:ea typeface="Arial" pitchFamily="34" charset="-122"/>
                <a:cs typeface="Arial" pitchFamily="34" charset="-120"/>
              </a:rPr>
              <a:t>Données</a:t>
            </a:r>
            <a:endParaRPr lang="en-US" sz="1000" dirty="0"/>
          </a:p>
        </p:txBody>
      </p:sp>
      <p:sp>
        <p:nvSpPr>
          <p:cNvPr id="4" name="Shape 2"/>
          <p:cNvSpPr/>
          <p:nvPr/>
        </p:nvSpPr>
        <p:spPr>
          <a:xfrm>
            <a:off x="1944243" y="292608"/>
            <a:ext cx="1322451" cy="45720"/>
          </a:xfrm>
          <a:prstGeom prst="rect">
            <a:avLst/>
          </a:prstGeom>
          <a:solidFill>
            <a:srgbClr val="52616C"/>
          </a:solidFill>
          <a:ln w="12700">
            <a:solidFill>
              <a:srgbClr val="52616C"/>
            </a:solidFill>
            <a:prstDash val="solid"/>
          </a:ln>
        </p:spPr>
      </p:sp>
      <p:sp>
        <p:nvSpPr>
          <p:cNvPr id="5" name="Text 3"/>
          <p:cNvSpPr txBox="1"/>
          <p:nvPr/>
        </p:nvSpPr>
        <p:spPr>
          <a:xfrm>
            <a:off x="1944243"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2  </a:t>
            </a:r>
            <a:pPr indent="0" marL="0">
              <a:buNone/>
            </a:pPr>
            <a:r>
              <a:rPr lang="en-US" sz="1000" dirty="0">
                <a:solidFill>
                  <a:srgbClr val="14202A"/>
                </a:solidFill>
                <a:latin typeface="Arial" pitchFamily="34" charset="0"/>
                <a:ea typeface="Arial" pitchFamily="34" charset="-122"/>
                <a:cs typeface="Arial" pitchFamily="34" charset="-120"/>
              </a:rPr>
              <a:t>Indicateurs</a:t>
            </a:r>
            <a:endParaRPr lang="en-US" sz="1000" dirty="0"/>
          </a:p>
        </p:txBody>
      </p:sp>
      <p:sp>
        <p:nvSpPr>
          <p:cNvPr id="6" name="Shape 4"/>
          <p:cNvSpPr/>
          <p:nvPr/>
        </p:nvSpPr>
        <p:spPr>
          <a:xfrm>
            <a:off x="3339846" y="278892"/>
            <a:ext cx="1322451" cy="73152"/>
          </a:xfrm>
          <a:prstGeom prst="rect">
            <a:avLst/>
          </a:prstGeom>
          <a:solidFill>
            <a:srgbClr val="0A7560"/>
          </a:solidFill>
          <a:ln w="12700">
            <a:solidFill>
              <a:srgbClr val="0A7560"/>
            </a:solidFill>
            <a:prstDash val="solid"/>
          </a:ln>
        </p:spPr>
      </p:sp>
      <p:sp>
        <p:nvSpPr>
          <p:cNvPr id="7" name="Text 5"/>
          <p:cNvSpPr txBox="1"/>
          <p:nvPr/>
        </p:nvSpPr>
        <p:spPr>
          <a:xfrm>
            <a:off x="3339846" y="402336"/>
            <a:ext cx="1322451" cy="237744"/>
          </a:xfrm>
          <a:prstGeom prst="rect">
            <a:avLst/>
          </a:prstGeom>
          <a:noFill/>
          <a:ln/>
        </p:spPr>
        <p:txBody>
          <a:bodyPr wrap="square" lIns="0" tIns="0" rIns="0" bIns="0" rtlCol="0" anchor="t"/>
          <a:lstStyle/>
          <a:p>
            <a:pPr indent="0" marL="0">
              <a:buNone/>
            </a:pPr>
            <a:r>
              <a:rPr lang="en-US" sz="1000" b="1" dirty="0">
                <a:solidFill>
                  <a:srgbClr val="0A7560"/>
                </a:solidFill>
                <a:latin typeface="Arial" pitchFamily="34" charset="0"/>
                <a:ea typeface="Arial" pitchFamily="34" charset="-122"/>
                <a:cs typeface="Arial" pitchFamily="34" charset="-120"/>
              </a:rPr>
              <a:t>3  </a:t>
            </a:r>
            <a:pPr indent="0" marL="0">
              <a:buNone/>
            </a:pPr>
            <a:r>
              <a:rPr lang="en-US" sz="1000" b="1" dirty="0">
                <a:solidFill>
                  <a:srgbClr val="0A7560"/>
                </a:solidFill>
                <a:latin typeface="Arial" pitchFamily="34" charset="0"/>
                <a:ea typeface="Arial" pitchFamily="34" charset="-122"/>
                <a:cs typeface="Arial" pitchFamily="34" charset="-120"/>
              </a:rPr>
              <a:t>Paniers</a:t>
            </a:r>
            <a:endParaRPr lang="en-US" sz="1000" dirty="0"/>
          </a:p>
        </p:txBody>
      </p:sp>
      <p:sp>
        <p:nvSpPr>
          <p:cNvPr id="8" name="Shape 6"/>
          <p:cNvSpPr/>
          <p:nvPr/>
        </p:nvSpPr>
        <p:spPr>
          <a:xfrm>
            <a:off x="4735449" y="292608"/>
            <a:ext cx="1322451" cy="45720"/>
          </a:xfrm>
          <a:prstGeom prst="rect">
            <a:avLst/>
          </a:prstGeom>
          <a:solidFill>
            <a:srgbClr val="C6CFCB"/>
          </a:solidFill>
          <a:ln w="12700">
            <a:solidFill>
              <a:srgbClr val="C6CFCB"/>
            </a:solidFill>
            <a:prstDash val="solid"/>
          </a:ln>
        </p:spPr>
      </p:sp>
      <p:sp>
        <p:nvSpPr>
          <p:cNvPr id="9" name="Text 7"/>
          <p:cNvSpPr txBox="1"/>
          <p:nvPr/>
        </p:nvSpPr>
        <p:spPr>
          <a:xfrm>
            <a:off x="4735449"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4  </a:t>
            </a:r>
            <a:pPr indent="0" marL="0">
              <a:buNone/>
            </a:pPr>
            <a:r>
              <a:rPr lang="en-US" sz="1000" dirty="0">
                <a:solidFill>
                  <a:srgbClr val="52616C"/>
                </a:solidFill>
                <a:latin typeface="Arial" pitchFamily="34" charset="0"/>
                <a:ea typeface="Arial" pitchFamily="34" charset="-122"/>
                <a:cs typeface="Arial" pitchFamily="34" charset="-120"/>
              </a:rPr>
              <a:t>Bootstrap</a:t>
            </a:r>
            <a:endParaRPr lang="en-US" sz="1000" dirty="0"/>
          </a:p>
        </p:txBody>
      </p:sp>
      <p:sp>
        <p:nvSpPr>
          <p:cNvPr id="10" name="Shape 8"/>
          <p:cNvSpPr/>
          <p:nvPr/>
        </p:nvSpPr>
        <p:spPr>
          <a:xfrm>
            <a:off x="6131052" y="292608"/>
            <a:ext cx="1322451" cy="45720"/>
          </a:xfrm>
          <a:prstGeom prst="rect">
            <a:avLst/>
          </a:prstGeom>
          <a:solidFill>
            <a:srgbClr val="C6CFCB"/>
          </a:solidFill>
          <a:ln w="12700">
            <a:solidFill>
              <a:srgbClr val="C6CFCB"/>
            </a:solidFill>
            <a:prstDash val="solid"/>
          </a:ln>
        </p:spPr>
      </p:sp>
      <p:sp>
        <p:nvSpPr>
          <p:cNvPr id="11" name="Text 9"/>
          <p:cNvSpPr txBox="1"/>
          <p:nvPr/>
        </p:nvSpPr>
        <p:spPr>
          <a:xfrm>
            <a:off x="6131052"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5  </a:t>
            </a:r>
            <a:pPr indent="0" marL="0">
              <a:buNone/>
            </a:pPr>
            <a:r>
              <a:rPr lang="en-US" sz="1000" dirty="0">
                <a:solidFill>
                  <a:srgbClr val="52616C"/>
                </a:solidFill>
                <a:latin typeface="Arial" pitchFamily="34" charset="0"/>
                <a:ea typeface="Arial" pitchFamily="34" charset="-122"/>
                <a:cs typeface="Arial" pitchFamily="34" charset="-120"/>
              </a:rPr>
              <a:t>Sélection</a:t>
            </a:r>
            <a:endParaRPr lang="en-US" sz="1000" dirty="0"/>
          </a:p>
        </p:txBody>
      </p:sp>
      <p:sp>
        <p:nvSpPr>
          <p:cNvPr id="12" name="Shape 10"/>
          <p:cNvSpPr/>
          <p:nvPr/>
        </p:nvSpPr>
        <p:spPr>
          <a:xfrm>
            <a:off x="7526655" y="292608"/>
            <a:ext cx="1322451" cy="45720"/>
          </a:xfrm>
          <a:prstGeom prst="rect">
            <a:avLst/>
          </a:prstGeom>
          <a:solidFill>
            <a:srgbClr val="C6CFCB"/>
          </a:solidFill>
          <a:ln w="12700">
            <a:solidFill>
              <a:srgbClr val="C6CFCB"/>
            </a:solidFill>
            <a:prstDash val="solid"/>
          </a:ln>
        </p:spPr>
      </p:sp>
      <p:sp>
        <p:nvSpPr>
          <p:cNvPr id="13" name="Text 11"/>
          <p:cNvSpPr txBox="1"/>
          <p:nvPr/>
        </p:nvSpPr>
        <p:spPr>
          <a:xfrm>
            <a:off x="7526655"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6  </a:t>
            </a:r>
            <a:pPr indent="0" marL="0">
              <a:buNone/>
            </a:pPr>
            <a:r>
              <a:rPr lang="en-US" sz="1000" dirty="0">
                <a:solidFill>
                  <a:srgbClr val="52616C"/>
                </a:solidFill>
                <a:latin typeface="Arial" pitchFamily="34" charset="0"/>
                <a:ea typeface="Arial" pitchFamily="34" charset="-122"/>
                <a:cs typeface="Arial" pitchFamily="34" charset="-120"/>
              </a:rPr>
              <a:t>Fusion</a:t>
            </a:r>
            <a:endParaRPr lang="en-US" sz="1000" dirty="0"/>
          </a:p>
        </p:txBody>
      </p:sp>
      <p:sp>
        <p:nvSpPr>
          <p:cNvPr id="14" name="Shape 12"/>
          <p:cNvSpPr/>
          <p:nvPr/>
        </p:nvSpPr>
        <p:spPr>
          <a:xfrm>
            <a:off x="8922258" y="292608"/>
            <a:ext cx="1322451" cy="45720"/>
          </a:xfrm>
          <a:prstGeom prst="rect">
            <a:avLst/>
          </a:prstGeom>
          <a:solidFill>
            <a:srgbClr val="C6CFCB"/>
          </a:solidFill>
          <a:ln w="12700">
            <a:solidFill>
              <a:srgbClr val="C6CFCB"/>
            </a:solidFill>
            <a:prstDash val="solid"/>
          </a:ln>
        </p:spPr>
      </p:sp>
      <p:sp>
        <p:nvSpPr>
          <p:cNvPr id="15" name="Text 13"/>
          <p:cNvSpPr txBox="1"/>
          <p:nvPr/>
        </p:nvSpPr>
        <p:spPr>
          <a:xfrm>
            <a:off x="8922258"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7  </a:t>
            </a:r>
            <a:pPr indent="0" marL="0">
              <a:buNone/>
            </a:pPr>
            <a:r>
              <a:rPr lang="en-US" sz="1000" dirty="0">
                <a:solidFill>
                  <a:srgbClr val="52616C"/>
                </a:solidFill>
                <a:latin typeface="Arial" pitchFamily="34" charset="0"/>
                <a:ea typeface="Arial" pitchFamily="34" charset="-122"/>
                <a:cs typeface="Arial" pitchFamily="34" charset="-120"/>
              </a:rPr>
              <a:t>Validation</a:t>
            </a:r>
            <a:endParaRPr lang="en-US" sz="1000" dirty="0"/>
          </a:p>
        </p:txBody>
      </p:sp>
      <p:sp>
        <p:nvSpPr>
          <p:cNvPr id="16" name="Shape 14"/>
          <p:cNvSpPr/>
          <p:nvPr/>
        </p:nvSpPr>
        <p:spPr>
          <a:xfrm>
            <a:off x="10317861" y="292608"/>
            <a:ext cx="1322451" cy="45720"/>
          </a:xfrm>
          <a:prstGeom prst="rect">
            <a:avLst/>
          </a:prstGeom>
          <a:solidFill>
            <a:srgbClr val="C6CFCB"/>
          </a:solidFill>
          <a:ln w="12700">
            <a:solidFill>
              <a:srgbClr val="C6CFCB"/>
            </a:solidFill>
            <a:prstDash val="solid"/>
          </a:ln>
        </p:spPr>
      </p:sp>
      <p:sp>
        <p:nvSpPr>
          <p:cNvPr id="17" name="Text 15"/>
          <p:cNvSpPr txBox="1"/>
          <p:nvPr/>
        </p:nvSpPr>
        <p:spPr>
          <a:xfrm>
            <a:off x="10317861"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8  </a:t>
            </a:r>
            <a:pPr indent="0" marL="0">
              <a:buNone/>
            </a:pPr>
            <a:r>
              <a:rPr lang="en-US" sz="1000" dirty="0">
                <a:solidFill>
                  <a:srgbClr val="52616C"/>
                </a:solidFill>
                <a:latin typeface="Arial" pitchFamily="34" charset="0"/>
                <a:ea typeface="Arial" pitchFamily="34" charset="-122"/>
                <a:cs typeface="Arial" pitchFamily="34" charset="-120"/>
              </a:rPr>
              <a:t>Production</a:t>
            </a:r>
            <a:endParaRPr lang="en-US" sz="1000" dirty="0"/>
          </a:p>
        </p:txBody>
      </p:sp>
      <p:sp>
        <p:nvSpPr>
          <p:cNvPr id="18" name="Text 16"/>
          <p:cNvSpPr txBox="1"/>
          <p:nvPr/>
        </p:nvSpPr>
        <p:spPr>
          <a:xfrm>
            <a:off x="548640" y="914400"/>
            <a:ext cx="10515600" cy="1097280"/>
          </a:xfrm>
          <a:prstGeom prst="rect">
            <a:avLst/>
          </a:prstGeom>
          <a:noFill/>
          <a:ln/>
        </p:spPr>
        <p:txBody>
          <a:bodyPr wrap="square" lIns="0" tIns="0" rIns="0" bIns="0" rtlCol="0" anchor="t"/>
          <a:lstStyle/>
          <a:p>
            <a:pPr indent="0" marL="0">
              <a:buNone/>
            </a:pPr>
            <a:r>
              <a:rPr lang="en-US" sz="3200" b="1" dirty="0">
                <a:solidFill>
                  <a:srgbClr val="14202A"/>
                </a:solidFill>
                <a:latin typeface="Arial" pitchFamily="34" charset="0"/>
                <a:ea typeface="Arial" pitchFamily="34" charset="-122"/>
                <a:cs typeface="Arial" pitchFamily="34" charset="-120"/>
              </a:rPr>
              <a:t>Au-delà de 7 conditions strictes, plus aucun titre ne passe</a:t>
            </a:r>
            <a:endParaRPr lang="en-US" sz="3200" dirty="0"/>
          </a:p>
        </p:txBody>
      </p:sp>
      <p:graphicFrame>
        <p:nvGraphicFramePr>
          <p:cNvPr id="19" name="Chart 0" descr=""/>
          <p:cNvGraphicFramePr/>
          <p:nvPr/>
        </p:nvGraphicFramePr>
        <p:xfrm>
          <a:off x="548640" y="2011680"/>
          <a:ext cx="6949440" cy="3977640"/>
        </p:xfrm>
        <a:graphic xmlns:a="http://schemas.openxmlformats.org/drawingml/2006/main">
          <a:graphicData uri="http://schemas.openxmlformats.org/drawingml/2006/chart">
            <c:chart xmlns:c="http://schemas.openxmlformats.org/drawingml/2006/chart" r:id="rId1"/>
          </a:graphicData>
        </a:graphic>
      </p:graphicFrame>
      <p:sp>
        <p:nvSpPr>
          <p:cNvPr id="20" name="Text 17"/>
          <p:cNvSpPr txBox="1"/>
          <p:nvPr/>
        </p:nvSpPr>
        <p:spPr>
          <a:xfrm>
            <a:off x="548640" y="6053328"/>
            <a:ext cx="6949440" cy="457200"/>
          </a:xfrm>
          <a:prstGeom prst="rect">
            <a:avLst/>
          </a:prstGeom>
          <a:noFill/>
          <a:ln/>
        </p:spPr>
        <p:txBody>
          <a:bodyPr wrap="square" lIns="0" tIns="0" rIns="0" bIns="0" rtlCol="0" anchor="t"/>
          <a:lstStyle/>
          <a:p>
            <a:pPr indent="0" marL="0">
              <a:buNone/>
            </a:pPr>
            <a:r>
              <a:rPr lang="en-US" sz="1100" dirty="0">
                <a:solidFill>
                  <a:srgbClr val="52616C"/>
                </a:solidFill>
                <a:latin typeface="Arial" pitchFamily="34" charset="0"/>
                <a:ea typeface="Arial" pitchFamily="34" charset="-122"/>
                <a:cs typeface="Arial" pitchFamily="34" charset="-120"/>
              </a:rPr>
              <a:t>Couverture médiane : titres passant toutes les conditions. Univers de 120 titres, chaque condition au 60e percentile.</a:t>
            </a:r>
            <a:endParaRPr lang="en-US" sz="1100" dirty="0"/>
          </a:p>
        </p:txBody>
      </p:sp>
      <p:sp>
        <p:nvSpPr>
          <p:cNvPr id="21" name="Shape 18"/>
          <p:cNvSpPr/>
          <p:nvPr/>
        </p:nvSpPr>
        <p:spPr>
          <a:xfrm>
            <a:off x="7909560" y="2148840"/>
            <a:ext cx="3730752" cy="1554480"/>
          </a:xfrm>
          <a:prstGeom prst="rect">
            <a:avLst/>
          </a:prstGeom>
          <a:solidFill>
            <a:srgbClr val="F2E2CC"/>
          </a:solidFill>
          <a:ln w="12700">
            <a:solidFill>
              <a:srgbClr val="F2E2CC"/>
            </a:solidFill>
            <a:prstDash val="solid"/>
          </a:ln>
        </p:spPr>
      </p:sp>
      <p:sp>
        <p:nvSpPr>
          <p:cNvPr id="22" name="Text 19"/>
          <p:cNvSpPr txBox="1"/>
          <p:nvPr/>
        </p:nvSpPr>
        <p:spPr>
          <a:xfrm>
            <a:off x="8183880" y="2331720"/>
            <a:ext cx="3200400" cy="640080"/>
          </a:xfrm>
          <a:prstGeom prst="rect">
            <a:avLst/>
          </a:prstGeom>
          <a:noFill/>
          <a:ln/>
        </p:spPr>
        <p:txBody>
          <a:bodyPr wrap="square" lIns="0" tIns="0" rIns="0" bIns="0" rtlCol="0" anchor="t"/>
          <a:lstStyle/>
          <a:p>
            <a:pPr indent="0" marL="0">
              <a:buNone/>
            </a:pPr>
            <a:r>
              <a:rPr lang="en-US" sz="3000" b="1" dirty="0">
                <a:solidFill>
                  <a:srgbClr val="A35F12"/>
                </a:solidFill>
                <a:latin typeface="Arial" pitchFamily="34" charset="0"/>
                <a:ea typeface="Arial" pitchFamily="34" charset="-122"/>
                <a:cs typeface="Arial" pitchFamily="34" charset="-120"/>
              </a:rPr>
              <a:t>0 titre</a:t>
            </a:r>
            <a:endParaRPr lang="en-US" sz="3000" dirty="0"/>
          </a:p>
        </p:txBody>
      </p:sp>
      <p:sp>
        <p:nvSpPr>
          <p:cNvPr id="23" name="Text 20"/>
          <p:cNvSpPr txBox="1"/>
          <p:nvPr/>
        </p:nvSpPr>
        <p:spPr>
          <a:xfrm>
            <a:off x="8183880" y="2971800"/>
            <a:ext cx="3200400" cy="640080"/>
          </a:xfrm>
          <a:prstGeom prst="rect">
            <a:avLst/>
          </a:prstGeom>
          <a:noFill/>
          <a:ln/>
        </p:spPr>
        <p:txBody>
          <a:bodyPr wrap="square" lIns="0" tIns="0" rIns="0" bIns="0" rtlCol="0" anchor="t"/>
          <a:lstStyle/>
          <a:p>
            <a:pPr indent="0" marL="0">
              <a:buNone/>
            </a:pPr>
            <a:r>
              <a:rPr lang="en-US" sz="1300" dirty="0">
                <a:solidFill>
                  <a:srgbClr val="14202A"/>
                </a:solidFill>
                <a:latin typeface="Arial" pitchFamily="34" charset="0"/>
                <a:ea typeface="Arial" pitchFamily="34" charset="-122"/>
                <a:cs typeface="Arial" pitchFamily="34" charset="-120"/>
              </a:rPr>
              <a:t>en médiane dès 8 conditions : le panier est vide la plupart des jours.</a:t>
            </a:r>
            <a:endParaRPr lang="en-US" sz="1300" dirty="0"/>
          </a:p>
        </p:txBody>
      </p:sp>
      <p:sp>
        <p:nvSpPr>
          <p:cNvPr id="24" name="Shape 21"/>
          <p:cNvSpPr/>
          <p:nvPr/>
        </p:nvSpPr>
        <p:spPr>
          <a:xfrm>
            <a:off x="7909560" y="3931920"/>
            <a:ext cx="3730752" cy="2057400"/>
          </a:xfrm>
          <a:prstGeom prst="rect">
            <a:avLst/>
          </a:prstGeom>
          <a:solidFill>
            <a:srgbClr val="D2E8E1"/>
          </a:solidFill>
          <a:ln w="12700">
            <a:solidFill>
              <a:srgbClr val="D2E8E1"/>
            </a:solidFill>
            <a:prstDash val="solid"/>
          </a:ln>
        </p:spPr>
      </p:sp>
      <p:sp>
        <p:nvSpPr>
          <p:cNvPr id="25" name="Text 22"/>
          <p:cNvSpPr txBox="1"/>
          <p:nvPr/>
        </p:nvSpPr>
        <p:spPr>
          <a:xfrm>
            <a:off x="8183880" y="4114800"/>
            <a:ext cx="3200400" cy="365760"/>
          </a:xfrm>
          <a:prstGeom prst="rect">
            <a:avLst/>
          </a:prstGeom>
          <a:noFill/>
          <a:ln/>
        </p:spPr>
        <p:txBody>
          <a:bodyPr wrap="square" lIns="0" tIns="0" rIns="0" bIns="0" rtlCol="0" anchor="t"/>
          <a:lstStyle/>
          <a:p>
            <a:pPr indent="0" marL="0">
              <a:buNone/>
            </a:pPr>
            <a:r>
              <a:rPr lang="en-US" sz="1600" b="1" dirty="0">
                <a:solidFill>
                  <a:srgbClr val="0A7560"/>
                </a:solidFill>
                <a:latin typeface="Arial" pitchFamily="34" charset="0"/>
                <a:ea typeface="Arial" pitchFamily="34" charset="-122"/>
                <a:cs typeface="Arial" pitchFamily="34" charset="-120"/>
              </a:rPr>
              <a:t>D'où l'architecture</a:t>
            </a:r>
            <a:endParaRPr lang="en-US" sz="1600" dirty="0"/>
          </a:p>
        </p:txBody>
      </p:sp>
      <p:sp>
        <p:nvSpPr>
          <p:cNvPr id="26" name="Text 23"/>
          <p:cNvSpPr txBox="1"/>
          <p:nvPr/>
        </p:nvSpPr>
        <p:spPr>
          <a:xfrm>
            <a:off x="8183880" y="4526280"/>
            <a:ext cx="3200400" cy="1280160"/>
          </a:xfrm>
          <a:prstGeom prst="rect">
            <a:avLst/>
          </a:prstGeom>
          <a:noFill/>
          <a:ln/>
        </p:spPr>
        <p:txBody>
          <a:bodyPr wrap="square" lIns="0" tIns="0" rIns="0" bIns="0" rtlCol="0" anchor="t"/>
          <a:lstStyle/>
          <a:p>
            <a:pPr indent="0" marL="0">
              <a:buNone/>
            </a:pPr>
            <a:r>
              <a:rPr lang="en-US" sz="1400" dirty="0">
                <a:solidFill>
                  <a:srgbClr val="14202A"/>
                </a:solidFill>
                <a:latin typeface="Arial" pitchFamily="34" charset="0"/>
                <a:ea typeface="Arial" pitchFamily="34" charset="-122"/>
                <a:cs typeface="Arial" pitchFamily="34" charset="-120"/>
              </a:rPr>
              <a:t>4 barrières dures au maximum. La sélectivité vient du score, pas de l'empilement de filtres.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F0EE"/>
        </a:solidFill>
      </p:bgPr>
    </p:bg>
    <p:spTree>
      <p:nvGrpSpPr>
        <p:cNvPr id="1" name=""/>
        <p:cNvGrpSpPr/>
        <p:nvPr/>
      </p:nvGrpSpPr>
      <p:grpSpPr>
        <a:xfrm>
          <a:off x="0" y="0"/>
          <a:ext cx="0" cy="0"/>
          <a:chOff x="0" y="0"/>
          <a:chExt cx="0" cy="0"/>
        </a:xfrm>
      </p:grpSpPr>
      <p:sp>
        <p:nvSpPr>
          <p:cNvPr id="2" name="Shape 0"/>
          <p:cNvSpPr/>
          <p:nvPr/>
        </p:nvSpPr>
        <p:spPr>
          <a:xfrm>
            <a:off x="548640" y="292608"/>
            <a:ext cx="1322451" cy="45720"/>
          </a:xfrm>
          <a:prstGeom prst="rect">
            <a:avLst/>
          </a:prstGeom>
          <a:solidFill>
            <a:srgbClr val="52616C"/>
          </a:solidFill>
          <a:ln w="12700">
            <a:solidFill>
              <a:srgbClr val="52616C"/>
            </a:solidFill>
            <a:prstDash val="solid"/>
          </a:ln>
        </p:spPr>
      </p:sp>
      <p:sp>
        <p:nvSpPr>
          <p:cNvPr id="3" name="Text 1"/>
          <p:cNvSpPr txBox="1"/>
          <p:nvPr/>
        </p:nvSpPr>
        <p:spPr>
          <a:xfrm>
            <a:off x="548640"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1  </a:t>
            </a:r>
            <a:pPr indent="0" marL="0">
              <a:buNone/>
            </a:pPr>
            <a:r>
              <a:rPr lang="en-US" sz="1000" dirty="0">
                <a:solidFill>
                  <a:srgbClr val="14202A"/>
                </a:solidFill>
                <a:latin typeface="Arial" pitchFamily="34" charset="0"/>
                <a:ea typeface="Arial" pitchFamily="34" charset="-122"/>
                <a:cs typeface="Arial" pitchFamily="34" charset="-120"/>
              </a:rPr>
              <a:t>Données</a:t>
            </a:r>
            <a:endParaRPr lang="en-US" sz="1000" dirty="0"/>
          </a:p>
        </p:txBody>
      </p:sp>
      <p:sp>
        <p:nvSpPr>
          <p:cNvPr id="4" name="Shape 2"/>
          <p:cNvSpPr/>
          <p:nvPr/>
        </p:nvSpPr>
        <p:spPr>
          <a:xfrm>
            <a:off x="1944243" y="292608"/>
            <a:ext cx="1322451" cy="45720"/>
          </a:xfrm>
          <a:prstGeom prst="rect">
            <a:avLst/>
          </a:prstGeom>
          <a:solidFill>
            <a:srgbClr val="52616C"/>
          </a:solidFill>
          <a:ln w="12700">
            <a:solidFill>
              <a:srgbClr val="52616C"/>
            </a:solidFill>
            <a:prstDash val="solid"/>
          </a:ln>
        </p:spPr>
      </p:sp>
      <p:sp>
        <p:nvSpPr>
          <p:cNvPr id="5" name="Text 3"/>
          <p:cNvSpPr txBox="1"/>
          <p:nvPr/>
        </p:nvSpPr>
        <p:spPr>
          <a:xfrm>
            <a:off x="1944243"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2  </a:t>
            </a:r>
            <a:pPr indent="0" marL="0">
              <a:buNone/>
            </a:pPr>
            <a:r>
              <a:rPr lang="en-US" sz="1000" dirty="0">
                <a:solidFill>
                  <a:srgbClr val="14202A"/>
                </a:solidFill>
                <a:latin typeface="Arial" pitchFamily="34" charset="0"/>
                <a:ea typeface="Arial" pitchFamily="34" charset="-122"/>
                <a:cs typeface="Arial" pitchFamily="34" charset="-120"/>
              </a:rPr>
              <a:t>Indicateurs</a:t>
            </a:r>
            <a:endParaRPr lang="en-US" sz="1000" dirty="0"/>
          </a:p>
        </p:txBody>
      </p:sp>
      <p:sp>
        <p:nvSpPr>
          <p:cNvPr id="6" name="Shape 4"/>
          <p:cNvSpPr/>
          <p:nvPr/>
        </p:nvSpPr>
        <p:spPr>
          <a:xfrm>
            <a:off x="3339846" y="278892"/>
            <a:ext cx="1322451" cy="73152"/>
          </a:xfrm>
          <a:prstGeom prst="rect">
            <a:avLst/>
          </a:prstGeom>
          <a:solidFill>
            <a:srgbClr val="0A7560"/>
          </a:solidFill>
          <a:ln w="12700">
            <a:solidFill>
              <a:srgbClr val="0A7560"/>
            </a:solidFill>
            <a:prstDash val="solid"/>
          </a:ln>
        </p:spPr>
      </p:sp>
      <p:sp>
        <p:nvSpPr>
          <p:cNvPr id="7" name="Text 5"/>
          <p:cNvSpPr txBox="1"/>
          <p:nvPr/>
        </p:nvSpPr>
        <p:spPr>
          <a:xfrm>
            <a:off x="3339846" y="402336"/>
            <a:ext cx="1322451" cy="237744"/>
          </a:xfrm>
          <a:prstGeom prst="rect">
            <a:avLst/>
          </a:prstGeom>
          <a:noFill/>
          <a:ln/>
        </p:spPr>
        <p:txBody>
          <a:bodyPr wrap="square" lIns="0" tIns="0" rIns="0" bIns="0" rtlCol="0" anchor="t"/>
          <a:lstStyle/>
          <a:p>
            <a:pPr indent="0" marL="0">
              <a:buNone/>
            </a:pPr>
            <a:r>
              <a:rPr lang="en-US" sz="1000" b="1" dirty="0">
                <a:solidFill>
                  <a:srgbClr val="0A7560"/>
                </a:solidFill>
                <a:latin typeface="Arial" pitchFamily="34" charset="0"/>
                <a:ea typeface="Arial" pitchFamily="34" charset="-122"/>
                <a:cs typeface="Arial" pitchFamily="34" charset="-120"/>
              </a:rPr>
              <a:t>3  </a:t>
            </a:r>
            <a:pPr indent="0" marL="0">
              <a:buNone/>
            </a:pPr>
            <a:r>
              <a:rPr lang="en-US" sz="1000" b="1" dirty="0">
                <a:solidFill>
                  <a:srgbClr val="0A7560"/>
                </a:solidFill>
                <a:latin typeface="Arial" pitchFamily="34" charset="0"/>
                <a:ea typeface="Arial" pitchFamily="34" charset="-122"/>
                <a:cs typeface="Arial" pitchFamily="34" charset="-120"/>
              </a:rPr>
              <a:t>Paniers</a:t>
            </a:r>
            <a:endParaRPr lang="en-US" sz="1000" dirty="0"/>
          </a:p>
        </p:txBody>
      </p:sp>
      <p:sp>
        <p:nvSpPr>
          <p:cNvPr id="8" name="Shape 6"/>
          <p:cNvSpPr/>
          <p:nvPr/>
        </p:nvSpPr>
        <p:spPr>
          <a:xfrm>
            <a:off x="4735449" y="292608"/>
            <a:ext cx="1322451" cy="45720"/>
          </a:xfrm>
          <a:prstGeom prst="rect">
            <a:avLst/>
          </a:prstGeom>
          <a:solidFill>
            <a:srgbClr val="C6CFCB"/>
          </a:solidFill>
          <a:ln w="12700">
            <a:solidFill>
              <a:srgbClr val="C6CFCB"/>
            </a:solidFill>
            <a:prstDash val="solid"/>
          </a:ln>
        </p:spPr>
      </p:sp>
      <p:sp>
        <p:nvSpPr>
          <p:cNvPr id="9" name="Text 7"/>
          <p:cNvSpPr txBox="1"/>
          <p:nvPr/>
        </p:nvSpPr>
        <p:spPr>
          <a:xfrm>
            <a:off x="4735449"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4  </a:t>
            </a:r>
            <a:pPr indent="0" marL="0">
              <a:buNone/>
            </a:pPr>
            <a:r>
              <a:rPr lang="en-US" sz="1000" dirty="0">
                <a:solidFill>
                  <a:srgbClr val="52616C"/>
                </a:solidFill>
                <a:latin typeface="Arial" pitchFamily="34" charset="0"/>
                <a:ea typeface="Arial" pitchFamily="34" charset="-122"/>
                <a:cs typeface="Arial" pitchFamily="34" charset="-120"/>
              </a:rPr>
              <a:t>Bootstrap</a:t>
            </a:r>
            <a:endParaRPr lang="en-US" sz="1000" dirty="0"/>
          </a:p>
        </p:txBody>
      </p:sp>
      <p:sp>
        <p:nvSpPr>
          <p:cNvPr id="10" name="Shape 8"/>
          <p:cNvSpPr/>
          <p:nvPr/>
        </p:nvSpPr>
        <p:spPr>
          <a:xfrm>
            <a:off x="6131052" y="292608"/>
            <a:ext cx="1322451" cy="45720"/>
          </a:xfrm>
          <a:prstGeom prst="rect">
            <a:avLst/>
          </a:prstGeom>
          <a:solidFill>
            <a:srgbClr val="C6CFCB"/>
          </a:solidFill>
          <a:ln w="12700">
            <a:solidFill>
              <a:srgbClr val="C6CFCB"/>
            </a:solidFill>
            <a:prstDash val="solid"/>
          </a:ln>
        </p:spPr>
      </p:sp>
      <p:sp>
        <p:nvSpPr>
          <p:cNvPr id="11" name="Text 9"/>
          <p:cNvSpPr txBox="1"/>
          <p:nvPr/>
        </p:nvSpPr>
        <p:spPr>
          <a:xfrm>
            <a:off x="6131052"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5  </a:t>
            </a:r>
            <a:pPr indent="0" marL="0">
              <a:buNone/>
            </a:pPr>
            <a:r>
              <a:rPr lang="en-US" sz="1000" dirty="0">
                <a:solidFill>
                  <a:srgbClr val="52616C"/>
                </a:solidFill>
                <a:latin typeface="Arial" pitchFamily="34" charset="0"/>
                <a:ea typeface="Arial" pitchFamily="34" charset="-122"/>
                <a:cs typeface="Arial" pitchFamily="34" charset="-120"/>
              </a:rPr>
              <a:t>Sélection</a:t>
            </a:r>
            <a:endParaRPr lang="en-US" sz="1000" dirty="0"/>
          </a:p>
        </p:txBody>
      </p:sp>
      <p:sp>
        <p:nvSpPr>
          <p:cNvPr id="12" name="Shape 10"/>
          <p:cNvSpPr/>
          <p:nvPr/>
        </p:nvSpPr>
        <p:spPr>
          <a:xfrm>
            <a:off x="7526655" y="292608"/>
            <a:ext cx="1322451" cy="45720"/>
          </a:xfrm>
          <a:prstGeom prst="rect">
            <a:avLst/>
          </a:prstGeom>
          <a:solidFill>
            <a:srgbClr val="C6CFCB"/>
          </a:solidFill>
          <a:ln w="12700">
            <a:solidFill>
              <a:srgbClr val="C6CFCB"/>
            </a:solidFill>
            <a:prstDash val="solid"/>
          </a:ln>
        </p:spPr>
      </p:sp>
      <p:sp>
        <p:nvSpPr>
          <p:cNvPr id="13" name="Text 11"/>
          <p:cNvSpPr txBox="1"/>
          <p:nvPr/>
        </p:nvSpPr>
        <p:spPr>
          <a:xfrm>
            <a:off x="7526655"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6  </a:t>
            </a:r>
            <a:pPr indent="0" marL="0">
              <a:buNone/>
            </a:pPr>
            <a:r>
              <a:rPr lang="en-US" sz="1000" dirty="0">
                <a:solidFill>
                  <a:srgbClr val="52616C"/>
                </a:solidFill>
                <a:latin typeface="Arial" pitchFamily="34" charset="0"/>
                <a:ea typeface="Arial" pitchFamily="34" charset="-122"/>
                <a:cs typeface="Arial" pitchFamily="34" charset="-120"/>
              </a:rPr>
              <a:t>Fusion</a:t>
            </a:r>
            <a:endParaRPr lang="en-US" sz="1000" dirty="0"/>
          </a:p>
        </p:txBody>
      </p:sp>
      <p:sp>
        <p:nvSpPr>
          <p:cNvPr id="14" name="Shape 12"/>
          <p:cNvSpPr/>
          <p:nvPr/>
        </p:nvSpPr>
        <p:spPr>
          <a:xfrm>
            <a:off x="8922258" y="292608"/>
            <a:ext cx="1322451" cy="45720"/>
          </a:xfrm>
          <a:prstGeom prst="rect">
            <a:avLst/>
          </a:prstGeom>
          <a:solidFill>
            <a:srgbClr val="C6CFCB"/>
          </a:solidFill>
          <a:ln w="12700">
            <a:solidFill>
              <a:srgbClr val="C6CFCB"/>
            </a:solidFill>
            <a:prstDash val="solid"/>
          </a:ln>
        </p:spPr>
      </p:sp>
      <p:sp>
        <p:nvSpPr>
          <p:cNvPr id="15" name="Text 13"/>
          <p:cNvSpPr txBox="1"/>
          <p:nvPr/>
        </p:nvSpPr>
        <p:spPr>
          <a:xfrm>
            <a:off x="8922258"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7  </a:t>
            </a:r>
            <a:pPr indent="0" marL="0">
              <a:buNone/>
            </a:pPr>
            <a:r>
              <a:rPr lang="en-US" sz="1000" dirty="0">
                <a:solidFill>
                  <a:srgbClr val="52616C"/>
                </a:solidFill>
                <a:latin typeface="Arial" pitchFamily="34" charset="0"/>
                <a:ea typeface="Arial" pitchFamily="34" charset="-122"/>
                <a:cs typeface="Arial" pitchFamily="34" charset="-120"/>
              </a:rPr>
              <a:t>Validation</a:t>
            </a:r>
            <a:endParaRPr lang="en-US" sz="1000" dirty="0"/>
          </a:p>
        </p:txBody>
      </p:sp>
      <p:sp>
        <p:nvSpPr>
          <p:cNvPr id="16" name="Shape 14"/>
          <p:cNvSpPr/>
          <p:nvPr/>
        </p:nvSpPr>
        <p:spPr>
          <a:xfrm>
            <a:off x="10317861" y="292608"/>
            <a:ext cx="1322451" cy="45720"/>
          </a:xfrm>
          <a:prstGeom prst="rect">
            <a:avLst/>
          </a:prstGeom>
          <a:solidFill>
            <a:srgbClr val="C6CFCB"/>
          </a:solidFill>
          <a:ln w="12700">
            <a:solidFill>
              <a:srgbClr val="C6CFCB"/>
            </a:solidFill>
            <a:prstDash val="solid"/>
          </a:ln>
        </p:spPr>
      </p:sp>
      <p:sp>
        <p:nvSpPr>
          <p:cNvPr id="17" name="Text 15"/>
          <p:cNvSpPr txBox="1"/>
          <p:nvPr/>
        </p:nvSpPr>
        <p:spPr>
          <a:xfrm>
            <a:off x="10317861"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8  </a:t>
            </a:r>
            <a:pPr indent="0" marL="0">
              <a:buNone/>
            </a:pPr>
            <a:r>
              <a:rPr lang="en-US" sz="1000" dirty="0">
                <a:solidFill>
                  <a:srgbClr val="52616C"/>
                </a:solidFill>
                <a:latin typeface="Arial" pitchFamily="34" charset="0"/>
                <a:ea typeface="Arial" pitchFamily="34" charset="-122"/>
                <a:cs typeface="Arial" pitchFamily="34" charset="-120"/>
              </a:rPr>
              <a:t>Production</a:t>
            </a:r>
            <a:endParaRPr lang="en-US" sz="1000" dirty="0"/>
          </a:p>
        </p:txBody>
      </p:sp>
      <p:sp>
        <p:nvSpPr>
          <p:cNvPr id="18" name="Text 16"/>
          <p:cNvSpPr txBox="1"/>
          <p:nvPr/>
        </p:nvSpPr>
        <p:spPr>
          <a:xfrm>
            <a:off x="548640" y="914400"/>
            <a:ext cx="10515600" cy="1097280"/>
          </a:xfrm>
          <a:prstGeom prst="rect">
            <a:avLst/>
          </a:prstGeom>
          <a:noFill/>
          <a:ln/>
        </p:spPr>
        <p:txBody>
          <a:bodyPr wrap="square" lIns="0" tIns="0" rIns="0" bIns="0" rtlCol="0" anchor="t"/>
          <a:lstStyle/>
          <a:p>
            <a:pPr indent="0" marL="0">
              <a:buNone/>
            </a:pPr>
            <a:r>
              <a:rPr lang="en-US" sz="3200" b="1" dirty="0">
                <a:solidFill>
                  <a:srgbClr val="14202A"/>
                </a:solidFill>
                <a:latin typeface="Arial" pitchFamily="34" charset="0"/>
                <a:ea typeface="Arial" pitchFamily="34" charset="-122"/>
                <a:cs typeface="Arial" pitchFamily="34" charset="-120"/>
              </a:rPr>
              <a:t>Chaque condition devient un degré de satisfaction entre −1 et +1</a:t>
            </a:r>
            <a:endParaRPr lang="en-US" sz="3200" dirty="0"/>
          </a:p>
        </p:txBody>
      </p:sp>
      <p:sp>
        <p:nvSpPr>
          <p:cNvPr id="19" name="Shape 17"/>
          <p:cNvSpPr/>
          <p:nvPr/>
        </p:nvSpPr>
        <p:spPr>
          <a:xfrm>
            <a:off x="548640" y="2240280"/>
            <a:ext cx="6400800" cy="1545336"/>
          </a:xfrm>
          <a:prstGeom prst="rect">
            <a:avLst/>
          </a:prstGeom>
          <a:solidFill>
            <a:srgbClr val="F7F9F8"/>
          </a:solidFill>
          <a:ln w="9525">
            <a:solidFill>
              <a:srgbClr val="C6CFCB"/>
            </a:solidFill>
            <a:prstDash val="solid"/>
          </a:ln>
        </p:spPr>
      </p:sp>
      <p:sp>
        <p:nvSpPr>
          <p:cNvPr id="20" name="Text 18"/>
          <p:cNvSpPr txBox="1"/>
          <p:nvPr/>
        </p:nvSpPr>
        <p:spPr>
          <a:xfrm>
            <a:off x="777240" y="2377440"/>
            <a:ext cx="5943600" cy="274320"/>
          </a:xfrm>
          <a:prstGeom prst="rect">
            <a:avLst/>
          </a:prstGeom>
          <a:noFill/>
          <a:ln/>
        </p:spPr>
        <p:txBody>
          <a:bodyPr wrap="square" lIns="0" tIns="0" rIns="0" bIns="0" rtlCol="0" anchor="t"/>
          <a:lstStyle/>
          <a:p>
            <a:pPr indent="0" marL="0">
              <a:buNone/>
            </a:pPr>
            <a:r>
              <a:rPr lang="en-US" sz="1150" b="1" dirty="0">
                <a:solidFill>
                  <a:srgbClr val="52616C"/>
                </a:solidFill>
                <a:latin typeface="Arial" pitchFamily="34" charset="0"/>
                <a:ea typeface="Arial" pitchFamily="34" charset="-122"/>
                <a:cs typeface="Arial" pitchFamily="34" charset="-120"/>
              </a:rPr>
              <a:t>Supérieur au seuil s</a:t>
            </a:r>
            <a:endParaRPr lang="en-US" sz="1150" dirty="0"/>
          </a:p>
        </p:txBody>
      </p:sp>
      <p:sp>
        <p:nvSpPr>
          <p:cNvPr id="21" name="Text 19"/>
          <p:cNvSpPr txBox="1"/>
          <p:nvPr/>
        </p:nvSpPr>
        <p:spPr>
          <a:xfrm>
            <a:off x="777240" y="2651760"/>
            <a:ext cx="5943600" cy="658368"/>
          </a:xfrm>
          <a:prstGeom prst="rect">
            <a:avLst/>
          </a:prstGeom>
          <a:noFill/>
          <a:ln/>
        </p:spPr>
        <p:txBody>
          <a:bodyPr wrap="square" lIns="0" tIns="0" rIns="0" bIns="0" rtlCol="0" anchor="t"/>
          <a:lstStyle/>
          <a:p>
            <a:pPr indent="0" marL="0">
              <a:buNone/>
            </a:pPr>
            <a:r>
              <a:rPr lang="en-US" sz="1600" b="1" dirty="0">
                <a:solidFill>
                  <a:srgbClr val="14202A"/>
                </a:solidFill>
                <a:latin typeface="Arial" pitchFamily="34" charset="0"/>
                <a:ea typeface="Arial" pitchFamily="34" charset="-122"/>
                <a:cs typeface="Arial" pitchFamily="34" charset="-120"/>
              </a:rPr>
              <a:t>si r ≥ s :  (r − s) / (1 − s)</a:t>
            </a:r>
            <a:endParaRPr lang="en-US" sz="1600" dirty="0"/>
          </a:p>
          <a:p>
            <a:pPr indent="0" marL="0">
              <a:buNone/>
            </a:pPr>
            <a:r>
              <a:rPr lang="en-US" sz="1600" b="1" dirty="0">
                <a:solidFill>
                  <a:srgbClr val="14202A"/>
                </a:solidFill>
                <a:latin typeface="Arial" pitchFamily="34" charset="0"/>
                <a:ea typeface="Arial" pitchFamily="34" charset="-122"/>
                <a:cs typeface="Arial" pitchFamily="34" charset="-120"/>
              </a:rPr>
              <a:t>sinon :  (r − s) / s</a:t>
            </a:r>
            <a:endParaRPr lang="en-US" sz="1600" dirty="0"/>
          </a:p>
        </p:txBody>
      </p:sp>
      <p:sp>
        <p:nvSpPr>
          <p:cNvPr id="22" name="Text 20"/>
          <p:cNvSpPr txBox="1"/>
          <p:nvPr/>
        </p:nvSpPr>
        <p:spPr>
          <a:xfrm>
            <a:off x="777240" y="3355848"/>
            <a:ext cx="5943600" cy="320040"/>
          </a:xfrm>
          <a:prstGeom prst="rect">
            <a:avLst/>
          </a:prstGeom>
          <a:noFill/>
          <a:ln/>
        </p:spPr>
        <p:txBody>
          <a:bodyPr wrap="square" lIns="0" tIns="0" rIns="0" bIns="0" rtlCol="0" anchor="t"/>
          <a:lstStyle/>
          <a:p>
            <a:pPr indent="0" marL="0">
              <a:buNone/>
            </a:pPr>
            <a:r>
              <a:rPr lang="en-US" sz="1150" dirty="0">
                <a:solidFill>
                  <a:srgbClr val="52616C"/>
                </a:solidFill>
                <a:latin typeface="Arial" pitchFamily="34" charset="0"/>
                <a:ea typeface="Arial" pitchFamily="34" charset="-122"/>
                <a:cs typeface="Arial" pitchFamily="34" charset="-120"/>
              </a:rPr>
              <a:t>r = rang percentile du titre ce jour-là. Nul au seuil, +1 au maximum.</a:t>
            </a:r>
            <a:endParaRPr lang="en-US" sz="1150" dirty="0"/>
          </a:p>
        </p:txBody>
      </p:sp>
      <p:sp>
        <p:nvSpPr>
          <p:cNvPr id="23" name="Shape 21"/>
          <p:cNvSpPr/>
          <p:nvPr/>
        </p:nvSpPr>
        <p:spPr>
          <a:xfrm>
            <a:off x="548640" y="3968496"/>
            <a:ext cx="6400800" cy="1216152"/>
          </a:xfrm>
          <a:prstGeom prst="rect">
            <a:avLst/>
          </a:prstGeom>
          <a:solidFill>
            <a:srgbClr val="F7F9F8"/>
          </a:solidFill>
          <a:ln w="9525">
            <a:solidFill>
              <a:srgbClr val="C6CFCB"/>
            </a:solidFill>
            <a:prstDash val="solid"/>
          </a:ln>
        </p:spPr>
      </p:sp>
      <p:sp>
        <p:nvSpPr>
          <p:cNvPr id="24" name="Text 22"/>
          <p:cNvSpPr txBox="1"/>
          <p:nvPr/>
        </p:nvSpPr>
        <p:spPr>
          <a:xfrm>
            <a:off x="777240" y="4105656"/>
            <a:ext cx="5943600" cy="274320"/>
          </a:xfrm>
          <a:prstGeom prst="rect">
            <a:avLst/>
          </a:prstGeom>
          <a:noFill/>
          <a:ln/>
        </p:spPr>
        <p:txBody>
          <a:bodyPr wrap="square" lIns="0" tIns="0" rIns="0" bIns="0" rtlCol="0" anchor="t"/>
          <a:lstStyle/>
          <a:p>
            <a:pPr indent="0" marL="0">
              <a:buNone/>
            </a:pPr>
            <a:r>
              <a:rPr lang="en-US" sz="1150" b="1" dirty="0">
                <a:solidFill>
                  <a:srgbClr val="52616C"/>
                </a:solidFill>
                <a:latin typeface="Arial" pitchFamily="34" charset="0"/>
                <a:ea typeface="Arial" pitchFamily="34" charset="-122"/>
                <a:cs typeface="Arial" pitchFamily="34" charset="-120"/>
              </a:rPr>
              <a:t>Dans une bande [s₁, s₂]</a:t>
            </a:r>
            <a:endParaRPr lang="en-US" sz="1150" dirty="0"/>
          </a:p>
        </p:txBody>
      </p:sp>
      <p:sp>
        <p:nvSpPr>
          <p:cNvPr id="25" name="Text 23"/>
          <p:cNvSpPr txBox="1"/>
          <p:nvPr/>
        </p:nvSpPr>
        <p:spPr>
          <a:xfrm>
            <a:off x="777240" y="4379976"/>
            <a:ext cx="5943600" cy="329184"/>
          </a:xfrm>
          <a:prstGeom prst="rect">
            <a:avLst/>
          </a:prstGeom>
          <a:noFill/>
          <a:ln/>
        </p:spPr>
        <p:txBody>
          <a:bodyPr wrap="square" lIns="0" tIns="0" rIns="0" bIns="0" rtlCol="0" anchor="t"/>
          <a:lstStyle/>
          <a:p>
            <a:pPr indent="0" marL="0">
              <a:buNone/>
            </a:pPr>
            <a:r>
              <a:rPr lang="en-US" sz="1600" b="1" dirty="0">
                <a:solidFill>
                  <a:srgbClr val="14202A"/>
                </a:solidFill>
                <a:latin typeface="Arial" pitchFamily="34" charset="0"/>
                <a:ea typeface="Arial" pitchFamily="34" charset="-122"/>
                <a:cs typeface="Arial" pitchFamily="34" charset="-120"/>
              </a:rPr>
              <a:t>1 − |r − centre| / demi-largeur</a:t>
            </a:r>
            <a:endParaRPr lang="en-US" sz="1600" dirty="0"/>
          </a:p>
        </p:txBody>
      </p:sp>
      <p:sp>
        <p:nvSpPr>
          <p:cNvPr id="26" name="Text 24"/>
          <p:cNvSpPr txBox="1"/>
          <p:nvPr/>
        </p:nvSpPr>
        <p:spPr>
          <a:xfrm>
            <a:off x="777240" y="4754880"/>
            <a:ext cx="5943600" cy="320040"/>
          </a:xfrm>
          <a:prstGeom prst="rect">
            <a:avLst/>
          </a:prstGeom>
          <a:noFill/>
          <a:ln/>
        </p:spPr>
        <p:txBody>
          <a:bodyPr wrap="square" lIns="0" tIns="0" rIns="0" bIns="0" rtlCol="0" anchor="t"/>
          <a:lstStyle/>
          <a:p>
            <a:pPr indent="0" marL="0">
              <a:buNone/>
            </a:pPr>
            <a:r>
              <a:rPr lang="en-US" sz="1150" dirty="0">
                <a:solidFill>
                  <a:srgbClr val="52616C"/>
                </a:solidFill>
                <a:latin typeface="Arial" pitchFamily="34" charset="0"/>
                <a:ea typeface="Arial" pitchFamily="34" charset="-122"/>
                <a:cs typeface="Arial" pitchFamily="34" charset="-120"/>
              </a:rPr>
              <a:t>+1 au centre, 0 aux bords : « au niveau de la moyenne ».</a:t>
            </a:r>
            <a:endParaRPr lang="en-US" sz="1150" dirty="0"/>
          </a:p>
        </p:txBody>
      </p:sp>
      <p:sp>
        <p:nvSpPr>
          <p:cNvPr id="27" name="Shape 25"/>
          <p:cNvSpPr/>
          <p:nvPr/>
        </p:nvSpPr>
        <p:spPr>
          <a:xfrm>
            <a:off x="548640" y="5367528"/>
            <a:ext cx="6400800" cy="1216152"/>
          </a:xfrm>
          <a:prstGeom prst="rect">
            <a:avLst/>
          </a:prstGeom>
          <a:solidFill>
            <a:srgbClr val="F7F9F8"/>
          </a:solidFill>
          <a:ln w="9525">
            <a:solidFill>
              <a:srgbClr val="C6CFCB"/>
            </a:solidFill>
            <a:prstDash val="solid"/>
          </a:ln>
        </p:spPr>
      </p:sp>
      <p:sp>
        <p:nvSpPr>
          <p:cNvPr id="28" name="Text 26"/>
          <p:cNvSpPr txBox="1"/>
          <p:nvPr/>
        </p:nvSpPr>
        <p:spPr>
          <a:xfrm>
            <a:off x="777240" y="5504688"/>
            <a:ext cx="5943600" cy="274320"/>
          </a:xfrm>
          <a:prstGeom prst="rect">
            <a:avLst/>
          </a:prstGeom>
          <a:noFill/>
          <a:ln/>
        </p:spPr>
        <p:txBody>
          <a:bodyPr wrap="square" lIns="0" tIns="0" rIns="0" bIns="0" rtlCol="0" anchor="t"/>
          <a:lstStyle/>
          <a:p>
            <a:pPr indent="0" marL="0">
              <a:buNone/>
            </a:pPr>
            <a:r>
              <a:rPr lang="en-US" sz="1150" b="1" dirty="0">
                <a:solidFill>
                  <a:srgbClr val="52616C"/>
                </a:solidFill>
                <a:latin typeface="Arial" pitchFamily="34" charset="0"/>
                <a:ea typeface="Arial" pitchFamily="34" charset="-122"/>
                <a:cs typeface="Arial" pitchFamily="34" charset="-120"/>
              </a:rPr>
              <a:t>Agrégation</a:t>
            </a:r>
            <a:endParaRPr lang="en-US" sz="1150" dirty="0"/>
          </a:p>
        </p:txBody>
      </p:sp>
      <p:sp>
        <p:nvSpPr>
          <p:cNvPr id="29" name="Text 27"/>
          <p:cNvSpPr txBox="1"/>
          <p:nvPr/>
        </p:nvSpPr>
        <p:spPr>
          <a:xfrm>
            <a:off x="777240" y="5779008"/>
            <a:ext cx="5943600" cy="329184"/>
          </a:xfrm>
          <a:prstGeom prst="rect">
            <a:avLst/>
          </a:prstGeom>
          <a:noFill/>
          <a:ln/>
        </p:spPr>
        <p:txBody>
          <a:bodyPr wrap="square" lIns="0" tIns="0" rIns="0" bIns="0" rtlCol="0" anchor="t"/>
          <a:lstStyle/>
          <a:p>
            <a:pPr indent="0" marL="0">
              <a:buNone/>
            </a:pPr>
            <a:r>
              <a:rPr lang="en-US" sz="1600" b="1" dirty="0">
                <a:solidFill>
                  <a:srgbClr val="14202A"/>
                </a:solidFill>
                <a:latin typeface="Arial" pitchFamily="34" charset="0"/>
                <a:ea typeface="Arial" pitchFamily="34" charset="-122"/>
                <a:cs typeface="Arial" pitchFamily="34" charset="-120"/>
              </a:rPr>
              <a:t>score = Σ wᵢ sᵢ / Σ |wᵢ|</a:t>
            </a:r>
            <a:endParaRPr lang="en-US" sz="1600" dirty="0"/>
          </a:p>
        </p:txBody>
      </p:sp>
      <p:sp>
        <p:nvSpPr>
          <p:cNvPr id="30" name="Text 28"/>
          <p:cNvSpPr txBox="1"/>
          <p:nvPr/>
        </p:nvSpPr>
        <p:spPr>
          <a:xfrm>
            <a:off x="777240" y="6153912"/>
            <a:ext cx="5943600" cy="320040"/>
          </a:xfrm>
          <a:prstGeom prst="rect">
            <a:avLst/>
          </a:prstGeom>
          <a:noFill/>
          <a:ln/>
        </p:spPr>
        <p:txBody>
          <a:bodyPr wrap="square" lIns="0" tIns="0" rIns="0" bIns="0" rtlCol="0" anchor="t"/>
          <a:lstStyle/>
          <a:p>
            <a:pPr indent="0" marL="0">
              <a:buNone/>
            </a:pPr>
            <a:r>
              <a:rPr lang="en-US" sz="1150" dirty="0">
                <a:solidFill>
                  <a:srgbClr val="52616C"/>
                </a:solidFill>
                <a:latin typeface="Arial" pitchFamily="34" charset="0"/>
                <a:ea typeface="Arial" pitchFamily="34" charset="-122"/>
                <a:cs typeface="Arial" pitchFamily="34" charset="-120"/>
              </a:rPr>
              <a:t>Poids négatifs possibles sans faire diverger le score.</a:t>
            </a:r>
            <a:endParaRPr lang="en-US" sz="1150" dirty="0"/>
          </a:p>
        </p:txBody>
      </p:sp>
      <p:sp>
        <p:nvSpPr>
          <p:cNvPr id="31" name="Text 29"/>
          <p:cNvSpPr txBox="1"/>
          <p:nvPr/>
        </p:nvSpPr>
        <p:spPr>
          <a:xfrm>
            <a:off x="7315200" y="2240280"/>
            <a:ext cx="4325112" cy="3840480"/>
          </a:xfrm>
          <a:prstGeom prst="rect">
            <a:avLst/>
          </a:prstGeom>
          <a:noFill/>
          <a:ln/>
        </p:spPr>
        <p:txBody>
          <a:bodyPr wrap="square" lIns="0" tIns="0" rIns="0" bIns="0" rtlCol="0" anchor="t"/>
          <a:lstStyle/>
          <a:p>
            <a:pPr indent="0" marL="0">
              <a:lnSpc>
                <a:spcPct val="112000"/>
              </a:lnSpc>
              <a:spcAft>
                <a:spcPts val="900"/>
              </a:spcAft>
              <a:buNone/>
            </a:pPr>
            <a:r>
              <a:rPr lang="en-US" sz="1400" dirty="0">
                <a:solidFill>
                  <a:srgbClr val="14202A"/>
                </a:solidFill>
                <a:latin typeface="Arial" pitchFamily="34" charset="0"/>
                <a:ea typeface="Arial" pitchFamily="34" charset="-122"/>
                <a:cs typeface="Arial" pitchFamily="34" charset="-120"/>
              </a:rPr>
              <a:t>Un titre juste sous le seuil obtient −0,05 au lieu d'être éliminé.</a:t>
            </a:r>
            <a:endParaRPr lang="en-US" sz="1400" dirty="0"/>
          </a:p>
          <a:p>
            <a:pPr indent="0" marL="0">
              <a:lnSpc>
                <a:spcPct val="112000"/>
              </a:lnSpc>
              <a:buNone/>
            </a:pPr>
            <a:r>
              <a:rPr lang="en-US" sz="1400" b="1" dirty="0">
                <a:solidFill>
                  <a:srgbClr val="14202A"/>
                </a:solidFill>
                <a:latin typeface="Arial" pitchFamily="34" charset="0"/>
                <a:ea typeface="Arial" pitchFamily="34" charset="-122"/>
                <a:cs typeface="Arial" pitchFamily="34" charset="-120"/>
              </a:rPr>
              <a:t>Seuils en percentiles cross-sectionnels, </a:t>
            </a:r>
            <a:pPr indent="0" marL="0">
              <a:lnSpc>
                <a:spcPct val="112000"/>
              </a:lnSpc>
              <a:spcAft>
                <a:spcPts val="900"/>
              </a:spcAft>
              <a:buNone/>
            </a:pPr>
            <a:r>
              <a:rPr lang="en-US" sz="1400" dirty="0">
                <a:solidFill>
                  <a:srgbClr val="14202A"/>
                </a:solidFill>
                <a:latin typeface="Arial" pitchFamily="34" charset="0"/>
                <a:ea typeface="Arial" pitchFamily="34" charset="-122"/>
                <a:cs typeface="Arial" pitchFamily="34" charset="-120"/>
              </a:rPr>
              <a:t>recalculés chaque jour : « top 30 % du jour » garde le même sens en 2008 et en 2021.</a:t>
            </a:r>
            <a:endParaRPr lang="en-US" sz="1400" dirty="0"/>
          </a:p>
          <a:p>
            <a:pPr indent="0" marL="0">
              <a:lnSpc>
                <a:spcPct val="112000"/>
              </a:lnSpc>
              <a:spcAft>
                <a:spcPts val="900"/>
              </a:spcAft>
              <a:buNone/>
            </a:pPr>
            <a:r>
              <a:rPr lang="en-US" sz="1400" dirty="0">
                <a:solidFill>
                  <a:srgbClr val="14202A"/>
                </a:solidFill>
                <a:latin typeface="Arial" pitchFamily="34" charset="0"/>
                <a:ea typeface="Arial" pitchFamily="34" charset="-122"/>
                <a:cs typeface="Arial" pitchFamily="34" charset="-120"/>
              </a:rPr>
              <a:t>Les mêmes conditions servent à filtrer et à classer : aucun indicateur supplémentaire pour départager les éligibles.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F0EE"/>
        </a:solidFill>
      </p:bgPr>
    </p:bg>
    <p:spTree>
      <p:nvGrpSpPr>
        <p:cNvPr id="1" name=""/>
        <p:cNvGrpSpPr/>
        <p:nvPr/>
      </p:nvGrpSpPr>
      <p:grpSpPr>
        <a:xfrm>
          <a:off x="0" y="0"/>
          <a:ext cx="0" cy="0"/>
          <a:chOff x="0" y="0"/>
          <a:chExt cx="0" cy="0"/>
        </a:xfrm>
      </p:grpSpPr>
      <p:sp>
        <p:nvSpPr>
          <p:cNvPr id="2" name="Shape 0"/>
          <p:cNvSpPr/>
          <p:nvPr/>
        </p:nvSpPr>
        <p:spPr>
          <a:xfrm>
            <a:off x="548640" y="292608"/>
            <a:ext cx="1322451" cy="45720"/>
          </a:xfrm>
          <a:prstGeom prst="rect">
            <a:avLst/>
          </a:prstGeom>
          <a:solidFill>
            <a:srgbClr val="52616C"/>
          </a:solidFill>
          <a:ln w="12700">
            <a:solidFill>
              <a:srgbClr val="52616C"/>
            </a:solidFill>
            <a:prstDash val="solid"/>
          </a:ln>
        </p:spPr>
      </p:sp>
      <p:sp>
        <p:nvSpPr>
          <p:cNvPr id="3" name="Text 1"/>
          <p:cNvSpPr txBox="1"/>
          <p:nvPr/>
        </p:nvSpPr>
        <p:spPr>
          <a:xfrm>
            <a:off x="548640"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1  </a:t>
            </a:r>
            <a:pPr indent="0" marL="0">
              <a:buNone/>
            </a:pPr>
            <a:r>
              <a:rPr lang="en-US" sz="1000" dirty="0">
                <a:solidFill>
                  <a:srgbClr val="14202A"/>
                </a:solidFill>
                <a:latin typeface="Arial" pitchFamily="34" charset="0"/>
                <a:ea typeface="Arial" pitchFamily="34" charset="-122"/>
                <a:cs typeface="Arial" pitchFamily="34" charset="-120"/>
              </a:rPr>
              <a:t>Données</a:t>
            </a:r>
            <a:endParaRPr lang="en-US" sz="1000" dirty="0"/>
          </a:p>
        </p:txBody>
      </p:sp>
      <p:sp>
        <p:nvSpPr>
          <p:cNvPr id="4" name="Shape 2"/>
          <p:cNvSpPr/>
          <p:nvPr/>
        </p:nvSpPr>
        <p:spPr>
          <a:xfrm>
            <a:off x="1944243" y="292608"/>
            <a:ext cx="1322451" cy="45720"/>
          </a:xfrm>
          <a:prstGeom prst="rect">
            <a:avLst/>
          </a:prstGeom>
          <a:solidFill>
            <a:srgbClr val="52616C"/>
          </a:solidFill>
          <a:ln w="12700">
            <a:solidFill>
              <a:srgbClr val="52616C"/>
            </a:solidFill>
            <a:prstDash val="solid"/>
          </a:ln>
        </p:spPr>
      </p:sp>
      <p:sp>
        <p:nvSpPr>
          <p:cNvPr id="5" name="Text 3"/>
          <p:cNvSpPr txBox="1"/>
          <p:nvPr/>
        </p:nvSpPr>
        <p:spPr>
          <a:xfrm>
            <a:off x="1944243"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2  </a:t>
            </a:r>
            <a:pPr indent="0" marL="0">
              <a:buNone/>
            </a:pPr>
            <a:r>
              <a:rPr lang="en-US" sz="1000" dirty="0">
                <a:solidFill>
                  <a:srgbClr val="14202A"/>
                </a:solidFill>
                <a:latin typeface="Arial" pitchFamily="34" charset="0"/>
                <a:ea typeface="Arial" pitchFamily="34" charset="-122"/>
                <a:cs typeface="Arial" pitchFamily="34" charset="-120"/>
              </a:rPr>
              <a:t>Indicateurs</a:t>
            </a:r>
            <a:endParaRPr lang="en-US" sz="1000" dirty="0"/>
          </a:p>
        </p:txBody>
      </p:sp>
      <p:sp>
        <p:nvSpPr>
          <p:cNvPr id="6" name="Shape 4"/>
          <p:cNvSpPr/>
          <p:nvPr/>
        </p:nvSpPr>
        <p:spPr>
          <a:xfrm>
            <a:off x="3339846" y="278892"/>
            <a:ext cx="1322451" cy="73152"/>
          </a:xfrm>
          <a:prstGeom prst="rect">
            <a:avLst/>
          </a:prstGeom>
          <a:solidFill>
            <a:srgbClr val="0A7560"/>
          </a:solidFill>
          <a:ln w="12700">
            <a:solidFill>
              <a:srgbClr val="0A7560"/>
            </a:solidFill>
            <a:prstDash val="solid"/>
          </a:ln>
        </p:spPr>
      </p:sp>
      <p:sp>
        <p:nvSpPr>
          <p:cNvPr id="7" name="Text 5"/>
          <p:cNvSpPr txBox="1"/>
          <p:nvPr/>
        </p:nvSpPr>
        <p:spPr>
          <a:xfrm>
            <a:off x="3339846" y="402336"/>
            <a:ext cx="1322451" cy="237744"/>
          </a:xfrm>
          <a:prstGeom prst="rect">
            <a:avLst/>
          </a:prstGeom>
          <a:noFill/>
          <a:ln/>
        </p:spPr>
        <p:txBody>
          <a:bodyPr wrap="square" lIns="0" tIns="0" rIns="0" bIns="0" rtlCol="0" anchor="t"/>
          <a:lstStyle/>
          <a:p>
            <a:pPr indent="0" marL="0">
              <a:buNone/>
            </a:pPr>
            <a:r>
              <a:rPr lang="en-US" sz="1000" b="1" dirty="0">
                <a:solidFill>
                  <a:srgbClr val="0A7560"/>
                </a:solidFill>
                <a:latin typeface="Arial" pitchFamily="34" charset="0"/>
                <a:ea typeface="Arial" pitchFamily="34" charset="-122"/>
                <a:cs typeface="Arial" pitchFamily="34" charset="-120"/>
              </a:rPr>
              <a:t>3  </a:t>
            </a:r>
            <a:pPr indent="0" marL="0">
              <a:buNone/>
            </a:pPr>
            <a:r>
              <a:rPr lang="en-US" sz="1000" b="1" dirty="0">
                <a:solidFill>
                  <a:srgbClr val="0A7560"/>
                </a:solidFill>
                <a:latin typeface="Arial" pitchFamily="34" charset="0"/>
                <a:ea typeface="Arial" pitchFamily="34" charset="-122"/>
                <a:cs typeface="Arial" pitchFamily="34" charset="-120"/>
              </a:rPr>
              <a:t>Paniers</a:t>
            </a:r>
            <a:endParaRPr lang="en-US" sz="1000" dirty="0"/>
          </a:p>
        </p:txBody>
      </p:sp>
      <p:sp>
        <p:nvSpPr>
          <p:cNvPr id="8" name="Shape 6"/>
          <p:cNvSpPr/>
          <p:nvPr/>
        </p:nvSpPr>
        <p:spPr>
          <a:xfrm>
            <a:off x="4735449" y="292608"/>
            <a:ext cx="1322451" cy="45720"/>
          </a:xfrm>
          <a:prstGeom prst="rect">
            <a:avLst/>
          </a:prstGeom>
          <a:solidFill>
            <a:srgbClr val="C6CFCB"/>
          </a:solidFill>
          <a:ln w="12700">
            <a:solidFill>
              <a:srgbClr val="C6CFCB"/>
            </a:solidFill>
            <a:prstDash val="solid"/>
          </a:ln>
        </p:spPr>
      </p:sp>
      <p:sp>
        <p:nvSpPr>
          <p:cNvPr id="9" name="Text 7"/>
          <p:cNvSpPr txBox="1"/>
          <p:nvPr/>
        </p:nvSpPr>
        <p:spPr>
          <a:xfrm>
            <a:off x="4735449"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4  </a:t>
            </a:r>
            <a:pPr indent="0" marL="0">
              <a:buNone/>
            </a:pPr>
            <a:r>
              <a:rPr lang="en-US" sz="1000" dirty="0">
                <a:solidFill>
                  <a:srgbClr val="52616C"/>
                </a:solidFill>
                <a:latin typeface="Arial" pitchFamily="34" charset="0"/>
                <a:ea typeface="Arial" pitchFamily="34" charset="-122"/>
                <a:cs typeface="Arial" pitchFamily="34" charset="-120"/>
              </a:rPr>
              <a:t>Bootstrap</a:t>
            </a:r>
            <a:endParaRPr lang="en-US" sz="1000" dirty="0"/>
          </a:p>
        </p:txBody>
      </p:sp>
      <p:sp>
        <p:nvSpPr>
          <p:cNvPr id="10" name="Shape 8"/>
          <p:cNvSpPr/>
          <p:nvPr/>
        </p:nvSpPr>
        <p:spPr>
          <a:xfrm>
            <a:off x="6131052" y="292608"/>
            <a:ext cx="1322451" cy="45720"/>
          </a:xfrm>
          <a:prstGeom prst="rect">
            <a:avLst/>
          </a:prstGeom>
          <a:solidFill>
            <a:srgbClr val="C6CFCB"/>
          </a:solidFill>
          <a:ln w="12700">
            <a:solidFill>
              <a:srgbClr val="C6CFCB"/>
            </a:solidFill>
            <a:prstDash val="solid"/>
          </a:ln>
        </p:spPr>
      </p:sp>
      <p:sp>
        <p:nvSpPr>
          <p:cNvPr id="11" name="Text 9"/>
          <p:cNvSpPr txBox="1"/>
          <p:nvPr/>
        </p:nvSpPr>
        <p:spPr>
          <a:xfrm>
            <a:off x="6131052"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5  </a:t>
            </a:r>
            <a:pPr indent="0" marL="0">
              <a:buNone/>
            </a:pPr>
            <a:r>
              <a:rPr lang="en-US" sz="1000" dirty="0">
                <a:solidFill>
                  <a:srgbClr val="52616C"/>
                </a:solidFill>
                <a:latin typeface="Arial" pitchFamily="34" charset="0"/>
                <a:ea typeface="Arial" pitchFamily="34" charset="-122"/>
                <a:cs typeface="Arial" pitchFamily="34" charset="-120"/>
              </a:rPr>
              <a:t>Sélection</a:t>
            </a:r>
            <a:endParaRPr lang="en-US" sz="1000" dirty="0"/>
          </a:p>
        </p:txBody>
      </p:sp>
      <p:sp>
        <p:nvSpPr>
          <p:cNvPr id="12" name="Shape 10"/>
          <p:cNvSpPr/>
          <p:nvPr/>
        </p:nvSpPr>
        <p:spPr>
          <a:xfrm>
            <a:off x="7526655" y="292608"/>
            <a:ext cx="1322451" cy="45720"/>
          </a:xfrm>
          <a:prstGeom prst="rect">
            <a:avLst/>
          </a:prstGeom>
          <a:solidFill>
            <a:srgbClr val="C6CFCB"/>
          </a:solidFill>
          <a:ln w="12700">
            <a:solidFill>
              <a:srgbClr val="C6CFCB"/>
            </a:solidFill>
            <a:prstDash val="solid"/>
          </a:ln>
        </p:spPr>
      </p:sp>
      <p:sp>
        <p:nvSpPr>
          <p:cNvPr id="13" name="Text 11"/>
          <p:cNvSpPr txBox="1"/>
          <p:nvPr/>
        </p:nvSpPr>
        <p:spPr>
          <a:xfrm>
            <a:off x="7526655"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6  </a:t>
            </a:r>
            <a:pPr indent="0" marL="0">
              <a:buNone/>
            </a:pPr>
            <a:r>
              <a:rPr lang="en-US" sz="1000" dirty="0">
                <a:solidFill>
                  <a:srgbClr val="52616C"/>
                </a:solidFill>
                <a:latin typeface="Arial" pitchFamily="34" charset="0"/>
                <a:ea typeface="Arial" pitchFamily="34" charset="-122"/>
                <a:cs typeface="Arial" pitchFamily="34" charset="-120"/>
              </a:rPr>
              <a:t>Fusion</a:t>
            </a:r>
            <a:endParaRPr lang="en-US" sz="1000" dirty="0"/>
          </a:p>
        </p:txBody>
      </p:sp>
      <p:sp>
        <p:nvSpPr>
          <p:cNvPr id="14" name="Shape 12"/>
          <p:cNvSpPr/>
          <p:nvPr/>
        </p:nvSpPr>
        <p:spPr>
          <a:xfrm>
            <a:off x="8922258" y="292608"/>
            <a:ext cx="1322451" cy="45720"/>
          </a:xfrm>
          <a:prstGeom prst="rect">
            <a:avLst/>
          </a:prstGeom>
          <a:solidFill>
            <a:srgbClr val="C6CFCB"/>
          </a:solidFill>
          <a:ln w="12700">
            <a:solidFill>
              <a:srgbClr val="C6CFCB"/>
            </a:solidFill>
            <a:prstDash val="solid"/>
          </a:ln>
        </p:spPr>
      </p:sp>
      <p:sp>
        <p:nvSpPr>
          <p:cNvPr id="15" name="Text 13"/>
          <p:cNvSpPr txBox="1"/>
          <p:nvPr/>
        </p:nvSpPr>
        <p:spPr>
          <a:xfrm>
            <a:off x="8922258"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7  </a:t>
            </a:r>
            <a:pPr indent="0" marL="0">
              <a:buNone/>
            </a:pPr>
            <a:r>
              <a:rPr lang="en-US" sz="1000" dirty="0">
                <a:solidFill>
                  <a:srgbClr val="52616C"/>
                </a:solidFill>
                <a:latin typeface="Arial" pitchFamily="34" charset="0"/>
                <a:ea typeface="Arial" pitchFamily="34" charset="-122"/>
                <a:cs typeface="Arial" pitchFamily="34" charset="-120"/>
              </a:rPr>
              <a:t>Validation</a:t>
            </a:r>
            <a:endParaRPr lang="en-US" sz="1000" dirty="0"/>
          </a:p>
        </p:txBody>
      </p:sp>
      <p:sp>
        <p:nvSpPr>
          <p:cNvPr id="16" name="Shape 14"/>
          <p:cNvSpPr/>
          <p:nvPr/>
        </p:nvSpPr>
        <p:spPr>
          <a:xfrm>
            <a:off x="10317861" y="292608"/>
            <a:ext cx="1322451" cy="45720"/>
          </a:xfrm>
          <a:prstGeom prst="rect">
            <a:avLst/>
          </a:prstGeom>
          <a:solidFill>
            <a:srgbClr val="C6CFCB"/>
          </a:solidFill>
          <a:ln w="12700">
            <a:solidFill>
              <a:srgbClr val="C6CFCB"/>
            </a:solidFill>
            <a:prstDash val="solid"/>
          </a:ln>
        </p:spPr>
      </p:sp>
      <p:sp>
        <p:nvSpPr>
          <p:cNvPr id="17" name="Text 15"/>
          <p:cNvSpPr txBox="1"/>
          <p:nvPr/>
        </p:nvSpPr>
        <p:spPr>
          <a:xfrm>
            <a:off x="10317861"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8  </a:t>
            </a:r>
            <a:pPr indent="0" marL="0">
              <a:buNone/>
            </a:pPr>
            <a:r>
              <a:rPr lang="en-US" sz="1000" dirty="0">
                <a:solidFill>
                  <a:srgbClr val="52616C"/>
                </a:solidFill>
                <a:latin typeface="Arial" pitchFamily="34" charset="0"/>
                <a:ea typeface="Arial" pitchFamily="34" charset="-122"/>
                <a:cs typeface="Arial" pitchFamily="34" charset="-120"/>
              </a:rPr>
              <a:t>Production</a:t>
            </a:r>
            <a:endParaRPr lang="en-US" sz="1000" dirty="0"/>
          </a:p>
        </p:txBody>
      </p:sp>
      <p:sp>
        <p:nvSpPr>
          <p:cNvPr id="18" name="Text 16"/>
          <p:cNvSpPr txBox="1"/>
          <p:nvPr/>
        </p:nvSpPr>
        <p:spPr>
          <a:xfrm>
            <a:off x="548640" y="914400"/>
            <a:ext cx="10515600" cy="1097280"/>
          </a:xfrm>
          <a:prstGeom prst="rect">
            <a:avLst/>
          </a:prstGeom>
          <a:noFill/>
          <a:ln/>
        </p:spPr>
        <p:txBody>
          <a:bodyPr wrap="square" lIns="0" tIns="0" rIns="0" bIns="0" rtlCol="0" anchor="t"/>
          <a:lstStyle/>
          <a:p>
            <a:pPr indent="0" marL="0">
              <a:buNone/>
            </a:pPr>
            <a:r>
              <a:rPr lang="en-US" sz="3200" b="1" dirty="0">
                <a:solidFill>
                  <a:srgbClr val="14202A"/>
                </a:solidFill>
                <a:latin typeface="Arial" pitchFamily="34" charset="0"/>
                <a:ea typeface="Arial" pitchFamily="34" charset="-122"/>
                <a:cs typeface="Arial" pitchFamily="34" charset="-120"/>
              </a:rPr>
              <a:t>Trois paniers d'entrée, trois de sortie : neuf couples testés</a:t>
            </a:r>
            <a:endParaRPr lang="en-US" sz="3200" dirty="0"/>
          </a:p>
        </p:txBody>
      </p:sp>
      <p:sp>
        <p:nvSpPr>
          <p:cNvPr id="19" name="Shape 17"/>
          <p:cNvSpPr/>
          <p:nvPr/>
        </p:nvSpPr>
        <p:spPr>
          <a:xfrm>
            <a:off x="548640" y="2103120"/>
            <a:ext cx="5408676" cy="4114800"/>
          </a:xfrm>
          <a:prstGeom prst="rect">
            <a:avLst/>
          </a:prstGeom>
          <a:solidFill>
            <a:srgbClr val="F7F9F8"/>
          </a:solidFill>
          <a:ln w="9525">
            <a:solidFill>
              <a:srgbClr val="C6CFCB"/>
            </a:solidFill>
            <a:prstDash val="solid"/>
          </a:ln>
        </p:spPr>
      </p:sp>
      <p:sp>
        <p:nvSpPr>
          <p:cNvPr id="20" name="Text 18"/>
          <p:cNvSpPr txBox="1"/>
          <p:nvPr/>
        </p:nvSpPr>
        <p:spPr>
          <a:xfrm>
            <a:off x="822960" y="2331720"/>
            <a:ext cx="4860036" cy="411480"/>
          </a:xfrm>
          <a:prstGeom prst="rect">
            <a:avLst/>
          </a:prstGeom>
          <a:noFill/>
          <a:ln/>
        </p:spPr>
        <p:txBody>
          <a:bodyPr wrap="square" lIns="0" tIns="0" rIns="0" bIns="0" rtlCol="0" anchor="t"/>
          <a:lstStyle/>
          <a:p>
            <a:pPr indent="0" marL="0">
              <a:buNone/>
            </a:pPr>
            <a:r>
              <a:rPr lang="en-US" sz="1900" b="1" dirty="0">
                <a:solidFill>
                  <a:srgbClr val="0A7560"/>
                </a:solidFill>
                <a:latin typeface="Arial" pitchFamily="34" charset="0"/>
                <a:ea typeface="Arial" pitchFamily="34" charset="-122"/>
                <a:cs typeface="Arial" pitchFamily="34" charset="-120"/>
              </a:rPr>
              <a:t>Entrée, stricte</a:t>
            </a:r>
            <a:endParaRPr lang="en-US" sz="1900" dirty="0"/>
          </a:p>
        </p:txBody>
      </p:sp>
      <p:sp>
        <p:nvSpPr>
          <p:cNvPr id="21" name="Text 19"/>
          <p:cNvSpPr txBox="1"/>
          <p:nvPr/>
        </p:nvSpPr>
        <p:spPr>
          <a:xfrm>
            <a:off x="822960" y="2880360"/>
            <a:ext cx="4860036" cy="3200400"/>
          </a:xfrm>
          <a:prstGeom prst="rect">
            <a:avLst/>
          </a:prstGeom>
          <a:noFill/>
          <a:ln/>
        </p:spPr>
        <p:txBody>
          <a:bodyPr wrap="square" lIns="0" tIns="0" rIns="0" bIns="0" rtlCol="0" anchor="t"/>
          <a:lstStyle/>
          <a:p>
            <a:pPr indent="0" marL="0">
              <a:lnSpc>
                <a:spcPct val="112000"/>
              </a:lnSpc>
              <a:buNone/>
            </a:pPr>
            <a:r>
              <a:rPr lang="en-US" sz="1350" b="1" dirty="0">
                <a:solidFill>
                  <a:srgbClr val="14202A"/>
                </a:solidFill>
                <a:latin typeface="Arial" pitchFamily="34" charset="0"/>
                <a:ea typeface="Arial" pitchFamily="34" charset="-122"/>
                <a:cs typeface="Arial" pitchFamily="34" charset="-120"/>
              </a:rPr>
              <a:t>Barrières dures : </a:t>
            </a:r>
            <a:pPr indent="0" marL="0">
              <a:lnSpc>
                <a:spcPct val="112000"/>
              </a:lnSpc>
              <a:spcAft>
                <a:spcPts val="900"/>
              </a:spcAft>
              <a:buNone/>
            </a:pPr>
            <a:r>
              <a:rPr lang="en-US" sz="1350" dirty="0">
                <a:solidFill>
                  <a:srgbClr val="14202A"/>
                </a:solidFill>
                <a:latin typeface="Arial" pitchFamily="34" charset="0"/>
                <a:ea typeface="Arial" pitchFamily="34" charset="-122"/>
                <a:cs typeface="Arial" pitchFamily="34" charset="-120"/>
              </a:rPr>
              <a:t>pente de la moyenne &gt; 0, ATR en expansion, volume en expansion, proximité de la moyenne au-dessus du 40e percentile.</a:t>
            </a:r>
            <a:endParaRPr lang="en-US" sz="1350" dirty="0"/>
          </a:p>
          <a:p>
            <a:pPr indent="0" marL="0">
              <a:lnSpc>
                <a:spcPct val="112000"/>
              </a:lnSpc>
              <a:buNone/>
            </a:pPr>
            <a:r>
              <a:rPr lang="en-US" sz="1350" b="1" dirty="0">
                <a:solidFill>
                  <a:srgbClr val="14202A"/>
                </a:solidFill>
                <a:latin typeface="Arial" pitchFamily="34" charset="0"/>
                <a:ea typeface="Arial" pitchFamily="34" charset="-122"/>
                <a:cs typeface="Arial" pitchFamily="34" charset="-120"/>
              </a:rPr>
              <a:t>Score : </a:t>
            </a:r>
            <a:pPr indent="0" marL="0">
              <a:lnSpc>
                <a:spcPct val="112000"/>
              </a:lnSpc>
              <a:spcAft>
                <a:spcPts val="900"/>
              </a:spcAft>
              <a:buNone/>
            </a:pPr>
            <a:r>
              <a:rPr lang="en-US" sz="1350" dirty="0">
                <a:solidFill>
                  <a:srgbClr val="14202A"/>
                </a:solidFill>
                <a:latin typeface="Arial" pitchFamily="34" charset="0"/>
                <a:ea typeface="Arial" pitchFamily="34" charset="-122"/>
                <a:cs typeface="Arial" pitchFamily="34" charset="-120"/>
              </a:rPr>
              <a:t>momentum glissant, proximité en bande, pente, expansion et niveau de volatilité, expansion de volume.</a:t>
            </a:r>
            <a:endParaRPr lang="en-US" sz="1350" dirty="0"/>
          </a:p>
          <a:p>
            <a:pPr indent="0" marL="0">
              <a:lnSpc>
                <a:spcPct val="112000"/>
              </a:lnSpc>
              <a:buNone/>
            </a:pPr>
            <a:r>
              <a:rPr lang="en-US" sz="1350" b="1" dirty="0">
                <a:solidFill>
                  <a:srgbClr val="14202A"/>
                </a:solidFill>
                <a:latin typeface="Arial" pitchFamily="34" charset="0"/>
                <a:ea typeface="Arial" pitchFamily="34" charset="-122"/>
                <a:cs typeface="Arial" pitchFamily="34" charset="-120"/>
              </a:rPr>
              <a:t>E1 </a:t>
            </a:r>
            <a:pPr indent="0" marL="0">
              <a:lnSpc>
                <a:spcPct val="112000"/>
              </a:lnSpc>
              <a:spcAft>
                <a:spcPts val="900"/>
              </a:spcAft>
              <a:buNone/>
            </a:pPr>
            <a:r>
              <a:rPr lang="en-US" sz="1350" dirty="0">
                <a:solidFill>
                  <a:srgbClr val="14202A"/>
                </a:solidFill>
                <a:latin typeface="Arial" pitchFamily="34" charset="0"/>
                <a:ea typeface="Arial" pitchFamily="34" charset="-122"/>
                <a:cs typeface="Arial" pitchFamily="34" charset="-120"/>
              </a:rPr>
              <a:t>proximité de la moyenne</a:t>
            </a:r>
            <a:endParaRPr lang="en-US" sz="1350" dirty="0"/>
          </a:p>
          <a:p>
            <a:pPr indent="0" marL="0">
              <a:lnSpc>
                <a:spcPct val="112000"/>
              </a:lnSpc>
              <a:buNone/>
            </a:pPr>
            <a:r>
              <a:rPr lang="en-US" sz="1350" b="1" dirty="0">
                <a:solidFill>
                  <a:srgbClr val="14202A"/>
                </a:solidFill>
                <a:latin typeface="Arial" pitchFamily="34" charset="0"/>
                <a:ea typeface="Arial" pitchFamily="34" charset="-122"/>
                <a:cs typeface="Arial" pitchFamily="34" charset="-120"/>
              </a:rPr>
              <a:t>E2 </a:t>
            </a:r>
            <a:pPr indent="0" marL="0">
              <a:lnSpc>
                <a:spcPct val="112000"/>
              </a:lnSpc>
              <a:spcAft>
                <a:spcPts val="900"/>
              </a:spcAft>
              <a:buNone/>
            </a:pPr>
            <a:r>
              <a:rPr lang="en-US" sz="1350" dirty="0">
                <a:solidFill>
                  <a:srgbClr val="14202A"/>
                </a:solidFill>
                <a:latin typeface="Arial" pitchFamily="34" charset="0"/>
                <a:ea typeface="Arial" pitchFamily="34" charset="-122"/>
                <a:cs typeface="Arial" pitchFamily="34" charset="-120"/>
              </a:rPr>
              <a:t>optimum à +0,3 ATR au-dessus</a:t>
            </a:r>
            <a:endParaRPr lang="en-US" sz="1350" dirty="0"/>
          </a:p>
          <a:p>
            <a:pPr indent="0" marL="0">
              <a:lnSpc>
                <a:spcPct val="112000"/>
              </a:lnSpc>
              <a:buNone/>
            </a:pPr>
            <a:r>
              <a:rPr lang="en-US" sz="1350" b="1" dirty="0">
                <a:solidFill>
                  <a:srgbClr val="14202A"/>
                </a:solidFill>
                <a:latin typeface="Arial" pitchFamily="34" charset="0"/>
                <a:ea typeface="Arial" pitchFamily="34" charset="-122"/>
                <a:cs typeface="Arial" pitchFamily="34" charset="-120"/>
              </a:rPr>
              <a:t>E3 </a:t>
            </a:r>
            <a:pPr indent="0" marL="0">
              <a:lnSpc>
                <a:spcPct val="112000"/>
              </a:lnSpc>
              <a:spcAft>
                <a:spcPts val="900"/>
              </a:spcAft>
              <a:buNone/>
            </a:pPr>
            <a:r>
              <a:rPr lang="en-US" sz="1350" dirty="0">
                <a:solidFill>
                  <a:srgbClr val="14202A"/>
                </a:solidFill>
                <a:latin typeface="Arial" pitchFamily="34" charset="0"/>
                <a:ea typeface="Arial" pitchFamily="34" charset="-122"/>
                <a:cs typeface="Arial" pitchFamily="34" charset="-120"/>
              </a:rPr>
              <a:t>sans condition de volume</a:t>
            </a:r>
            <a:endParaRPr lang="en-US" sz="1350" dirty="0"/>
          </a:p>
        </p:txBody>
      </p:sp>
      <p:sp>
        <p:nvSpPr>
          <p:cNvPr id="22" name="Shape 20"/>
          <p:cNvSpPr/>
          <p:nvPr/>
        </p:nvSpPr>
        <p:spPr>
          <a:xfrm>
            <a:off x="6231636" y="2103120"/>
            <a:ext cx="5408676" cy="4114800"/>
          </a:xfrm>
          <a:prstGeom prst="rect">
            <a:avLst/>
          </a:prstGeom>
          <a:solidFill>
            <a:srgbClr val="F7F9F8"/>
          </a:solidFill>
          <a:ln w="9525">
            <a:solidFill>
              <a:srgbClr val="C6CFCB"/>
            </a:solidFill>
            <a:prstDash val="solid"/>
          </a:ln>
        </p:spPr>
      </p:sp>
      <p:sp>
        <p:nvSpPr>
          <p:cNvPr id="23" name="Text 21"/>
          <p:cNvSpPr txBox="1"/>
          <p:nvPr/>
        </p:nvSpPr>
        <p:spPr>
          <a:xfrm>
            <a:off x="6505956" y="2331720"/>
            <a:ext cx="4860036" cy="411480"/>
          </a:xfrm>
          <a:prstGeom prst="rect">
            <a:avLst/>
          </a:prstGeom>
          <a:noFill/>
          <a:ln/>
        </p:spPr>
        <p:txBody>
          <a:bodyPr wrap="square" lIns="0" tIns="0" rIns="0" bIns="0" rtlCol="0" anchor="t"/>
          <a:lstStyle/>
          <a:p>
            <a:pPr indent="0" marL="0">
              <a:buNone/>
            </a:pPr>
            <a:r>
              <a:rPr lang="en-US" sz="1900" b="1" dirty="0">
                <a:solidFill>
                  <a:srgbClr val="A35F12"/>
                </a:solidFill>
                <a:latin typeface="Arial" pitchFamily="34" charset="0"/>
                <a:ea typeface="Arial" pitchFamily="34" charset="-122"/>
                <a:cs typeface="Arial" pitchFamily="34" charset="-120"/>
              </a:rPr>
              <a:t>Sortie, souple</a:t>
            </a:r>
            <a:endParaRPr lang="en-US" sz="1900" dirty="0"/>
          </a:p>
        </p:txBody>
      </p:sp>
      <p:sp>
        <p:nvSpPr>
          <p:cNvPr id="24" name="Text 22"/>
          <p:cNvSpPr txBox="1"/>
          <p:nvPr/>
        </p:nvSpPr>
        <p:spPr>
          <a:xfrm>
            <a:off x="6505956" y="2880360"/>
            <a:ext cx="4860036" cy="3200400"/>
          </a:xfrm>
          <a:prstGeom prst="rect">
            <a:avLst/>
          </a:prstGeom>
          <a:noFill/>
          <a:ln/>
        </p:spPr>
        <p:txBody>
          <a:bodyPr wrap="square" lIns="0" tIns="0" rIns="0" bIns="0" rtlCol="0" anchor="t"/>
          <a:lstStyle/>
          <a:p>
            <a:pPr indent="0" marL="0">
              <a:lnSpc>
                <a:spcPct val="112000"/>
              </a:lnSpc>
              <a:buNone/>
            </a:pPr>
            <a:r>
              <a:rPr lang="en-US" sz="1350" b="1" dirty="0">
                <a:solidFill>
                  <a:srgbClr val="14202A"/>
                </a:solidFill>
                <a:latin typeface="Arial" pitchFamily="34" charset="0"/>
                <a:ea typeface="Arial" pitchFamily="34" charset="-122"/>
                <a:cs typeface="Arial" pitchFamily="34" charset="-120"/>
              </a:rPr>
              <a:t>Aucune barrière dure. </a:t>
            </a:r>
            <a:pPr indent="0" marL="0">
              <a:lnSpc>
                <a:spcPct val="112000"/>
              </a:lnSpc>
              <a:spcAft>
                <a:spcPts val="900"/>
              </a:spcAft>
              <a:buNone/>
            </a:pPr>
            <a:r>
              <a:rPr lang="en-US" sz="1350" dirty="0">
                <a:solidFill>
                  <a:srgbClr val="14202A"/>
                </a:solidFill>
                <a:latin typeface="Arial" pitchFamily="34" charset="0"/>
                <a:ea typeface="Arial" pitchFamily="34" charset="-122"/>
                <a:cs typeface="Arial" pitchFamily="34" charset="-120"/>
              </a:rPr>
              <a:t>La vente se déclenche quand le score de sortie dépasse un seuil réglable.</a:t>
            </a:r>
            <a:endParaRPr lang="en-US" sz="1350" dirty="0"/>
          </a:p>
          <a:p>
            <a:pPr indent="0" marL="0">
              <a:lnSpc>
                <a:spcPct val="112000"/>
              </a:lnSpc>
              <a:buNone/>
            </a:pPr>
            <a:r>
              <a:rPr lang="en-US" sz="1350" b="1" dirty="0">
                <a:solidFill>
                  <a:srgbClr val="14202A"/>
                </a:solidFill>
                <a:latin typeface="Arial" pitchFamily="34" charset="0"/>
                <a:ea typeface="Arial" pitchFamily="34" charset="-122"/>
                <a:cs typeface="Arial" pitchFamily="34" charset="-120"/>
              </a:rPr>
              <a:t>S1 </a:t>
            </a:r>
            <a:pPr indent="0" marL="0">
              <a:lnSpc>
                <a:spcPct val="112000"/>
              </a:lnSpc>
              <a:spcAft>
                <a:spcPts val="900"/>
              </a:spcAft>
              <a:buNone/>
            </a:pPr>
            <a:r>
              <a:rPr lang="en-US" sz="1350" dirty="0">
                <a:solidFill>
                  <a:srgbClr val="14202A"/>
                </a:solidFill>
                <a:latin typeface="Arial" pitchFamily="34" charset="0"/>
                <a:ea typeface="Arial" pitchFamily="34" charset="-122"/>
                <a:cs typeface="Arial" pitchFamily="34" charset="-120"/>
              </a:rPr>
              <a:t>retournement du momentum</a:t>
            </a:r>
            <a:endParaRPr lang="en-US" sz="1350" dirty="0"/>
          </a:p>
          <a:p>
            <a:pPr indent="0" marL="0">
              <a:lnSpc>
                <a:spcPct val="112000"/>
              </a:lnSpc>
              <a:buNone/>
            </a:pPr>
            <a:r>
              <a:rPr lang="en-US" sz="1350" b="1" dirty="0">
                <a:solidFill>
                  <a:srgbClr val="14202A"/>
                </a:solidFill>
                <a:latin typeface="Arial" pitchFamily="34" charset="0"/>
                <a:ea typeface="Arial" pitchFamily="34" charset="-122"/>
                <a:cs typeface="Arial" pitchFamily="34" charset="-120"/>
              </a:rPr>
              <a:t>S2 </a:t>
            </a:r>
            <a:pPr indent="0" marL="0">
              <a:lnSpc>
                <a:spcPct val="112000"/>
              </a:lnSpc>
              <a:spcAft>
                <a:spcPts val="900"/>
              </a:spcAft>
              <a:buNone/>
            </a:pPr>
            <a:r>
              <a:rPr lang="en-US" sz="1350" dirty="0">
                <a:solidFill>
                  <a:srgbClr val="14202A"/>
                </a:solidFill>
                <a:latin typeface="Arial" pitchFamily="34" charset="0"/>
                <a:ea typeface="Arial" pitchFamily="34" charset="-122"/>
                <a:cs typeface="Arial" pitchFamily="34" charset="-120"/>
              </a:rPr>
              <a:t>excès d'extension : on est allé loin, on prend</a:t>
            </a:r>
            <a:endParaRPr lang="en-US" sz="1350" dirty="0"/>
          </a:p>
          <a:p>
            <a:pPr indent="0" marL="0">
              <a:lnSpc>
                <a:spcPct val="112000"/>
              </a:lnSpc>
              <a:buNone/>
            </a:pPr>
            <a:r>
              <a:rPr lang="en-US" sz="1350" b="1" dirty="0">
                <a:solidFill>
                  <a:srgbClr val="14202A"/>
                </a:solidFill>
                <a:latin typeface="Arial" pitchFamily="34" charset="0"/>
                <a:ea typeface="Arial" pitchFamily="34" charset="-122"/>
                <a:cs typeface="Arial" pitchFamily="34" charset="-120"/>
              </a:rPr>
              <a:t>S3 </a:t>
            </a:r>
            <a:pPr indent="0" marL="0">
              <a:lnSpc>
                <a:spcPct val="112000"/>
              </a:lnSpc>
              <a:spcAft>
                <a:spcPts val="900"/>
              </a:spcAft>
              <a:buNone/>
            </a:pPr>
            <a:r>
              <a:rPr lang="en-US" sz="1350" dirty="0">
                <a:solidFill>
                  <a:srgbClr val="14202A"/>
                </a:solidFill>
                <a:latin typeface="Arial" pitchFamily="34" charset="0"/>
                <a:ea typeface="Arial" pitchFamily="34" charset="-122"/>
                <a:cs typeface="Arial" pitchFamily="34" charset="-120"/>
              </a:rPr>
              <a:t>les deux combinés</a:t>
            </a:r>
            <a:endParaRPr lang="en-US" sz="1350" dirty="0"/>
          </a:p>
          <a:p>
            <a:pPr indent="0" marL="0">
              <a:lnSpc>
                <a:spcPct val="112000"/>
              </a:lnSpc>
              <a:buNone/>
            </a:pPr>
            <a:r>
              <a:rPr lang="en-US" sz="1350" b="1" dirty="0">
                <a:solidFill>
                  <a:srgbClr val="14202A"/>
                </a:solidFill>
                <a:latin typeface="Arial" pitchFamily="34" charset="0"/>
                <a:ea typeface="Arial" pitchFamily="34" charset="-122"/>
                <a:cs typeface="Arial" pitchFamily="34" charset="-120"/>
              </a:rPr>
              <a:t>Option : </a:t>
            </a:r>
            <a:pPr indent="0" marL="0">
              <a:lnSpc>
                <a:spcPct val="112000"/>
              </a:lnSpc>
              <a:spcAft>
                <a:spcPts val="900"/>
              </a:spcAft>
              <a:buNone/>
            </a:pPr>
            <a:r>
              <a:rPr lang="en-US" sz="1350" dirty="0">
                <a:solidFill>
                  <a:srgbClr val="14202A"/>
                </a:solidFill>
                <a:latin typeface="Arial" pitchFamily="34" charset="0"/>
                <a:ea typeface="Arial" pitchFamily="34" charset="-122"/>
                <a:cs typeface="Arial" pitchFamily="34" charset="-120"/>
              </a:rPr>
              <a:t>sortie asymétrique, qui verrouille plus vite en gain. Désactivée par défaut, pour comparaison.</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F0EE"/>
        </a:solidFill>
      </p:bgPr>
    </p:bg>
    <p:spTree>
      <p:nvGrpSpPr>
        <p:cNvPr id="1" name=""/>
        <p:cNvGrpSpPr/>
        <p:nvPr/>
      </p:nvGrpSpPr>
      <p:grpSpPr>
        <a:xfrm>
          <a:off x="0" y="0"/>
          <a:ext cx="0" cy="0"/>
          <a:chOff x="0" y="0"/>
          <a:chExt cx="0" cy="0"/>
        </a:xfrm>
      </p:grpSpPr>
      <p:sp>
        <p:nvSpPr>
          <p:cNvPr id="2" name="Shape 0"/>
          <p:cNvSpPr/>
          <p:nvPr/>
        </p:nvSpPr>
        <p:spPr>
          <a:xfrm>
            <a:off x="548640" y="292608"/>
            <a:ext cx="1322451" cy="45720"/>
          </a:xfrm>
          <a:prstGeom prst="rect">
            <a:avLst/>
          </a:prstGeom>
          <a:solidFill>
            <a:srgbClr val="52616C"/>
          </a:solidFill>
          <a:ln w="12700">
            <a:solidFill>
              <a:srgbClr val="52616C"/>
            </a:solidFill>
            <a:prstDash val="solid"/>
          </a:ln>
        </p:spPr>
      </p:sp>
      <p:sp>
        <p:nvSpPr>
          <p:cNvPr id="3" name="Text 1"/>
          <p:cNvSpPr txBox="1"/>
          <p:nvPr/>
        </p:nvSpPr>
        <p:spPr>
          <a:xfrm>
            <a:off x="548640"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1  </a:t>
            </a:r>
            <a:pPr indent="0" marL="0">
              <a:buNone/>
            </a:pPr>
            <a:r>
              <a:rPr lang="en-US" sz="1000" dirty="0">
                <a:solidFill>
                  <a:srgbClr val="14202A"/>
                </a:solidFill>
                <a:latin typeface="Arial" pitchFamily="34" charset="0"/>
                <a:ea typeface="Arial" pitchFamily="34" charset="-122"/>
                <a:cs typeface="Arial" pitchFamily="34" charset="-120"/>
              </a:rPr>
              <a:t>Données</a:t>
            </a:r>
            <a:endParaRPr lang="en-US" sz="1000" dirty="0"/>
          </a:p>
        </p:txBody>
      </p:sp>
      <p:sp>
        <p:nvSpPr>
          <p:cNvPr id="4" name="Shape 2"/>
          <p:cNvSpPr/>
          <p:nvPr/>
        </p:nvSpPr>
        <p:spPr>
          <a:xfrm>
            <a:off x="1944243" y="292608"/>
            <a:ext cx="1322451" cy="45720"/>
          </a:xfrm>
          <a:prstGeom prst="rect">
            <a:avLst/>
          </a:prstGeom>
          <a:solidFill>
            <a:srgbClr val="52616C"/>
          </a:solidFill>
          <a:ln w="12700">
            <a:solidFill>
              <a:srgbClr val="52616C"/>
            </a:solidFill>
            <a:prstDash val="solid"/>
          </a:ln>
        </p:spPr>
      </p:sp>
      <p:sp>
        <p:nvSpPr>
          <p:cNvPr id="5" name="Text 3"/>
          <p:cNvSpPr txBox="1"/>
          <p:nvPr/>
        </p:nvSpPr>
        <p:spPr>
          <a:xfrm>
            <a:off x="1944243"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2  </a:t>
            </a:r>
            <a:pPr indent="0" marL="0">
              <a:buNone/>
            </a:pPr>
            <a:r>
              <a:rPr lang="en-US" sz="1000" dirty="0">
                <a:solidFill>
                  <a:srgbClr val="14202A"/>
                </a:solidFill>
                <a:latin typeface="Arial" pitchFamily="34" charset="0"/>
                <a:ea typeface="Arial" pitchFamily="34" charset="-122"/>
                <a:cs typeface="Arial" pitchFamily="34" charset="-120"/>
              </a:rPr>
              <a:t>Indicateurs</a:t>
            </a:r>
            <a:endParaRPr lang="en-US" sz="1000" dirty="0"/>
          </a:p>
        </p:txBody>
      </p:sp>
      <p:sp>
        <p:nvSpPr>
          <p:cNvPr id="6" name="Shape 4"/>
          <p:cNvSpPr/>
          <p:nvPr/>
        </p:nvSpPr>
        <p:spPr>
          <a:xfrm>
            <a:off x="3339846" y="292608"/>
            <a:ext cx="1322451" cy="45720"/>
          </a:xfrm>
          <a:prstGeom prst="rect">
            <a:avLst/>
          </a:prstGeom>
          <a:solidFill>
            <a:srgbClr val="52616C"/>
          </a:solidFill>
          <a:ln w="12700">
            <a:solidFill>
              <a:srgbClr val="52616C"/>
            </a:solidFill>
            <a:prstDash val="solid"/>
          </a:ln>
        </p:spPr>
      </p:sp>
      <p:sp>
        <p:nvSpPr>
          <p:cNvPr id="7" name="Text 5"/>
          <p:cNvSpPr txBox="1"/>
          <p:nvPr/>
        </p:nvSpPr>
        <p:spPr>
          <a:xfrm>
            <a:off x="3339846"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3  </a:t>
            </a:r>
            <a:pPr indent="0" marL="0">
              <a:buNone/>
            </a:pPr>
            <a:r>
              <a:rPr lang="en-US" sz="1000" dirty="0">
                <a:solidFill>
                  <a:srgbClr val="14202A"/>
                </a:solidFill>
                <a:latin typeface="Arial" pitchFamily="34" charset="0"/>
                <a:ea typeface="Arial" pitchFamily="34" charset="-122"/>
                <a:cs typeface="Arial" pitchFamily="34" charset="-120"/>
              </a:rPr>
              <a:t>Paniers</a:t>
            </a:r>
            <a:endParaRPr lang="en-US" sz="1000" dirty="0"/>
          </a:p>
        </p:txBody>
      </p:sp>
      <p:sp>
        <p:nvSpPr>
          <p:cNvPr id="8" name="Shape 6"/>
          <p:cNvSpPr/>
          <p:nvPr/>
        </p:nvSpPr>
        <p:spPr>
          <a:xfrm>
            <a:off x="4735449" y="278892"/>
            <a:ext cx="1322451" cy="73152"/>
          </a:xfrm>
          <a:prstGeom prst="rect">
            <a:avLst/>
          </a:prstGeom>
          <a:solidFill>
            <a:srgbClr val="0A7560"/>
          </a:solidFill>
          <a:ln w="12700">
            <a:solidFill>
              <a:srgbClr val="0A7560"/>
            </a:solidFill>
            <a:prstDash val="solid"/>
          </a:ln>
        </p:spPr>
      </p:sp>
      <p:sp>
        <p:nvSpPr>
          <p:cNvPr id="9" name="Text 7"/>
          <p:cNvSpPr txBox="1"/>
          <p:nvPr/>
        </p:nvSpPr>
        <p:spPr>
          <a:xfrm>
            <a:off x="4735449" y="402336"/>
            <a:ext cx="1322451" cy="237744"/>
          </a:xfrm>
          <a:prstGeom prst="rect">
            <a:avLst/>
          </a:prstGeom>
          <a:noFill/>
          <a:ln/>
        </p:spPr>
        <p:txBody>
          <a:bodyPr wrap="square" lIns="0" tIns="0" rIns="0" bIns="0" rtlCol="0" anchor="t"/>
          <a:lstStyle/>
          <a:p>
            <a:pPr indent="0" marL="0">
              <a:buNone/>
            </a:pPr>
            <a:r>
              <a:rPr lang="en-US" sz="1000" b="1" dirty="0">
                <a:solidFill>
                  <a:srgbClr val="0A7560"/>
                </a:solidFill>
                <a:latin typeface="Arial" pitchFamily="34" charset="0"/>
                <a:ea typeface="Arial" pitchFamily="34" charset="-122"/>
                <a:cs typeface="Arial" pitchFamily="34" charset="-120"/>
              </a:rPr>
              <a:t>4  </a:t>
            </a:r>
            <a:pPr indent="0" marL="0">
              <a:buNone/>
            </a:pPr>
            <a:r>
              <a:rPr lang="en-US" sz="1000" b="1" dirty="0">
                <a:solidFill>
                  <a:srgbClr val="0A7560"/>
                </a:solidFill>
                <a:latin typeface="Arial" pitchFamily="34" charset="0"/>
                <a:ea typeface="Arial" pitchFamily="34" charset="-122"/>
                <a:cs typeface="Arial" pitchFamily="34" charset="-120"/>
              </a:rPr>
              <a:t>Bootstrap</a:t>
            </a:r>
            <a:endParaRPr lang="en-US" sz="1000" dirty="0"/>
          </a:p>
        </p:txBody>
      </p:sp>
      <p:sp>
        <p:nvSpPr>
          <p:cNvPr id="10" name="Shape 8"/>
          <p:cNvSpPr/>
          <p:nvPr/>
        </p:nvSpPr>
        <p:spPr>
          <a:xfrm>
            <a:off x="6131052" y="292608"/>
            <a:ext cx="1322451" cy="45720"/>
          </a:xfrm>
          <a:prstGeom prst="rect">
            <a:avLst/>
          </a:prstGeom>
          <a:solidFill>
            <a:srgbClr val="C6CFCB"/>
          </a:solidFill>
          <a:ln w="12700">
            <a:solidFill>
              <a:srgbClr val="C6CFCB"/>
            </a:solidFill>
            <a:prstDash val="solid"/>
          </a:ln>
        </p:spPr>
      </p:sp>
      <p:sp>
        <p:nvSpPr>
          <p:cNvPr id="11" name="Text 9"/>
          <p:cNvSpPr txBox="1"/>
          <p:nvPr/>
        </p:nvSpPr>
        <p:spPr>
          <a:xfrm>
            <a:off x="6131052"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5  </a:t>
            </a:r>
            <a:pPr indent="0" marL="0">
              <a:buNone/>
            </a:pPr>
            <a:r>
              <a:rPr lang="en-US" sz="1000" dirty="0">
                <a:solidFill>
                  <a:srgbClr val="52616C"/>
                </a:solidFill>
                <a:latin typeface="Arial" pitchFamily="34" charset="0"/>
                <a:ea typeface="Arial" pitchFamily="34" charset="-122"/>
                <a:cs typeface="Arial" pitchFamily="34" charset="-120"/>
              </a:rPr>
              <a:t>Sélection</a:t>
            </a:r>
            <a:endParaRPr lang="en-US" sz="1000" dirty="0"/>
          </a:p>
        </p:txBody>
      </p:sp>
      <p:sp>
        <p:nvSpPr>
          <p:cNvPr id="12" name="Shape 10"/>
          <p:cNvSpPr/>
          <p:nvPr/>
        </p:nvSpPr>
        <p:spPr>
          <a:xfrm>
            <a:off x="7526655" y="292608"/>
            <a:ext cx="1322451" cy="45720"/>
          </a:xfrm>
          <a:prstGeom prst="rect">
            <a:avLst/>
          </a:prstGeom>
          <a:solidFill>
            <a:srgbClr val="C6CFCB"/>
          </a:solidFill>
          <a:ln w="12700">
            <a:solidFill>
              <a:srgbClr val="C6CFCB"/>
            </a:solidFill>
            <a:prstDash val="solid"/>
          </a:ln>
        </p:spPr>
      </p:sp>
      <p:sp>
        <p:nvSpPr>
          <p:cNvPr id="13" name="Text 11"/>
          <p:cNvSpPr txBox="1"/>
          <p:nvPr/>
        </p:nvSpPr>
        <p:spPr>
          <a:xfrm>
            <a:off x="7526655"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6  </a:t>
            </a:r>
            <a:pPr indent="0" marL="0">
              <a:buNone/>
            </a:pPr>
            <a:r>
              <a:rPr lang="en-US" sz="1000" dirty="0">
                <a:solidFill>
                  <a:srgbClr val="52616C"/>
                </a:solidFill>
                <a:latin typeface="Arial" pitchFamily="34" charset="0"/>
                <a:ea typeface="Arial" pitchFamily="34" charset="-122"/>
                <a:cs typeface="Arial" pitchFamily="34" charset="-120"/>
              </a:rPr>
              <a:t>Fusion</a:t>
            </a:r>
            <a:endParaRPr lang="en-US" sz="1000" dirty="0"/>
          </a:p>
        </p:txBody>
      </p:sp>
      <p:sp>
        <p:nvSpPr>
          <p:cNvPr id="14" name="Shape 12"/>
          <p:cNvSpPr/>
          <p:nvPr/>
        </p:nvSpPr>
        <p:spPr>
          <a:xfrm>
            <a:off x="8922258" y="292608"/>
            <a:ext cx="1322451" cy="45720"/>
          </a:xfrm>
          <a:prstGeom prst="rect">
            <a:avLst/>
          </a:prstGeom>
          <a:solidFill>
            <a:srgbClr val="C6CFCB"/>
          </a:solidFill>
          <a:ln w="12700">
            <a:solidFill>
              <a:srgbClr val="C6CFCB"/>
            </a:solidFill>
            <a:prstDash val="solid"/>
          </a:ln>
        </p:spPr>
      </p:sp>
      <p:sp>
        <p:nvSpPr>
          <p:cNvPr id="15" name="Text 13"/>
          <p:cNvSpPr txBox="1"/>
          <p:nvPr/>
        </p:nvSpPr>
        <p:spPr>
          <a:xfrm>
            <a:off x="8922258"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7  </a:t>
            </a:r>
            <a:pPr indent="0" marL="0">
              <a:buNone/>
            </a:pPr>
            <a:r>
              <a:rPr lang="en-US" sz="1000" dirty="0">
                <a:solidFill>
                  <a:srgbClr val="52616C"/>
                </a:solidFill>
                <a:latin typeface="Arial" pitchFamily="34" charset="0"/>
                <a:ea typeface="Arial" pitchFamily="34" charset="-122"/>
                <a:cs typeface="Arial" pitchFamily="34" charset="-120"/>
              </a:rPr>
              <a:t>Validation</a:t>
            </a:r>
            <a:endParaRPr lang="en-US" sz="1000" dirty="0"/>
          </a:p>
        </p:txBody>
      </p:sp>
      <p:sp>
        <p:nvSpPr>
          <p:cNvPr id="16" name="Shape 14"/>
          <p:cNvSpPr/>
          <p:nvPr/>
        </p:nvSpPr>
        <p:spPr>
          <a:xfrm>
            <a:off x="10317861" y="292608"/>
            <a:ext cx="1322451" cy="45720"/>
          </a:xfrm>
          <a:prstGeom prst="rect">
            <a:avLst/>
          </a:prstGeom>
          <a:solidFill>
            <a:srgbClr val="C6CFCB"/>
          </a:solidFill>
          <a:ln w="12700">
            <a:solidFill>
              <a:srgbClr val="C6CFCB"/>
            </a:solidFill>
            <a:prstDash val="solid"/>
          </a:ln>
        </p:spPr>
      </p:sp>
      <p:sp>
        <p:nvSpPr>
          <p:cNvPr id="17" name="Text 15"/>
          <p:cNvSpPr txBox="1"/>
          <p:nvPr/>
        </p:nvSpPr>
        <p:spPr>
          <a:xfrm>
            <a:off x="10317861"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8  </a:t>
            </a:r>
            <a:pPr indent="0" marL="0">
              <a:buNone/>
            </a:pPr>
            <a:r>
              <a:rPr lang="en-US" sz="1000" dirty="0">
                <a:solidFill>
                  <a:srgbClr val="52616C"/>
                </a:solidFill>
                <a:latin typeface="Arial" pitchFamily="34" charset="0"/>
                <a:ea typeface="Arial" pitchFamily="34" charset="-122"/>
                <a:cs typeface="Arial" pitchFamily="34" charset="-120"/>
              </a:rPr>
              <a:t>Production</a:t>
            </a:r>
            <a:endParaRPr lang="en-US" sz="1000" dirty="0"/>
          </a:p>
        </p:txBody>
      </p:sp>
      <p:sp>
        <p:nvSpPr>
          <p:cNvPr id="18" name="Text 16"/>
          <p:cNvSpPr txBox="1"/>
          <p:nvPr/>
        </p:nvSpPr>
        <p:spPr>
          <a:xfrm>
            <a:off x="548640" y="914400"/>
            <a:ext cx="10515600" cy="1097280"/>
          </a:xfrm>
          <a:prstGeom prst="rect">
            <a:avLst/>
          </a:prstGeom>
          <a:noFill/>
          <a:ln/>
        </p:spPr>
        <p:txBody>
          <a:bodyPr wrap="square" lIns="0" tIns="0" rIns="0" bIns="0" rtlCol="0" anchor="t"/>
          <a:lstStyle/>
          <a:p>
            <a:pPr indent="0" marL="0">
              <a:buNone/>
            </a:pPr>
            <a:r>
              <a:rPr lang="en-US" sz="3200" b="1" dirty="0">
                <a:solidFill>
                  <a:srgbClr val="14202A"/>
                </a:solidFill>
                <a:latin typeface="Arial" pitchFamily="34" charset="0"/>
                <a:ea typeface="Arial" pitchFamily="34" charset="-122"/>
                <a:cs typeface="Arial" pitchFamily="34" charset="-120"/>
              </a:rPr>
              <a:t>Décider sur la clôture, exécuter à l'ouverture suivante</a:t>
            </a:r>
            <a:endParaRPr lang="en-US" sz="3200" dirty="0"/>
          </a:p>
        </p:txBody>
      </p:sp>
      <p:sp>
        <p:nvSpPr>
          <p:cNvPr id="19" name="Shape 17"/>
          <p:cNvSpPr/>
          <p:nvPr/>
        </p:nvSpPr>
        <p:spPr>
          <a:xfrm>
            <a:off x="731520" y="2331720"/>
            <a:ext cx="7863840" cy="0"/>
          </a:xfrm>
          <a:prstGeom prst="line">
            <a:avLst/>
          </a:prstGeom>
          <a:noFill/>
          <a:ln w="38100">
            <a:solidFill>
              <a:srgbClr val="14202A"/>
            </a:solidFill>
            <a:prstDash val="solid"/>
          </a:ln>
        </p:spPr>
      </p:sp>
      <p:sp>
        <p:nvSpPr>
          <p:cNvPr id="20" name="Shape 18"/>
          <p:cNvSpPr/>
          <p:nvPr/>
        </p:nvSpPr>
        <p:spPr>
          <a:xfrm>
            <a:off x="594360" y="2194560"/>
            <a:ext cx="274320" cy="274320"/>
          </a:xfrm>
          <a:prstGeom prst="ellipse">
            <a:avLst/>
          </a:prstGeom>
          <a:solidFill>
            <a:srgbClr val="EDF0EE"/>
          </a:solidFill>
          <a:ln w="44450">
            <a:solidFill>
              <a:srgbClr val="14202A"/>
            </a:solidFill>
            <a:prstDash val="solid"/>
          </a:ln>
        </p:spPr>
      </p:sp>
      <p:sp>
        <p:nvSpPr>
          <p:cNvPr id="21" name="Text 19"/>
          <p:cNvSpPr txBox="1"/>
          <p:nvPr/>
        </p:nvSpPr>
        <p:spPr>
          <a:xfrm>
            <a:off x="594360" y="2606040"/>
            <a:ext cx="2560320" cy="365760"/>
          </a:xfrm>
          <a:prstGeom prst="rect">
            <a:avLst/>
          </a:prstGeom>
          <a:noFill/>
          <a:ln/>
        </p:spPr>
        <p:txBody>
          <a:bodyPr wrap="square" lIns="0" tIns="0" rIns="0" bIns="0" rtlCol="0" anchor="t"/>
          <a:lstStyle/>
          <a:p>
            <a:pPr indent="0" marL="0">
              <a:buNone/>
            </a:pPr>
            <a:r>
              <a:rPr lang="en-US" sz="1600" b="1" dirty="0">
                <a:solidFill>
                  <a:srgbClr val="14202A"/>
                </a:solidFill>
                <a:latin typeface="Arial" pitchFamily="34" charset="0"/>
                <a:ea typeface="Arial" pitchFamily="34" charset="-122"/>
                <a:cs typeface="Arial" pitchFamily="34" charset="-120"/>
              </a:rPr>
              <a:t>Clôture J</a:t>
            </a:r>
            <a:endParaRPr lang="en-US" sz="1600" dirty="0"/>
          </a:p>
        </p:txBody>
      </p:sp>
      <p:sp>
        <p:nvSpPr>
          <p:cNvPr id="22" name="Text 20"/>
          <p:cNvSpPr txBox="1"/>
          <p:nvPr/>
        </p:nvSpPr>
        <p:spPr>
          <a:xfrm>
            <a:off x="594360" y="2971800"/>
            <a:ext cx="2560320" cy="365760"/>
          </a:xfrm>
          <a:prstGeom prst="rect">
            <a:avLst/>
          </a:prstGeom>
          <a:noFill/>
          <a:ln/>
        </p:spPr>
        <p:txBody>
          <a:bodyPr wrap="square" lIns="0" tIns="0" rIns="0" bIns="0" rtlCol="0" anchor="t"/>
          <a:lstStyle/>
          <a:p>
            <a:pPr indent="0" marL="0">
              <a:buNone/>
            </a:pPr>
            <a:r>
              <a:rPr lang="en-US" sz="1250" dirty="0">
                <a:solidFill>
                  <a:srgbClr val="52616C"/>
                </a:solidFill>
                <a:latin typeface="Arial" pitchFamily="34" charset="0"/>
                <a:ea typeface="Arial" pitchFamily="34" charset="-122"/>
                <a:cs typeface="Arial" pitchFamily="34" charset="-120"/>
              </a:rPr>
              <a:t>Calcul des scores, décision</a:t>
            </a:r>
            <a:endParaRPr lang="en-US" sz="1250" dirty="0"/>
          </a:p>
        </p:txBody>
      </p:sp>
      <p:sp>
        <p:nvSpPr>
          <p:cNvPr id="23" name="Shape 21"/>
          <p:cNvSpPr/>
          <p:nvPr/>
        </p:nvSpPr>
        <p:spPr>
          <a:xfrm>
            <a:off x="3337560" y="2194560"/>
            <a:ext cx="274320" cy="274320"/>
          </a:xfrm>
          <a:prstGeom prst="ellipse">
            <a:avLst/>
          </a:prstGeom>
          <a:solidFill>
            <a:srgbClr val="EDF0EE"/>
          </a:solidFill>
          <a:ln w="44450">
            <a:solidFill>
              <a:srgbClr val="0A7560"/>
            </a:solidFill>
            <a:prstDash val="solid"/>
          </a:ln>
        </p:spPr>
      </p:sp>
      <p:sp>
        <p:nvSpPr>
          <p:cNvPr id="24" name="Text 22"/>
          <p:cNvSpPr txBox="1"/>
          <p:nvPr/>
        </p:nvSpPr>
        <p:spPr>
          <a:xfrm>
            <a:off x="3337560" y="2606040"/>
            <a:ext cx="2560320" cy="365760"/>
          </a:xfrm>
          <a:prstGeom prst="rect">
            <a:avLst/>
          </a:prstGeom>
          <a:noFill/>
          <a:ln/>
        </p:spPr>
        <p:txBody>
          <a:bodyPr wrap="square" lIns="0" tIns="0" rIns="0" bIns="0" rtlCol="0" anchor="t"/>
          <a:lstStyle/>
          <a:p>
            <a:pPr indent="0" marL="0">
              <a:buNone/>
            </a:pPr>
            <a:r>
              <a:rPr lang="en-US" sz="1600" b="1" dirty="0">
                <a:solidFill>
                  <a:srgbClr val="0A7560"/>
                </a:solidFill>
                <a:latin typeface="Arial" pitchFamily="34" charset="0"/>
                <a:ea typeface="Arial" pitchFamily="34" charset="-122"/>
                <a:cs typeface="Arial" pitchFamily="34" charset="-120"/>
              </a:rPr>
              <a:t>Ouverture J+1</a:t>
            </a:r>
            <a:endParaRPr lang="en-US" sz="1600" dirty="0"/>
          </a:p>
        </p:txBody>
      </p:sp>
      <p:sp>
        <p:nvSpPr>
          <p:cNvPr id="25" name="Text 23"/>
          <p:cNvSpPr txBox="1"/>
          <p:nvPr/>
        </p:nvSpPr>
        <p:spPr>
          <a:xfrm>
            <a:off x="3337560" y="2971800"/>
            <a:ext cx="2560320" cy="365760"/>
          </a:xfrm>
          <a:prstGeom prst="rect">
            <a:avLst/>
          </a:prstGeom>
          <a:noFill/>
          <a:ln/>
        </p:spPr>
        <p:txBody>
          <a:bodyPr wrap="square" lIns="0" tIns="0" rIns="0" bIns="0" rtlCol="0" anchor="t"/>
          <a:lstStyle/>
          <a:p>
            <a:pPr indent="0" marL="0">
              <a:buNone/>
            </a:pPr>
            <a:r>
              <a:rPr lang="en-US" sz="1250" dirty="0">
                <a:solidFill>
                  <a:srgbClr val="52616C"/>
                </a:solidFill>
                <a:latin typeface="Arial" pitchFamily="34" charset="0"/>
                <a:ea typeface="Arial" pitchFamily="34" charset="-122"/>
                <a:cs typeface="Arial" pitchFamily="34" charset="-120"/>
              </a:rPr>
              <a:t>Exécution au prix observé</a:t>
            </a:r>
            <a:endParaRPr lang="en-US" sz="1250" dirty="0"/>
          </a:p>
        </p:txBody>
      </p:sp>
      <p:sp>
        <p:nvSpPr>
          <p:cNvPr id="26" name="Shape 24"/>
          <p:cNvSpPr/>
          <p:nvPr/>
        </p:nvSpPr>
        <p:spPr>
          <a:xfrm>
            <a:off x="6080760" y="2194560"/>
            <a:ext cx="274320" cy="274320"/>
          </a:xfrm>
          <a:prstGeom prst="ellipse">
            <a:avLst/>
          </a:prstGeom>
          <a:solidFill>
            <a:srgbClr val="EDF0EE"/>
          </a:solidFill>
          <a:ln w="44450">
            <a:solidFill>
              <a:srgbClr val="A35F12"/>
            </a:solidFill>
            <a:prstDash val="solid"/>
          </a:ln>
        </p:spPr>
      </p:sp>
      <p:sp>
        <p:nvSpPr>
          <p:cNvPr id="27" name="Text 25"/>
          <p:cNvSpPr txBox="1"/>
          <p:nvPr/>
        </p:nvSpPr>
        <p:spPr>
          <a:xfrm>
            <a:off x="6080760" y="2606040"/>
            <a:ext cx="2560320" cy="365760"/>
          </a:xfrm>
          <a:prstGeom prst="rect">
            <a:avLst/>
          </a:prstGeom>
          <a:noFill/>
          <a:ln/>
        </p:spPr>
        <p:txBody>
          <a:bodyPr wrap="square" lIns="0" tIns="0" rIns="0" bIns="0" rtlCol="0" anchor="t"/>
          <a:lstStyle/>
          <a:p>
            <a:pPr indent="0" marL="0">
              <a:buNone/>
            </a:pPr>
            <a:r>
              <a:rPr lang="en-US" sz="1600" b="1" dirty="0">
                <a:solidFill>
                  <a:srgbClr val="A35F12"/>
                </a:solidFill>
                <a:latin typeface="Arial" pitchFamily="34" charset="0"/>
                <a:ea typeface="Arial" pitchFamily="34" charset="-122"/>
                <a:cs typeface="Arial" pitchFamily="34" charset="-120"/>
              </a:rPr>
              <a:t>En séance</a:t>
            </a:r>
            <a:endParaRPr lang="en-US" sz="1600" dirty="0"/>
          </a:p>
        </p:txBody>
      </p:sp>
      <p:sp>
        <p:nvSpPr>
          <p:cNvPr id="28" name="Text 26"/>
          <p:cNvSpPr txBox="1"/>
          <p:nvPr/>
        </p:nvSpPr>
        <p:spPr>
          <a:xfrm>
            <a:off x="6080760" y="2971800"/>
            <a:ext cx="2560320" cy="365760"/>
          </a:xfrm>
          <a:prstGeom prst="rect">
            <a:avLst/>
          </a:prstGeom>
          <a:noFill/>
          <a:ln/>
        </p:spPr>
        <p:txBody>
          <a:bodyPr wrap="square" lIns="0" tIns="0" rIns="0" bIns="0" rtlCol="0" anchor="t"/>
          <a:lstStyle/>
          <a:p>
            <a:pPr indent="0" marL="0">
              <a:buNone/>
            </a:pPr>
            <a:r>
              <a:rPr lang="en-US" sz="1250" dirty="0">
                <a:solidFill>
                  <a:srgbClr val="52616C"/>
                </a:solidFill>
                <a:latin typeface="Arial" pitchFamily="34" charset="0"/>
                <a:ea typeface="Arial" pitchFamily="34" charset="-122"/>
                <a:cs typeface="Arial" pitchFamily="34" charset="-120"/>
              </a:rPr>
              <a:t>Stop testé sur le plus bas du jour</a:t>
            </a:r>
            <a:endParaRPr lang="en-US" sz="1250" dirty="0"/>
          </a:p>
        </p:txBody>
      </p:sp>
      <p:sp>
        <p:nvSpPr>
          <p:cNvPr id="29" name="Text 27"/>
          <p:cNvSpPr txBox="1"/>
          <p:nvPr/>
        </p:nvSpPr>
        <p:spPr>
          <a:xfrm>
            <a:off x="548640" y="3611880"/>
            <a:ext cx="5486400" cy="2651760"/>
          </a:xfrm>
          <a:prstGeom prst="rect">
            <a:avLst/>
          </a:prstGeom>
          <a:noFill/>
          <a:ln/>
        </p:spPr>
        <p:txBody>
          <a:bodyPr wrap="square" lIns="0" tIns="0" rIns="0" bIns="0" rtlCol="0" anchor="t"/>
          <a:lstStyle/>
          <a:p>
            <a:pPr indent="0" marL="0">
              <a:lnSpc>
                <a:spcPct val="112000"/>
              </a:lnSpc>
              <a:buNone/>
            </a:pPr>
            <a:r>
              <a:rPr lang="en-US" sz="1450" b="1" dirty="0">
                <a:solidFill>
                  <a:srgbClr val="14202A"/>
                </a:solidFill>
                <a:latin typeface="Arial" pitchFamily="34" charset="0"/>
                <a:ea typeface="Arial" pitchFamily="34" charset="-122"/>
                <a:cs typeface="Arial" pitchFamily="34" charset="-120"/>
              </a:rPr>
              <a:t>Stop-loss à 2,5 ATR, </a:t>
            </a:r>
            <a:pPr indent="0" marL="0">
              <a:lnSpc>
                <a:spcPct val="112000"/>
              </a:lnSpc>
              <a:spcAft>
                <a:spcPts val="900"/>
              </a:spcAft>
              <a:buNone/>
            </a:pPr>
            <a:r>
              <a:rPr lang="en-US" sz="1450" dirty="0">
                <a:solidFill>
                  <a:srgbClr val="14202A"/>
                </a:solidFill>
                <a:latin typeface="Arial" pitchFamily="34" charset="0"/>
                <a:ea typeface="Arial" pitchFamily="34" charset="-122"/>
                <a:cs typeface="Arial" pitchFamily="34" charset="-120"/>
              </a:rPr>
              <a:t>prioritaire sur tout signal. En cas de gap, on subit l'ouverture.</a:t>
            </a:r>
            <a:endParaRPr lang="en-US" sz="1450" dirty="0"/>
          </a:p>
          <a:p>
            <a:pPr indent="0" marL="0">
              <a:lnSpc>
                <a:spcPct val="112000"/>
              </a:lnSpc>
              <a:buNone/>
            </a:pPr>
            <a:r>
              <a:rPr lang="en-US" sz="1450" b="1" dirty="0">
                <a:solidFill>
                  <a:srgbClr val="14202A"/>
                </a:solidFill>
                <a:latin typeface="Arial" pitchFamily="34" charset="0"/>
                <a:ea typeface="Arial" pitchFamily="34" charset="-122"/>
                <a:cs typeface="Arial" pitchFamily="34" charset="-120"/>
              </a:rPr>
              <a:t>5 lignes au plus, </a:t>
            </a:r>
            <a:pPr indent="0" marL="0">
              <a:lnSpc>
                <a:spcPct val="112000"/>
              </a:lnSpc>
              <a:spcAft>
                <a:spcPts val="900"/>
              </a:spcAft>
              <a:buNone/>
            </a:pPr>
            <a:r>
              <a:rPr lang="en-US" sz="1450" dirty="0">
                <a:solidFill>
                  <a:srgbClr val="14202A"/>
                </a:solidFill>
                <a:latin typeface="Arial" pitchFamily="34" charset="0"/>
                <a:ea typeface="Arial" pitchFamily="34" charset="-122"/>
                <a:cs typeface="Arial" pitchFamily="34" charset="-120"/>
              </a:rPr>
              <a:t>plafond de 25 % par ligne, jamais de levier.</a:t>
            </a:r>
            <a:endParaRPr lang="en-US" sz="1450" dirty="0"/>
          </a:p>
          <a:p>
            <a:pPr indent="0" marL="0">
              <a:lnSpc>
                <a:spcPct val="112000"/>
              </a:lnSpc>
              <a:buNone/>
            </a:pPr>
            <a:r>
              <a:rPr lang="en-US" sz="1450" b="1" dirty="0">
                <a:solidFill>
                  <a:srgbClr val="14202A"/>
                </a:solidFill>
                <a:latin typeface="Arial" pitchFamily="34" charset="0"/>
                <a:ea typeface="Arial" pitchFamily="34" charset="-122"/>
                <a:cs typeface="Arial" pitchFamily="34" charset="-120"/>
              </a:rPr>
              <a:t>Titres entiers, </a:t>
            </a:r>
            <a:pPr indent="0" marL="0">
              <a:lnSpc>
                <a:spcPct val="112000"/>
              </a:lnSpc>
              <a:spcAft>
                <a:spcPts val="900"/>
              </a:spcAft>
              <a:buNone/>
            </a:pPr>
            <a:r>
              <a:rPr lang="en-US" sz="1450" dirty="0">
                <a:solidFill>
                  <a:srgbClr val="14202A"/>
                </a:solidFill>
                <a:latin typeface="Arial" pitchFamily="34" charset="0"/>
                <a:ea typeface="Arial" pitchFamily="34" charset="-122"/>
                <a:cs typeface="Arial" pitchFamily="34" charset="-120"/>
              </a:rPr>
              <a:t>arrondi toujours vers le bas. Frais de 10 pb par aller simple.</a:t>
            </a:r>
            <a:endParaRPr lang="en-US" sz="1450" dirty="0"/>
          </a:p>
        </p:txBody>
      </p:sp>
      <p:sp>
        <p:nvSpPr>
          <p:cNvPr id="30" name="Shape 28"/>
          <p:cNvSpPr/>
          <p:nvPr/>
        </p:nvSpPr>
        <p:spPr>
          <a:xfrm>
            <a:off x="6400800" y="3520440"/>
            <a:ext cx="5239512" cy="2697480"/>
          </a:xfrm>
          <a:prstGeom prst="rect">
            <a:avLst/>
          </a:prstGeom>
          <a:solidFill>
            <a:srgbClr val="D2E8E1"/>
          </a:solidFill>
          <a:ln w="12700">
            <a:solidFill>
              <a:srgbClr val="D2E8E1"/>
            </a:solidFill>
            <a:prstDash val="solid"/>
          </a:ln>
        </p:spPr>
      </p:sp>
      <p:sp>
        <p:nvSpPr>
          <p:cNvPr id="31" name="Text 29"/>
          <p:cNvSpPr txBox="1"/>
          <p:nvPr/>
        </p:nvSpPr>
        <p:spPr>
          <a:xfrm>
            <a:off x="6675120" y="3703320"/>
            <a:ext cx="4754880" cy="365760"/>
          </a:xfrm>
          <a:prstGeom prst="rect">
            <a:avLst/>
          </a:prstGeom>
          <a:noFill/>
          <a:ln/>
        </p:spPr>
        <p:txBody>
          <a:bodyPr wrap="square" lIns="0" tIns="0" rIns="0" bIns="0" rtlCol="0" anchor="t"/>
          <a:lstStyle/>
          <a:p>
            <a:pPr indent="0" marL="0">
              <a:buNone/>
            </a:pPr>
            <a:r>
              <a:rPr lang="en-US" sz="1600" b="1" dirty="0">
                <a:solidFill>
                  <a:srgbClr val="0A7560"/>
                </a:solidFill>
                <a:latin typeface="Arial" pitchFamily="34" charset="0"/>
                <a:ea typeface="Arial" pitchFamily="34" charset="-122"/>
                <a:cs typeface="Arial" pitchFamily="34" charset="-120"/>
              </a:rPr>
              <a:t>Allocation inverse-volatilité</a:t>
            </a:r>
            <a:endParaRPr lang="en-US" sz="1600" dirty="0"/>
          </a:p>
        </p:txBody>
      </p:sp>
      <p:sp>
        <p:nvSpPr>
          <p:cNvPr id="32" name="Text 30"/>
          <p:cNvSpPr txBox="1"/>
          <p:nvPr/>
        </p:nvSpPr>
        <p:spPr>
          <a:xfrm>
            <a:off x="6675120" y="4160520"/>
            <a:ext cx="4754880" cy="777240"/>
          </a:xfrm>
          <a:prstGeom prst="rect">
            <a:avLst/>
          </a:prstGeom>
          <a:noFill/>
          <a:ln/>
        </p:spPr>
        <p:txBody>
          <a:bodyPr wrap="square" lIns="0" tIns="0" rIns="0" bIns="0" rtlCol="0" anchor="t"/>
          <a:lstStyle/>
          <a:p>
            <a:pPr indent="0" marL="0">
              <a:buNone/>
            </a:pPr>
            <a:r>
              <a:rPr lang="en-US" sz="1500" b="1" dirty="0">
                <a:solidFill>
                  <a:srgbClr val="14202A"/>
                </a:solidFill>
                <a:latin typeface="Arial" pitchFamily="34" charset="0"/>
                <a:ea typeface="Arial" pitchFamily="34" charset="-122"/>
                <a:cs typeface="Arial" pitchFamily="34" charset="-120"/>
              </a:rPr>
              <a:t>risque = capital × 2,5 × ATR%</a:t>
            </a:r>
            <a:endParaRPr lang="en-US" sz="1500" dirty="0"/>
          </a:p>
          <a:p>
            <a:pPr indent="0" marL="0">
              <a:buNone/>
            </a:pPr>
            <a:r>
              <a:rPr lang="en-US" sz="1500" b="1" dirty="0">
                <a:solidFill>
                  <a:srgbClr val="14202A"/>
                </a:solidFill>
                <a:latin typeface="Arial" pitchFamily="34" charset="0"/>
                <a:ea typeface="Arial" pitchFamily="34" charset="-122"/>
                <a:cs typeface="Arial" pitchFamily="34" charset="-120"/>
              </a:rPr>
              <a:t>∝ (1 / ATR%) × ATR% = constante</a:t>
            </a:r>
            <a:endParaRPr lang="en-US" sz="1500" dirty="0"/>
          </a:p>
        </p:txBody>
      </p:sp>
      <p:sp>
        <p:nvSpPr>
          <p:cNvPr id="33" name="Text 31"/>
          <p:cNvSpPr txBox="1"/>
          <p:nvPr/>
        </p:nvSpPr>
        <p:spPr>
          <a:xfrm>
            <a:off x="6675120" y="5074920"/>
            <a:ext cx="4754880" cy="914400"/>
          </a:xfrm>
          <a:prstGeom prst="rect">
            <a:avLst/>
          </a:prstGeom>
          <a:noFill/>
          <a:ln/>
        </p:spPr>
        <p:txBody>
          <a:bodyPr wrap="square" lIns="0" tIns="0" rIns="0" bIns="0" rtlCol="0" anchor="t"/>
          <a:lstStyle/>
          <a:p>
            <a:pPr indent="0" marL="0">
              <a:buNone/>
            </a:pPr>
            <a:r>
              <a:rPr lang="en-US" sz="1300" dirty="0">
                <a:solidFill>
                  <a:srgbClr val="14202A"/>
                </a:solidFill>
                <a:latin typeface="Arial" pitchFamily="34" charset="0"/>
                <a:ea typeface="Arial" pitchFamily="34" charset="-122"/>
                <a:cs typeface="Arial" pitchFamily="34" charset="-120"/>
              </a:rPr>
              <a:t>Un titre deux fois plus volatil reçoit deux fois moins de capital : chaque ligne pèse le même risque en euros.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F0EE"/>
        </a:solidFill>
      </p:bgPr>
    </p:bg>
    <p:spTree>
      <p:nvGrpSpPr>
        <p:cNvPr id="1" name=""/>
        <p:cNvGrpSpPr/>
        <p:nvPr/>
      </p:nvGrpSpPr>
      <p:grpSpPr>
        <a:xfrm>
          <a:off x="0" y="0"/>
          <a:ext cx="0" cy="0"/>
          <a:chOff x="0" y="0"/>
          <a:chExt cx="0" cy="0"/>
        </a:xfrm>
      </p:grpSpPr>
      <p:sp>
        <p:nvSpPr>
          <p:cNvPr id="2" name="Shape 0"/>
          <p:cNvSpPr/>
          <p:nvPr/>
        </p:nvSpPr>
        <p:spPr>
          <a:xfrm>
            <a:off x="548640" y="292608"/>
            <a:ext cx="1322451" cy="45720"/>
          </a:xfrm>
          <a:prstGeom prst="rect">
            <a:avLst/>
          </a:prstGeom>
          <a:solidFill>
            <a:srgbClr val="52616C"/>
          </a:solidFill>
          <a:ln w="12700">
            <a:solidFill>
              <a:srgbClr val="52616C"/>
            </a:solidFill>
            <a:prstDash val="solid"/>
          </a:ln>
        </p:spPr>
      </p:sp>
      <p:sp>
        <p:nvSpPr>
          <p:cNvPr id="3" name="Text 1"/>
          <p:cNvSpPr txBox="1"/>
          <p:nvPr/>
        </p:nvSpPr>
        <p:spPr>
          <a:xfrm>
            <a:off x="548640"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1  </a:t>
            </a:r>
            <a:pPr indent="0" marL="0">
              <a:buNone/>
            </a:pPr>
            <a:r>
              <a:rPr lang="en-US" sz="1000" dirty="0">
                <a:solidFill>
                  <a:srgbClr val="14202A"/>
                </a:solidFill>
                <a:latin typeface="Arial" pitchFamily="34" charset="0"/>
                <a:ea typeface="Arial" pitchFamily="34" charset="-122"/>
                <a:cs typeface="Arial" pitchFamily="34" charset="-120"/>
              </a:rPr>
              <a:t>Données</a:t>
            </a:r>
            <a:endParaRPr lang="en-US" sz="1000" dirty="0"/>
          </a:p>
        </p:txBody>
      </p:sp>
      <p:sp>
        <p:nvSpPr>
          <p:cNvPr id="4" name="Shape 2"/>
          <p:cNvSpPr/>
          <p:nvPr/>
        </p:nvSpPr>
        <p:spPr>
          <a:xfrm>
            <a:off x="1944243" y="292608"/>
            <a:ext cx="1322451" cy="45720"/>
          </a:xfrm>
          <a:prstGeom prst="rect">
            <a:avLst/>
          </a:prstGeom>
          <a:solidFill>
            <a:srgbClr val="52616C"/>
          </a:solidFill>
          <a:ln w="12700">
            <a:solidFill>
              <a:srgbClr val="52616C"/>
            </a:solidFill>
            <a:prstDash val="solid"/>
          </a:ln>
        </p:spPr>
      </p:sp>
      <p:sp>
        <p:nvSpPr>
          <p:cNvPr id="5" name="Text 3"/>
          <p:cNvSpPr txBox="1"/>
          <p:nvPr/>
        </p:nvSpPr>
        <p:spPr>
          <a:xfrm>
            <a:off x="1944243"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2  </a:t>
            </a:r>
            <a:pPr indent="0" marL="0">
              <a:buNone/>
            </a:pPr>
            <a:r>
              <a:rPr lang="en-US" sz="1000" dirty="0">
                <a:solidFill>
                  <a:srgbClr val="14202A"/>
                </a:solidFill>
                <a:latin typeface="Arial" pitchFamily="34" charset="0"/>
                <a:ea typeface="Arial" pitchFamily="34" charset="-122"/>
                <a:cs typeface="Arial" pitchFamily="34" charset="-120"/>
              </a:rPr>
              <a:t>Indicateurs</a:t>
            </a:r>
            <a:endParaRPr lang="en-US" sz="1000" dirty="0"/>
          </a:p>
        </p:txBody>
      </p:sp>
      <p:sp>
        <p:nvSpPr>
          <p:cNvPr id="6" name="Shape 4"/>
          <p:cNvSpPr/>
          <p:nvPr/>
        </p:nvSpPr>
        <p:spPr>
          <a:xfrm>
            <a:off x="3339846" y="292608"/>
            <a:ext cx="1322451" cy="45720"/>
          </a:xfrm>
          <a:prstGeom prst="rect">
            <a:avLst/>
          </a:prstGeom>
          <a:solidFill>
            <a:srgbClr val="52616C"/>
          </a:solidFill>
          <a:ln w="12700">
            <a:solidFill>
              <a:srgbClr val="52616C"/>
            </a:solidFill>
            <a:prstDash val="solid"/>
          </a:ln>
        </p:spPr>
      </p:sp>
      <p:sp>
        <p:nvSpPr>
          <p:cNvPr id="7" name="Text 5"/>
          <p:cNvSpPr txBox="1"/>
          <p:nvPr/>
        </p:nvSpPr>
        <p:spPr>
          <a:xfrm>
            <a:off x="3339846"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3  </a:t>
            </a:r>
            <a:pPr indent="0" marL="0">
              <a:buNone/>
            </a:pPr>
            <a:r>
              <a:rPr lang="en-US" sz="1000" dirty="0">
                <a:solidFill>
                  <a:srgbClr val="14202A"/>
                </a:solidFill>
                <a:latin typeface="Arial" pitchFamily="34" charset="0"/>
                <a:ea typeface="Arial" pitchFamily="34" charset="-122"/>
                <a:cs typeface="Arial" pitchFamily="34" charset="-120"/>
              </a:rPr>
              <a:t>Paniers</a:t>
            </a:r>
            <a:endParaRPr lang="en-US" sz="1000" dirty="0"/>
          </a:p>
        </p:txBody>
      </p:sp>
      <p:sp>
        <p:nvSpPr>
          <p:cNvPr id="8" name="Shape 6"/>
          <p:cNvSpPr/>
          <p:nvPr/>
        </p:nvSpPr>
        <p:spPr>
          <a:xfrm>
            <a:off x="4735449" y="278892"/>
            <a:ext cx="1322451" cy="73152"/>
          </a:xfrm>
          <a:prstGeom prst="rect">
            <a:avLst/>
          </a:prstGeom>
          <a:solidFill>
            <a:srgbClr val="0A7560"/>
          </a:solidFill>
          <a:ln w="12700">
            <a:solidFill>
              <a:srgbClr val="0A7560"/>
            </a:solidFill>
            <a:prstDash val="solid"/>
          </a:ln>
        </p:spPr>
      </p:sp>
      <p:sp>
        <p:nvSpPr>
          <p:cNvPr id="9" name="Text 7"/>
          <p:cNvSpPr txBox="1"/>
          <p:nvPr/>
        </p:nvSpPr>
        <p:spPr>
          <a:xfrm>
            <a:off x="4735449" y="402336"/>
            <a:ext cx="1322451" cy="237744"/>
          </a:xfrm>
          <a:prstGeom prst="rect">
            <a:avLst/>
          </a:prstGeom>
          <a:noFill/>
          <a:ln/>
        </p:spPr>
        <p:txBody>
          <a:bodyPr wrap="square" lIns="0" tIns="0" rIns="0" bIns="0" rtlCol="0" anchor="t"/>
          <a:lstStyle/>
          <a:p>
            <a:pPr indent="0" marL="0">
              <a:buNone/>
            </a:pPr>
            <a:r>
              <a:rPr lang="en-US" sz="1000" b="1" dirty="0">
                <a:solidFill>
                  <a:srgbClr val="0A7560"/>
                </a:solidFill>
                <a:latin typeface="Arial" pitchFamily="34" charset="0"/>
                <a:ea typeface="Arial" pitchFamily="34" charset="-122"/>
                <a:cs typeface="Arial" pitchFamily="34" charset="-120"/>
              </a:rPr>
              <a:t>4  </a:t>
            </a:r>
            <a:pPr indent="0" marL="0">
              <a:buNone/>
            </a:pPr>
            <a:r>
              <a:rPr lang="en-US" sz="1000" b="1" dirty="0">
                <a:solidFill>
                  <a:srgbClr val="0A7560"/>
                </a:solidFill>
                <a:latin typeface="Arial" pitchFamily="34" charset="0"/>
                <a:ea typeface="Arial" pitchFamily="34" charset="-122"/>
                <a:cs typeface="Arial" pitchFamily="34" charset="-120"/>
              </a:rPr>
              <a:t>Bootstrap</a:t>
            </a:r>
            <a:endParaRPr lang="en-US" sz="1000" dirty="0"/>
          </a:p>
        </p:txBody>
      </p:sp>
      <p:sp>
        <p:nvSpPr>
          <p:cNvPr id="10" name="Shape 8"/>
          <p:cNvSpPr/>
          <p:nvPr/>
        </p:nvSpPr>
        <p:spPr>
          <a:xfrm>
            <a:off x="6131052" y="292608"/>
            <a:ext cx="1322451" cy="45720"/>
          </a:xfrm>
          <a:prstGeom prst="rect">
            <a:avLst/>
          </a:prstGeom>
          <a:solidFill>
            <a:srgbClr val="C6CFCB"/>
          </a:solidFill>
          <a:ln w="12700">
            <a:solidFill>
              <a:srgbClr val="C6CFCB"/>
            </a:solidFill>
            <a:prstDash val="solid"/>
          </a:ln>
        </p:spPr>
      </p:sp>
      <p:sp>
        <p:nvSpPr>
          <p:cNvPr id="11" name="Text 9"/>
          <p:cNvSpPr txBox="1"/>
          <p:nvPr/>
        </p:nvSpPr>
        <p:spPr>
          <a:xfrm>
            <a:off x="6131052"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5  </a:t>
            </a:r>
            <a:pPr indent="0" marL="0">
              <a:buNone/>
            </a:pPr>
            <a:r>
              <a:rPr lang="en-US" sz="1000" dirty="0">
                <a:solidFill>
                  <a:srgbClr val="52616C"/>
                </a:solidFill>
                <a:latin typeface="Arial" pitchFamily="34" charset="0"/>
                <a:ea typeface="Arial" pitchFamily="34" charset="-122"/>
                <a:cs typeface="Arial" pitchFamily="34" charset="-120"/>
              </a:rPr>
              <a:t>Sélection</a:t>
            </a:r>
            <a:endParaRPr lang="en-US" sz="1000" dirty="0"/>
          </a:p>
        </p:txBody>
      </p:sp>
      <p:sp>
        <p:nvSpPr>
          <p:cNvPr id="12" name="Shape 10"/>
          <p:cNvSpPr/>
          <p:nvPr/>
        </p:nvSpPr>
        <p:spPr>
          <a:xfrm>
            <a:off x="7526655" y="292608"/>
            <a:ext cx="1322451" cy="45720"/>
          </a:xfrm>
          <a:prstGeom prst="rect">
            <a:avLst/>
          </a:prstGeom>
          <a:solidFill>
            <a:srgbClr val="C6CFCB"/>
          </a:solidFill>
          <a:ln w="12700">
            <a:solidFill>
              <a:srgbClr val="C6CFCB"/>
            </a:solidFill>
            <a:prstDash val="solid"/>
          </a:ln>
        </p:spPr>
      </p:sp>
      <p:sp>
        <p:nvSpPr>
          <p:cNvPr id="13" name="Text 11"/>
          <p:cNvSpPr txBox="1"/>
          <p:nvPr/>
        </p:nvSpPr>
        <p:spPr>
          <a:xfrm>
            <a:off x="7526655"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6  </a:t>
            </a:r>
            <a:pPr indent="0" marL="0">
              <a:buNone/>
            </a:pPr>
            <a:r>
              <a:rPr lang="en-US" sz="1000" dirty="0">
                <a:solidFill>
                  <a:srgbClr val="52616C"/>
                </a:solidFill>
                <a:latin typeface="Arial" pitchFamily="34" charset="0"/>
                <a:ea typeface="Arial" pitchFamily="34" charset="-122"/>
                <a:cs typeface="Arial" pitchFamily="34" charset="-120"/>
              </a:rPr>
              <a:t>Fusion</a:t>
            </a:r>
            <a:endParaRPr lang="en-US" sz="1000" dirty="0"/>
          </a:p>
        </p:txBody>
      </p:sp>
      <p:sp>
        <p:nvSpPr>
          <p:cNvPr id="14" name="Shape 12"/>
          <p:cNvSpPr/>
          <p:nvPr/>
        </p:nvSpPr>
        <p:spPr>
          <a:xfrm>
            <a:off x="8922258" y="292608"/>
            <a:ext cx="1322451" cy="45720"/>
          </a:xfrm>
          <a:prstGeom prst="rect">
            <a:avLst/>
          </a:prstGeom>
          <a:solidFill>
            <a:srgbClr val="C6CFCB"/>
          </a:solidFill>
          <a:ln w="12700">
            <a:solidFill>
              <a:srgbClr val="C6CFCB"/>
            </a:solidFill>
            <a:prstDash val="solid"/>
          </a:ln>
        </p:spPr>
      </p:sp>
      <p:sp>
        <p:nvSpPr>
          <p:cNvPr id="15" name="Text 13"/>
          <p:cNvSpPr txBox="1"/>
          <p:nvPr/>
        </p:nvSpPr>
        <p:spPr>
          <a:xfrm>
            <a:off x="8922258"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7  </a:t>
            </a:r>
            <a:pPr indent="0" marL="0">
              <a:buNone/>
            </a:pPr>
            <a:r>
              <a:rPr lang="en-US" sz="1000" dirty="0">
                <a:solidFill>
                  <a:srgbClr val="52616C"/>
                </a:solidFill>
                <a:latin typeface="Arial" pitchFamily="34" charset="0"/>
                <a:ea typeface="Arial" pitchFamily="34" charset="-122"/>
                <a:cs typeface="Arial" pitchFamily="34" charset="-120"/>
              </a:rPr>
              <a:t>Validation</a:t>
            </a:r>
            <a:endParaRPr lang="en-US" sz="1000" dirty="0"/>
          </a:p>
        </p:txBody>
      </p:sp>
      <p:sp>
        <p:nvSpPr>
          <p:cNvPr id="16" name="Shape 14"/>
          <p:cNvSpPr/>
          <p:nvPr/>
        </p:nvSpPr>
        <p:spPr>
          <a:xfrm>
            <a:off x="10317861" y="292608"/>
            <a:ext cx="1322451" cy="45720"/>
          </a:xfrm>
          <a:prstGeom prst="rect">
            <a:avLst/>
          </a:prstGeom>
          <a:solidFill>
            <a:srgbClr val="C6CFCB"/>
          </a:solidFill>
          <a:ln w="12700">
            <a:solidFill>
              <a:srgbClr val="C6CFCB"/>
            </a:solidFill>
            <a:prstDash val="solid"/>
          </a:ln>
        </p:spPr>
      </p:sp>
      <p:sp>
        <p:nvSpPr>
          <p:cNvPr id="17" name="Text 15"/>
          <p:cNvSpPr txBox="1"/>
          <p:nvPr/>
        </p:nvSpPr>
        <p:spPr>
          <a:xfrm>
            <a:off x="10317861"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8  </a:t>
            </a:r>
            <a:pPr indent="0" marL="0">
              <a:buNone/>
            </a:pPr>
            <a:r>
              <a:rPr lang="en-US" sz="1000" dirty="0">
                <a:solidFill>
                  <a:srgbClr val="52616C"/>
                </a:solidFill>
                <a:latin typeface="Arial" pitchFamily="34" charset="0"/>
                <a:ea typeface="Arial" pitchFamily="34" charset="-122"/>
                <a:cs typeface="Arial" pitchFamily="34" charset="-120"/>
              </a:rPr>
              <a:t>Production</a:t>
            </a:r>
            <a:endParaRPr lang="en-US" sz="1000" dirty="0"/>
          </a:p>
        </p:txBody>
      </p:sp>
      <p:sp>
        <p:nvSpPr>
          <p:cNvPr id="18" name="Text 16"/>
          <p:cNvSpPr txBox="1"/>
          <p:nvPr/>
        </p:nvSpPr>
        <p:spPr>
          <a:xfrm>
            <a:off x="548640" y="914400"/>
            <a:ext cx="6400800" cy="1188720"/>
          </a:xfrm>
          <a:prstGeom prst="rect">
            <a:avLst/>
          </a:prstGeom>
          <a:noFill/>
          <a:ln/>
        </p:spPr>
        <p:txBody>
          <a:bodyPr wrap="square" lIns="0" tIns="0" rIns="0" bIns="0" rtlCol="0" anchor="t"/>
          <a:lstStyle/>
          <a:p>
            <a:pPr indent="0" marL="0">
              <a:buNone/>
            </a:pPr>
            <a:r>
              <a:rPr lang="en-US" sz="3200" b="1" dirty="0">
                <a:solidFill>
                  <a:srgbClr val="14202A"/>
                </a:solidFill>
                <a:latin typeface="Arial" pitchFamily="34" charset="0"/>
                <a:ea typeface="Arial" pitchFamily="34" charset="-122"/>
                <a:cs typeface="Arial" pitchFamily="34" charset="-120"/>
              </a:rPr>
              <a:t>Rejouer chaque couple sur des fenêtres indépendantes</a:t>
            </a:r>
            <a:endParaRPr lang="en-US" sz="3200" dirty="0"/>
          </a:p>
        </p:txBody>
      </p:sp>
      <p:graphicFrame>
        <p:nvGraphicFramePr>
          <p:cNvPr id="19" name="Chart 0" descr=""/>
          <p:cNvGraphicFramePr/>
          <p:nvPr/>
        </p:nvGraphicFramePr>
        <p:xfrm>
          <a:off x="548640" y="2331720"/>
          <a:ext cx="6400800" cy="3017520"/>
        </p:xfrm>
        <a:graphic xmlns:a="http://schemas.openxmlformats.org/drawingml/2006/main">
          <a:graphicData uri="http://schemas.openxmlformats.org/drawingml/2006/chart">
            <c:chart xmlns:c="http://schemas.openxmlformats.org/drawingml/2006/chart" r:id="rId1"/>
          </a:graphicData>
        </a:graphic>
      </p:graphicFrame>
      <p:sp>
        <p:nvSpPr>
          <p:cNvPr id="20" name="Shape 17"/>
          <p:cNvSpPr/>
          <p:nvPr/>
        </p:nvSpPr>
        <p:spPr>
          <a:xfrm>
            <a:off x="566928" y="2331720"/>
            <a:ext cx="763524" cy="3017520"/>
          </a:xfrm>
          <a:prstGeom prst="rect">
            <a:avLst/>
          </a:prstGeom>
          <a:solidFill>
            <a:srgbClr val="0A7560">
              <a:alpha val="16000"/>
            </a:srgbClr>
          </a:solidFill>
          <a:ln w="12700">
            <a:solidFill>
              <a:srgbClr val="EDF0EE"/>
            </a:solidFill>
            <a:prstDash val="solid"/>
          </a:ln>
        </p:spPr>
      </p:sp>
      <p:sp>
        <p:nvSpPr>
          <p:cNvPr id="21" name="Shape 18"/>
          <p:cNvSpPr/>
          <p:nvPr/>
        </p:nvSpPr>
        <p:spPr>
          <a:xfrm>
            <a:off x="1367028" y="2331720"/>
            <a:ext cx="763524" cy="3017520"/>
          </a:xfrm>
          <a:prstGeom prst="rect">
            <a:avLst/>
          </a:prstGeom>
          <a:solidFill>
            <a:srgbClr val="7B8A92">
              <a:alpha val="16000"/>
            </a:srgbClr>
          </a:solidFill>
          <a:ln w="12700">
            <a:solidFill>
              <a:srgbClr val="EDF0EE"/>
            </a:solidFill>
            <a:prstDash val="solid"/>
          </a:ln>
        </p:spPr>
      </p:sp>
      <p:sp>
        <p:nvSpPr>
          <p:cNvPr id="22" name="Shape 19"/>
          <p:cNvSpPr/>
          <p:nvPr/>
        </p:nvSpPr>
        <p:spPr>
          <a:xfrm>
            <a:off x="2167128" y="2331720"/>
            <a:ext cx="763524" cy="3017520"/>
          </a:xfrm>
          <a:prstGeom prst="rect">
            <a:avLst/>
          </a:prstGeom>
          <a:solidFill>
            <a:srgbClr val="0A7560">
              <a:alpha val="16000"/>
            </a:srgbClr>
          </a:solidFill>
          <a:ln w="12700">
            <a:solidFill>
              <a:srgbClr val="EDF0EE"/>
            </a:solidFill>
            <a:prstDash val="solid"/>
          </a:ln>
        </p:spPr>
      </p:sp>
      <p:sp>
        <p:nvSpPr>
          <p:cNvPr id="23" name="Shape 20"/>
          <p:cNvSpPr/>
          <p:nvPr/>
        </p:nvSpPr>
        <p:spPr>
          <a:xfrm>
            <a:off x="2967228" y="2331720"/>
            <a:ext cx="763524" cy="3017520"/>
          </a:xfrm>
          <a:prstGeom prst="rect">
            <a:avLst/>
          </a:prstGeom>
          <a:solidFill>
            <a:srgbClr val="7B8A92">
              <a:alpha val="16000"/>
            </a:srgbClr>
          </a:solidFill>
          <a:ln w="12700">
            <a:solidFill>
              <a:srgbClr val="EDF0EE"/>
            </a:solidFill>
            <a:prstDash val="solid"/>
          </a:ln>
        </p:spPr>
      </p:sp>
      <p:sp>
        <p:nvSpPr>
          <p:cNvPr id="24" name="Shape 21"/>
          <p:cNvSpPr/>
          <p:nvPr/>
        </p:nvSpPr>
        <p:spPr>
          <a:xfrm>
            <a:off x="3767328" y="2331720"/>
            <a:ext cx="763524" cy="3017520"/>
          </a:xfrm>
          <a:prstGeom prst="rect">
            <a:avLst/>
          </a:prstGeom>
          <a:solidFill>
            <a:srgbClr val="0A7560">
              <a:alpha val="16000"/>
            </a:srgbClr>
          </a:solidFill>
          <a:ln w="12700">
            <a:solidFill>
              <a:srgbClr val="EDF0EE"/>
            </a:solidFill>
            <a:prstDash val="solid"/>
          </a:ln>
        </p:spPr>
      </p:sp>
      <p:sp>
        <p:nvSpPr>
          <p:cNvPr id="25" name="Shape 22"/>
          <p:cNvSpPr/>
          <p:nvPr/>
        </p:nvSpPr>
        <p:spPr>
          <a:xfrm>
            <a:off x="4567428" y="2331720"/>
            <a:ext cx="763524" cy="3017520"/>
          </a:xfrm>
          <a:prstGeom prst="rect">
            <a:avLst/>
          </a:prstGeom>
          <a:solidFill>
            <a:srgbClr val="7B8A92">
              <a:alpha val="16000"/>
            </a:srgbClr>
          </a:solidFill>
          <a:ln w="12700">
            <a:solidFill>
              <a:srgbClr val="EDF0EE"/>
            </a:solidFill>
            <a:prstDash val="solid"/>
          </a:ln>
        </p:spPr>
      </p:sp>
      <p:sp>
        <p:nvSpPr>
          <p:cNvPr id="26" name="Shape 23"/>
          <p:cNvSpPr/>
          <p:nvPr/>
        </p:nvSpPr>
        <p:spPr>
          <a:xfrm>
            <a:off x="5367528" y="2331720"/>
            <a:ext cx="763524" cy="3017520"/>
          </a:xfrm>
          <a:prstGeom prst="rect">
            <a:avLst/>
          </a:prstGeom>
          <a:solidFill>
            <a:srgbClr val="0A7560">
              <a:alpha val="16000"/>
            </a:srgbClr>
          </a:solidFill>
          <a:ln w="12700">
            <a:solidFill>
              <a:srgbClr val="EDF0EE"/>
            </a:solidFill>
            <a:prstDash val="solid"/>
          </a:ln>
        </p:spPr>
      </p:sp>
      <p:sp>
        <p:nvSpPr>
          <p:cNvPr id="27" name="Shape 24"/>
          <p:cNvSpPr/>
          <p:nvPr/>
        </p:nvSpPr>
        <p:spPr>
          <a:xfrm>
            <a:off x="6167628" y="2331720"/>
            <a:ext cx="763524" cy="3017520"/>
          </a:xfrm>
          <a:prstGeom prst="rect">
            <a:avLst/>
          </a:prstGeom>
          <a:solidFill>
            <a:srgbClr val="7B8A92">
              <a:alpha val="16000"/>
            </a:srgbClr>
          </a:solidFill>
          <a:ln w="12700">
            <a:solidFill>
              <a:srgbClr val="EDF0EE"/>
            </a:solidFill>
            <a:prstDash val="solid"/>
          </a:ln>
        </p:spPr>
      </p:sp>
      <p:sp>
        <p:nvSpPr>
          <p:cNvPr id="28" name="Text 25"/>
          <p:cNvSpPr txBox="1"/>
          <p:nvPr/>
        </p:nvSpPr>
        <p:spPr>
          <a:xfrm>
            <a:off x="548640" y="5486400"/>
            <a:ext cx="6400800" cy="365760"/>
          </a:xfrm>
          <a:prstGeom prst="rect">
            <a:avLst/>
          </a:prstGeom>
          <a:noFill/>
          <a:ln/>
        </p:spPr>
        <p:txBody>
          <a:bodyPr wrap="square" lIns="0" tIns="0" rIns="0" bIns="0" rtlCol="0" anchor="t"/>
          <a:lstStyle/>
          <a:p>
            <a:pPr indent="0" marL="0">
              <a:buNone/>
            </a:pPr>
            <a:r>
              <a:rPr lang="en-US" sz="1150" dirty="0">
                <a:solidFill>
                  <a:srgbClr val="52616C"/>
                </a:solidFill>
                <a:latin typeface="Arial" pitchFamily="34" charset="0"/>
                <a:ea typeface="Arial" pitchFamily="34" charset="-122"/>
                <a:cs typeface="Arial" pitchFamily="34" charset="-120"/>
              </a:rPr>
              <a:t>Chaque bande est une fenêtre de h séances ; elles ne se recouvrent pas.</a:t>
            </a:r>
            <a:endParaRPr lang="en-US" sz="1150" dirty="0"/>
          </a:p>
        </p:txBody>
      </p:sp>
      <p:sp>
        <p:nvSpPr>
          <p:cNvPr id="29" name="Text 26"/>
          <p:cNvSpPr txBox="1"/>
          <p:nvPr/>
        </p:nvSpPr>
        <p:spPr>
          <a:xfrm>
            <a:off x="7360920" y="2286000"/>
            <a:ext cx="4279392" cy="3200400"/>
          </a:xfrm>
          <a:prstGeom prst="rect">
            <a:avLst/>
          </a:prstGeom>
          <a:noFill/>
          <a:ln/>
        </p:spPr>
        <p:txBody>
          <a:bodyPr wrap="square" lIns="0" tIns="0" rIns="0" bIns="0" rtlCol="0" anchor="t"/>
          <a:lstStyle/>
          <a:p>
            <a:pPr indent="0" marL="0">
              <a:lnSpc>
                <a:spcPct val="112000"/>
              </a:lnSpc>
              <a:buNone/>
            </a:pPr>
            <a:r>
              <a:rPr lang="en-US" sz="1400" b="1" dirty="0">
                <a:solidFill>
                  <a:srgbClr val="14202A"/>
                </a:solidFill>
                <a:latin typeface="Arial" pitchFamily="34" charset="0"/>
                <a:ea typeface="Arial" pitchFamily="34" charset="-122"/>
                <a:cs typeface="Arial" pitchFamily="34" charset="-120"/>
              </a:rPr>
              <a:t>Sans recouvrement : </a:t>
            </a:r>
            <a:pPr indent="0" marL="0">
              <a:lnSpc>
                <a:spcPct val="112000"/>
              </a:lnSpc>
              <a:spcAft>
                <a:spcPts val="900"/>
              </a:spcAft>
              <a:buNone/>
            </a:pPr>
            <a:r>
              <a:rPr lang="en-US" sz="1400" dirty="0">
                <a:solidFill>
                  <a:srgbClr val="14202A"/>
                </a:solidFill>
                <a:latin typeface="Arial" pitchFamily="34" charset="0"/>
                <a:ea typeface="Arial" pitchFamily="34" charset="-122"/>
                <a:cs typeface="Arial" pitchFamily="34" charset="-120"/>
              </a:rPr>
              <a:t>chaque fenêtre est une observation indépendante, l'écart-type du P&amp;L moyen est honnête.</a:t>
            </a:r>
            <a:endParaRPr lang="en-US" sz="1400" dirty="0"/>
          </a:p>
          <a:p>
            <a:pPr indent="0" marL="0">
              <a:lnSpc>
                <a:spcPct val="112000"/>
              </a:lnSpc>
              <a:buNone/>
            </a:pPr>
            <a:r>
              <a:rPr lang="en-US" sz="1400" b="1" dirty="0">
                <a:solidFill>
                  <a:srgbClr val="14202A"/>
                </a:solidFill>
                <a:latin typeface="Arial" pitchFamily="34" charset="0"/>
                <a:ea typeface="Arial" pitchFamily="34" charset="-122"/>
                <a:cs typeface="Arial" pitchFamily="34" charset="-120"/>
              </a:rPr>
              <a:t>Capital neuf de 10 000 € </a:t>
            </a:r>
            <a:pPr indent="0" marL="0">
              <a:lnSpc>
                <a:spcPct val="112000"/>
              </a:lnSpc>
              <a:spcAft>
                <a:spcPts val="900"/>
              </a:spcAft>
              <a:buNone/>
            </a:pPr>
            <a:r>
              <a:rPr lang="en-US" sz="1400" dirty="0">
                <a:solidFill>
                  <a:srgbClr val="14202A"/>
                </a:solidFill>
                <a:latin typeface="Arial" pitchFamily="34" charset="0"/>
                <a:ea typeface="Arial" pitchFamily="34" charset="-122"/>
                <a:cs typeface="Arial" pitchFamily="34" charset="-120"/>
              </a:rPr>
              <a:t>par fenêtre. À t+h, positions ouvertes valorisées à la clôture, sans vente.</a:t>
            </a:r>
            <a:endParaRPr lang="en-US" sz="1400" dirty="0"/>
          </a:p>
          <a:p>
            <a:pPr indent="0" marL="0">
              <a:lnSpc>
                <a:spcPct val="112000"/>
              </a:lnSpc>
              <a:buNone/>
            </a:pPr>
            <a:r>
              <a:rPr lang="en-US" sz="1400" b="1" dirty="0">
                <a:solidFill>
                  <a:srgbClr val="14202A"/>
                </a:solidFill>
                <a:latin typeface="Arial" pitchFamily="34" charset="0"/>
                <a:ea typeface="Arial" pitchFamily="34" charset="-122"/>
                <a:cs typeface="Arial" pitchFamily="34" charset="-120"/>
              </a:rPr>
              <a:t>Trois horizons : </a:t>
            </a:r>
            <a:pPr indent="0" marL="0">
              <a:lnSpc>
                <a:spcPct val="112000"/>
              </a:lnSpc>
              <a:spcAft>
                <a:spcPts val="900"/>
              </a:spcAft>
              <a:buNone/>
            </a:pPr>
            <a:r>
              <a:rPr lang="en-US" sz="1400" dirty="0">
                <a:solidFill>
                  <a:srgbClr val="14202A"/>
                </a:solidFill>
                <a:latin typeface="Arial" pitchFamily="34" charset="0"/>
                <a:ea typeface="Arial" pitchFamily="34" charset="-122"/>
                <a:cs typeface="Arial" pitchFamily="34" charset="-120"/>
              </a:rPr>
              <a:t>15, 63 et 126 séances, soit environ 117, 28 et 14 fenêtres sur huit ans d'entraînement.</a:t>
            </a:r>
            <a:endParaRPr lang="en-US" sz="1400" dirty="0"/>
          </a:p>
        </p:txBody>
      </p:sp>
      <p:sp>
        <p:nvSpPr>
          <p:cNvPr id="30" name="Text 27"/>
          <p:cNvSpPr txBox="1"/>
          <p:nvPr/>
        </p:nvSpPr>
        <p:spPr>
          <a:xfrm>
            <a:off x="7360920" y="5577840"/>
            <a:ext cx="4279392" cy="731520"/>
          </a:xfrm>
          <a:prstGeom prst="rect">
            <a:avLst/>
          </a:prstGeom>
          <a:noFill/>
          <a:ln/>
        </p:spPr>
        <p:txBody>
          <a:bodyPr wrap="square" lIns="0" tIns="0" rIns="0" bIns="0" rtlCol="0" anchor="t"/>
          <a:lstStyle/>
          <a:p>
            <a:pPr indent="0" marL="0">
              <a:buNone/>
            </a:pPr>
            <a:r>
              <a:rPr lang="en-US" sz="1150" dirty="0">
                <a:solidFill>
                  <a:srgbClr val="52616C"/>
                </a:solidFill>
                <a:latin typeface="Arial" pitchFamily="34" charset="0"/>
                <a:ea typeface="Arial" pitchFamily="34" charset="-122"/>
                <a:cs typeface="Arial" pitchFamily="34" charset="-120"/>
              </a:rPr>
              <a:t>À 126 séances, 14 observations laissent un intervalle large : le court terme est de loin le plus solide.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F0EE"/>
        </a:solidFill>
      </p:bgPr>
    </p:bg>
    <p:spTree>
      <p:nvGrpSpPr>
        <p:cNvPr id="1" name=""/>
        <p:cNvGrpSpPr/>
        <p:nvPr/>
      </p:nvGrpSpPr>
      <p:grpSpPr>
        <a:xfrm>
          <a:off x="0" y="0"/>
          <a:ext cx="0" cy="0"/>
          <a:chOff x="0" y="0"/>
          <a:chExt cx="0" cy="0"/>
        </a:xfrm>
      </p:grpSpPr>
      <p:sp>
        <p:nvSpPr>
          <p:cNvPr id="2" name="Shape 0"/>
          <p:cNvSpPr/>
          <p:nvPr/>
        </p:nvSpPr>
        <p:spPr>
          <a:xfrm>
            <a:off x="548640" y="292608"/>
            <a:ext cx="1322451" cy="45720"/>
          </a:xfrm>
          <a:prstGeom prst="rect">
            <a:avLst/>
          </a:prstGeom>
          <a:solidFill>
            <a:srgbClr val="52616C"/>
          </a:solidFill>
          <a:ln w="12700">
            <a:solidFill>
              <a:srgbClr val="52616C"/>
            </a:solidFill>
            <a:prstDash val="solid"/>
          </a:ln>
        </p:spPr>
      </p:sp>
      <p:sp>
        <p:nvSpPr>
          <p:cNvPr id="3" name="Text 1"/>
          <p:cNvSpPr txBox="1"/>
          <p:nvPr/>
        </p:nvSpPr>
        <p:spPr>
          <a:xfrm>
            <a:off x="548640"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1  </a:t>
            </a:r>
            <a:pPr indent="0" marL="0">
              <a:buNone/>
            </a:pPr>
            <a:r>
              <a:rPr lang="en-US" sz="1000" dirty="0">
                <a:solidFill>
                  <a:srgbClr val="14202A"/>
                </a:solidFill>
                <a:latin typeface="Arial" pitchFamily="34" charset="0"/>
                <a:ea typeface="Arial" pitchFamily="34" charset="-122"/>
                <a:cs typeface="Arial" pitchFamily="34" charset="-120"/>
              </a:rPr>
              <a:t>Données</a:t>
            </a:r>
            <a:endParaRPr lang="en-US" sz="1000" dirty="0"/>
          </a:p>
        </p:txBody>
      </p:sp>
      <p:sp>
        <p:nvSpPr>
          <p:cNvPr id="4" name="Shape 2"/>
          <p:cNvSpPr/>
          <p:nvPr/>
        </p:nvSpPr>
        <p:spPr>
          <a:xfrm>
            <a:off x="1944243" y="292608"/>
            <a:ext cx="1322451" cy="45720"/>
          </a:xfrm>
          <a:prstGeom prst="rect">
            <a:avLst/>
          </a:prstGeom>
          <a:solidFill>
            <a:srgbClr val="52616C"/>
          </a:solidFill>
          <a:ln w="12700">
            <a:solidFill>
              <a:srgbClr val="52616C"/>
            </a:solidFill>
            <a:prstDash val="solid"/>
          </a:ln>
        </p:spPr>
      </p:sp>
      <p:sp>
        <p:nvSpPr>
          <p:cNvPr id="5" name="Text 3"/>
          <p:cNvSpPr txBox="1"/>
          <p:nvPr/>
        </p:nvSpPr>
        <p:spPr>
          <a:xfrm>
            <a:off x="1944243"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2  </a:t>
            </a:r>
            <a:pPr indent="0" marL="0">
              <a:buNone/>
            </a:pPr>
            <a:r>
              <a:rPr lang="en-US" sz="1000" dirty="0">
                <a:solidFill>
                  <a:srgbClr val="14202A"/>
                </a:solidFill>
                <a:latin typeface="Arial" pitchFamily="34" charset="0"/>
                <a:ea typeface="Arial" pitchFamily="34" charset="-122"/>
                <a:cs typeface="Arial" pitchFamily="34" charset="-120"/>
              </a:rPr>
              <a:t>Indicateurs</a:t>
            </a:r>
            <a:endParaRPr lang="en-US" sz="1000" dirty="0"/>
          </a:p>
        </p:txBody>
      </p:sp>
      <p:sp>
        <p:nvSpPr>
          <p:cNvPr id="6" name="Shape 4"/>
          <p:cNvSpPr/>
          <p:nvPr/>
        </p:nvSpPr>
        <p:spPr>
          <a:xfrm>
            <a:off x="3339846" y="292608"/>
            <a:ext cx="1322451" cy="45720"/>
          </a:xfrm>
          <a:prstGeom prst="rect">
            <a:avLst/>
          </a:prstGeom>
          <a:solidFill>
            <a:srgbClr val="52616C"/>
          </a:solidFill>
          <a:ln w="12700">
            <a:solidFill>
              <a:srgbClr val="52616C"/>
            </a:solidFill>
            <a:prstDash val="solid"/>
          </a:ln>
        </p:spPr>
      </p:sp>
      <p:sp>
        <p:nvSpPr>
          <p:cNvPr id="7" name="Text 5"/>
          <p:cNvSpPr txBox="1"/>
          <p:nvPr/>
        </p:nvSpPr>
        <p:spPr>
          <a:xfrm>
            <a:off x="3339846"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3  </a:t>
            </a:r>
            <a:pPr indent="0" marL="0">
              <a:buNone/>
            </a:pPr>
            <a:r>
              <a:rPr lang="en-US" sz="1000" dirty="0">
                <a:solidFill>
                  <a:srgbClr val="14202A"/>
                </a:solidFill>
                <a:latin typeface="Arial" pitchFamily="34" charset="0"/>
                <a:ea typeface="Arial" pitchFamily="34" charset="-122"/>
                <a:cs typeface="Arial" pitchFamily="34" charset="-120"/>
              </a:rPr>
              <a:t>Paniers</a:t>
            </a:r>
            <a:endParaRPr lang="en-US" sz="1000" dirty="0"/>
          </a:p>
        </p:txBody>
      </p:sp>
      <p:sp>
        <p:nvSpPr>
          <p:cNvPr id="8" name="Shape 6"/>
          <p:cNvSpPr/>
          <p:nvPr/>
        </p:nvSpPr>
        <p:spPr>
          <a:xfrm>
            <a:off x="4735449" y="292608"/>
            <a:ext cx="1322451" cy="45720"/>
          </a:xfrm>
          <a:prstGeom prst="rect">
            <a:avLst/>
          </a:prstGeom>
          <a:solidFill>
            <a:srgbClr val="52616C"/>
          </a:solidFill>
          <a:ln w="12700">
            <a:solidFill>
              <a:srgbClr val="52616C"/>
            </a:solidFill>
            <a:prstDash val="solid"/>
          </a:ln>
        </p:spPr>
      </p:sp>
      <p:sp>
        <p:nvSpPr>
          <p:cNvPr id="9" name="Text 7"/>
          <p:cNvSpPr txBox="1"/>
          <p:nvPr/>
        </p:nvSpPr>
        <p:spPr>
          <a:xfrm>
            <a:off x="4735449"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4  </a:t>
            </a:r>
            <a:pPr indent="0" marL="0">
              <a:buNone/>
            </a:pPr>
            <a:r>
              <a:rPr lang="en-US" sz="1000" dirty="0">
                <a:solidFill>
                  <a:srgbClr val="14202A"/>
                </a:solidFill>
                <a:latin typeface="Arial" pitchFamily="34" charset="0"/>
                <a:ea typeface="Arial" pitchFamily="34" charset="-122"/>
                <a:cs typeface="Arial" pitchFamily="34" charset="-120"/>
              </a:rPr>
              <a:t>Bootstrap</a:t>
            </a:r>
            <a:endParaRPr lang="en-US" sz="1000" dirty="0"/>
          </a:p>
        </p:txBody>
      </p:sp>
      <p:sp>
        <p:nvSpPr>
          <p:cNvPr id="10" name="Shape 8"/>
          <p:cNvSpPr/>
          <p:nvPr/>
        </p:nvSpPr>
        <p:spPr>
          <a:xfrm>
            <a:off x="6131052" y="278892"/>
            <a:ext cx="1322451" cy="73152"/>
          </a:xfrm>
          <a:prstGeom prst="rect">
            <a:avLst/>
          </a:prstGeom>
          <a:solidFill>
            <a:srgbClr val="0A7560"/>
          </a:solidFill>
          <a:ln w="12700">
            <a:solidFill>
              <a:srgbClr val="0A7560"/>
            </a:solidFill>
            <a:prstDash val="solid"/>
          </a:ln>
        </p:spPr>
      </p:sp>
      <p:sp>
        <p:nvSpPr>
          <p:cNvPr id="11" name="Text 9"/>
          <p:cNvSpPr txBox="1"/>
          <p:nvPr/>
        </p:nvSpPr>
        <p:spPr>
          <a:xfrm>
            <a:off x="6131052" y="402336"/>
            <a:ext cx="1322451" cy="237744"/>
          </a:xfrm>
          <a:prstGeom prst="rect">
            <a:avLst/>
          </a:prstGeom>
          <a:noFill/>
          <a:ln/>
        </p:spPr>
        <p:txBody>
          <a:bodyPr wrap="square" lIns="0" tIns="0" rIns="0" bIns="0" rtlCol="0" anchor="t"/>
          <a:lstStyle/>
          <a:p>
            <a:pPr indent="0" marL="0">
              <a:buNone/>
            </a:pPr>
            <a:r>
              <a:rPr lang="en-US" sz="1000" b="1" dirty="0">
                <a:solidFill>
                  <a:srgbClr val="0A7560"/>
                </a:solidFill>
                <a:latin typeface="Arial" pitchFamily="34" charset="0"/>
                <a:ea typeface="Arial" pitchFamily="34" charset="-122"/>
                <a:cs typeface="Arial" pitchFamily="34" charset="-120"/>
              </a:rPr>
              <a:t>5  </a:t>
            </a:r>
            <a:pPr indent="0" marL="0">
              <a:buNone/>
            </a:pPr>
            <a:r>
              <a:rPr lang="en-US" sz="1000" b="1" dirty="0">
                <a:solidFill>
                  <a:srgbClr val="0A7560"/>
                </a:solidFill>
                <a:latin typeface="Arial" pitchFamily="34" charset="0"/>
                <a:ea typeface="Arial" pitchFamily="34" charset="-122"/>
                <a:cs typeface="Arial" pitchFamily="34" charset="-120"/>
              </a:rPr>
              <a:t>Sélection</a:t>
            </a:r>
            <a:endParaRPr lang="en-US" sz="1000" dirty="0"/>
          </a:p>
        </p:txBody>
      </p:sp>
      <p:sp>
        <p:nvSpPr>
          <p:cNvPr id="12" name="Shape 10"/>
          <p:cNvSpPr/>
          <p:nvPr/>
        </p:nvSpPr>
        <p:spPr>
          <a:xfrm>
            <a:off x="7526655" y="278892"/>
            <a:ext cx="1322451" cy="73152"/>
          </a:xfrm>
          <a:prstGeom prst="rect">
            <a:avLst/>
          </a:prstGeom>
          <a:solidFill>
            <a:srgbClr val="0A7560"/>
          </a:solidFill>
          <a:ln w="12700">
            <a:solidFill>
              <a:srgbClr val="0A7560"/>
            </a:solidFill>
            <a:prstDash val="solid"/>
          </a:ln>
        </p:spPr>
      </p:sp>
      <p:sp>
        <p:nvSpPr>
          <p:cNvPr id="13" name="Text 11"/>
          <p:cNvSpPr txBox="1"/>
          <p:nvPr/>
        </p:nvSpPr>
        <p:spPr>
          <a:xfrm>
            <a:off x="7526655" y="402336"/>
            <a:ext cx="1322451" cy="237744"/>
          </a:xfrm>
          <a:prstGeom prst="rect">
            <a:avLst/>
          </a:prstGeom>
          <a:noFill/>
          <a:ln/>
        </p:spPr>
        <p:txBody>
          <a:bodyPr wrap="square" lIns="0" tIns="0" rIns="0" bIns="0" rtlCol="0" anchor="t"/>
          <a:lstStyle/>
          <a:p>
            <a:pPr indent="0" marL="0">
              <a:buNone/>
            </a:pPr>
            <a:r>
              <a:rPr lang="en-US" sz="1000" b="1" dirty="0">
                <a:solidFill>
                  <a:srgbClr val="0A7560"/>
                </a:solidFill>
                <a:latin typeface="Arial" pitchFamily="34" charset="0"/>
                <a:ea typeface="Arial" pitchFamily="34" charset="-122"/>
                <a:cs typeface="Arial" pitchFamily="34" charset="-120"/>
              </a:rPr>
              <a:t>6  </a:t>
            </a:r>
            <a:pPr indent="0" marL="0">
              <a:buNone/>
            </a:pPr>
            <a:r>
              <a:rPr lang="en-US" sz="1000" b="1" dirty="0">
                <a:solidFill>
                  <a:srgbClr val="0A7560"/>
                </a:solidFill>
                <a:latin typeface="Arial" pitchFamily="34" charset="0"/>
                <a:ea typeface="Arial" pitchFamily="34" charset="-122"/>
                <a:cs typeface="Arial" pitchFamily="34" charset="-120"/>
              </a:rPr>
              <a:t>Fusion</a:t>
            </a:r>
            <a:endParaRPr lang="en-US" sz="1000" dirty="0"/>
          </a:p>
        </p:txBody>
      </p:sp>
      <p:sp>
        <p:nvSpPr>
          <p:cNvPr id="14" name="Shape 12"/>
          <p:cNvSpPr/>
          <p:nvPr/>
        </p:nvSpPr>
        <p:spPr>
          <a:xfrm>
            <a:off x="8922258" y="292608"/>
            <a:ext cx="1322451" cy="45720"/>
          </a:xfrm>
          <a:prstGeom prst="rect">
            <a:avLst/>
          </a:prstGeom>
          <a:solidFill>
            <a:srgbClr val="C6CFCB"/>
          </a:solidFill>
          <a:ln w="12700">
            <a:solidFill>
              <a:srgbClr val="C6CFCB"/>
            </a:solidFill>
            <a:prstDash val="solid"/>
          </a:ln>
        </p:spPr>
      </p:sp>
      <p:sp>
        <p:nvSpPr>
          <p:cNvPr id="15" name="Text 13"/>
          <p:cNvSpPr txBox="1"/>
          <p:nvPr/>
        </p:nvSpPr>
        <p:spPr>
          <a:xfrm>
            <a:off x="8922258"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7  </a:t>
            </a:r>
            <a:pPr indent="0" marL="0">
              <a:buNone/>
            </a:pPr>
            <a:r>
              <a:rPr lang="en-US" sz="1000" dirty="0">
                <a:solidFill>
                  <a:srgbClr val="52616C"/>
                </a:solidFill>
                <a:latin typeface="Arial" pitchFamily="34" charset="0"/>
                <a:ea typeface="Arial" pitchFamily="34" charset="-122"/>
                <a:cs typeface="Arial" pitchFamily="34" charset="-120"/>
              </a:rPr>
              <a:t>Validation</a:t>
            </a:r>
            <a:endParaRPr lang="en-US" sz="1000" dirty="0"/>
          </a:p>
        </p:txBody>
      </p:sp>
      <p:sp>
        <p:nvSpPr>
          <p:cNvPr id="16" name="Shape 14"/>
          <p:cNvSpPr/>
          <p:nvPr/>
        </p:nvSpPr>
        <p:spPr>
          <a:xfrm>
            <a:off x="10317861" y="292608"/>
            <a:ext cx="1322451" cy="45720"/>
          </a:xfrm>
          <a:prstGeom prst="rect">
            <a:avLst/>
          </a:prstGeom>
          <a:solidFill>
            <a:srgbClr val="C6CFCB"/>
          </a:solidFill>
          <a:ln w="12700">
            <a:solidFill>
              <a:srgbClr val="C6CFCB"/>
            </a:solidFill>
            <a:prstDash val="solid"/>
          </a:ln>
        </p:spPr>
      </p:sp>
      <p:sp>
        <p:nvSpPr>
          <p:cNvPr id="17" name="Text 15"/>
          <p:cNvSpPr txBox="1"/>
          <p:nvPr/>
        </p:nvSpPr>
        <p:spPr>
          <a:xfrm>
            <a:off x="10317861"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8  </a:t>
            </a:r>
            <a:pPr indent="0" marL="0">
              <a:buNone/>
            </a:pPr>
            <a:r>
              <a:rPr lang="en-US" sz="1000" dirty="0">
                <a:solidFill>
                  <a:srgbClr val="52616C"/>
                </a:solidFill>
                <a:latin typeface="Arial" pitchFamily="34" charset="0"/>
                <a:ea typeface="Arial" pitchFamily="34" charset="-122"/>
                <a:cs typeface="Arial" pitchFamily="34" charset="-120"/>
              </a:rPr>
              <a:t>Production</a:t>
            </a:r>
            <a:endParaRPr lang="en-US" sz="1000" dirty="0"/>
          </a:p>
        </p:txBody>
      </p:sp>
      <p:sp>
        <p:nvSpPr>
          <p:cNvPr id="18" name="Text 16"/>
          <p:cNvSpPr txBox="1"/>
          <p:nvPr/>
        </p:nvSpPr>
        <p:spPr>
          <a:xfrm>
            <a:off x="548640" y="914400"/>
            <a:ext cx="10515600" cy="1097280"/>
          </a:xfrm>
          <a:prstGeom prst="rect">
            <a:avLst/>
          </a:prstGeom>
          <a:noFill/>
          <a:ln/>
        </p:spPr>
        <p:txBody>
          <a:bodyPr wrap="square" lIns="0" tIns="0" rIns="0" bIns="0" rtlCol="0" anchor="t"/>
          <a:lstStyle/>
          <a:p>
            <a:pPr indent="0" marL="0">
              <a:buNone/>
            </a:pPr>
            <a:r>
              <a:rPr lang="en-US" sz="3200" b="1" dirty="0">
                <a:solidFill>
                  <a:srgbClr val="14202A"/>
                </a:solidFill>
                <a:latin typeface="Arial" pitchFamily="34" charset="0"/>
                <a:ea typeface="Arial" pitchFamily="34" charset="-122"/>
                <a:cs typeface="Arial" pitchFamily="34" charset="-120"/>
              </a:rPr>
              <a:t>Garder le meilleur par horizon, puis fusionner sans doublons</a:t>
            </a:r>
            <a:endParaRPr lang="en-US" sz="3200" dirty="0"/>
          </a:p>
        </p:txBody>
      </p:sp>
      <p:sp>
        <p:nvSpPr>
          <p:cNvPr id="19" name="Text 17"/>
          <p:cNvSpPr txBox="1"/>
          <p:nvPr/>
        </p:nvSpPr>
        <p:spPr>
          <a:xfrm>
            <a:off x="548640" y="2103120"/>
            <a:ext cx="5029200" cy="365760"/>
          </a:xfrm>
          <a:prstGeom prst="rect">
            <a:avLst/>
          </a:prstGeom>
          <a:noFill/>
          <a:ln/>
        </p:spPr>
        <p:txBody>
          <a:bodyPr wrap="square" lIns="0" tIns="0" rIns="0" bIns="0" rtlCol="0" anchor="t"/>
          <a:lstStyle/>
          <a:p>
            <a:pPr indent="0" marL="0">
              <a:buNone/>
            </a:pPr>
            <a:r>
              <a:rPr lang="en-US" sz="1800" b="1" dirty="0">
                <a:solidFill>
                  <a:srgbClr val="14202A"/>
                </a:solidFill>
                <a:latin typeface="Arial" pitchFamily="34" charset="0"/>
                <a:ea typeface="Arial" pitchFamily="34" charset="-122"/>
                <a:cs typeface="Arial" pitchFamily="34" charset="-120"/>
              </a:rPr>
              <a:t>Sélection</a:t>
            </a:r>
            <a:endParaRPr lang="en-US" sz="1800" dirty="0"/>
          </a:p>
        </p:txBody>
      </p:sp>
      <p:sp>
        <p:nvSpPr>
          <p:cNvPr id="20" name="Text 18"/>
          <p:cNvSpPr txBox="1"/>
          <p:nvPr/>
        </p:nvSpPr>
        <p:spPr>
          <a:xfrm>
            <a:off x="548640" y="2542032"/>
            <a:ext cx="5029200" cy="1280160"/>
          </a:xfrm>
          <a:prstGeom prst="rect">
            <a:avLst/>
          </a:prstGeom>
          <a:noFill/>
          <a:ln/>
        </p:spPr>
        <p:txBody>
          <a:bodyPr wrap="square" lIns="0" tIns="0" rIns="0" bIns="0" rtlCol="0" anchor="t"/>
          <a:lstStyle/>
          <a:p>
            <a:pPr indent="0" marL="0">
              <a:buNone/>
            </a:pPr>
            <a:r>
              <a:rPr lang="en-US" sz="1400" dirty="0">
                <a:solidFill>
                  <a:srgbClr val="14202A"/>
                </a:solidFill>
                <a:latin typeface="Arial" pitchFamily="34" charset="0"/>
                <a:ea typeface="Arial" pitchFamily="34" charset="-122"/>
                <a:cs typeface="Arial" pitchFamily="34" charset="-120"/>
              </a:rPr>
              <a:t>Pour chaque horizon, le couple au P&amp;L moyen le plus élevé. Un couple peut gagner à 15 jours et perdre à six mois : on en retient un par horizon.</a:t>
            </a:r>
            <a:endParaRPr lang="en-US" sz="1400" dirty="0"/>
          </a:p>
        </p:txBody>
      </p:sp>
      <p:sp>
        <p:nvSpPr>
          <p:cNvPr id="21" name="Shape 19"/>
          <p:cNvSpPr/>
          <p:nvPr/>
        </p:nvSpPr>
        <p:spPr>
          <a:xfrm>
            <a:off x="548640" y="4023360"/>
            <a:ext cx="5029200" cy="2103120"/>
          </a:xfrm>
          <a:prstGeom prst="rect">
            <a:avLst/>
          </a:prstGeom>
          <a:solidFill>
            <a:srgbClr val="F7F9F8"/>
          </a:solidFill>
          <a:ln w="9525">
            <a:solidFill>
              <a:srgbClr val="C6CFCB"/>
            </a:solidFill>
            <a:prstDash val="solid"/>
          </a:ln>
        </p:spPr>
      </p:sp>
      <p:sp>
        <p:nvSpPr>
          <p:cNvPr id="22" name="Text 20"/>
          <p:cNvSpPr txBox="1"/>
          <p:nvPr/>
        </p:nvSpPr>
        <p:spPr>
          <a:xfrm>
            <a:off x="822960" y="4206240"/>
            <a:ext cx="4572000" cy="320040"/>
          </a:xfrm>
          <a:prstGeom prst="rect">
            <a:avLst/>
          </a:prstGeom>
          <a:noFill/>
          <a:ln/>
        </p:spPr>
        <p:txBody>
          <a:bodyPr wrap="square" lIns="0" tIns="0" rIns="0" bIns="0" rtlCol="0" anchor="t"/>
          <a:lstStyle/>
          <a:p>
            <a:pPr indent="0" marL="0">
              <a:buNone/>
            </a:pPr>
            <a:r>
              <a:rPr lang="en-US" sz="1300" b="1" dirty="0">
                <a:solidFill>
                  <a:srgbClr val="52616C"/>
                </a:solidFill>
                <a:latin typeface="Arial" pitchFamily="34" charset="0"/>
                <a:ea typeface="Arial" pitchFamily="34" charset="-122"/>
                <a:cs typeface="Arial" pitchFamily="34" charset="-120"/>
              </a:rPr>
              <a:t>Exemple</a:t>
            </a:r>
            <a:endParaRPr lang="en-US" sz="1300" dirty="0"/>
          </a:p>
        </p:txBody>
      </p:sp>
      <p:sp>
        <p:nvSpPr>
          <p:cNvPr id="23" name="Text 21"/>
          <p:cNvSpPr txBox="1"/>
          <p:nvPr/>
        </p:nvSpPr>
        <p:spPr>
          <a:xfrm>
            <a:off x="822960" y="4572000"/>
            <a:ext cx="4480560" cy="1371600"/>
          </a:xfrm>
          <a:prstGeom prst="rect">
            <a:avLst/>
          </a:prstGeom>
          <a:noFill/>
          <a:ln/>
        </p:spPr>
        <p:txBody>
          <a:bodyPr wrap="square" lIns="0" tIns="0" rIns="0" bIns="0" rtlCol="0" anchor="t"/>
          <a:lstStyle/>
          <a:p>
            <a:pPr indent="0" marL="0">
              <a:buNone/>
            </a:pPr>
            <a:r>
              <a:rPr lang="en-US" sz="1400" dirty="0">
                <a:solidFill>
                  <a:srgbClr val="14202A"/>
                </a:solidFill>
                <a:latin typeface="Arial" pitchFamily="34" charset="0"/>
                <a:ea typeface="Arial" pitchFamily="34" charset="-122"/>
                <a:cs typeface="Arial" pitchFamily="34" charset="-120"/>
              </a:rPr>
              <a:t>ext_ema50 est corrélé à 0,87 avec mom_glissant. Il est évincé, et mom_glissant passe de 2 à 3 apparitions : poids 1,00.</a:t>
            </a:r>
            <a:endParaRPr lang="en-US" sz="1400" dirty="0"/>
          </a:p>
        </p:txBody>
      </p:sp>
      <p:sp>
        <p:nvSpPr>
          <p:cNvPr id="24" name="Text 22"/>
          <p:cNvSpPr txBox="1"/>
          <p:nvPr/>
        </p:nvSpPr>
        <p:spPr>
          <a:xfrm>
            <a:off x="6126480" y="2103120"/>
            <a:ext cx="5486400" cy="365760"/>
          </a:xfrm>
          <a:prstGeom prst="rect">
            <a:avLst/>
          </a:prstGeom>
          <a:noFill/>
          <a:ln/>
        </p:spPr>
        <p:txBody>
          <a:bodyPr wrap="square" lIns="0" tIns="0" rIns="0" bIns="0" rtlCol="0" anchor="t"/>
          <a:lstStyle/>
          <a:p>
            <a:pPr indent="0" marL="0">
              <a:buNone/>
            </a:pPr>
            <a:r>
              <a:rPr lang="en-US" sz="1800" b="1" dirty="0">
                <a:solidFill>
                  <a:srgbClr val="14202A"/>
                </a:solidFill>
                <a:latin typeface="Arial" pitchFamily="34" charset="0"/>
                <a:ea typeface="Arial" pitchFamily="34" charset="-122"/>
                <a:cs typeface="Arial" pitchFamily="34" charset="-120"/>
              </a:rPr>
              <a:t>Fusion, en quatre temps</a:t>
            </a:r>
            <a:endParaRPr lang="en-US" sz="1800" dirty="0"/>
          </a:p>
        </p:txBody>
      </p:sp>
      <p:sp>
        <p:nvSpPr>
          <p:cNvPr id="25" name="Shape 23"/>
          <p:cNvSpPr/>
          <p:nvPr/>
        </p:nvSpPr>
        <p:spPr>
          <a:xfrm>
            <a:off x="6126480" y="2606040"/>
            <a:ext cx="384048" cy="384048"/>
          </a:xfrm>
          <a:prstGeom prst="ellipse">
            <a:avLst/>
          </a:prstGeom>
          <a:solidFill>
            <a:srgbClr val="0A7560"/>
          </a:solidFill>
          <a:ln w="12700">
            <a:solidFill>
              <a:srgbClr val="0A7560"/>
            </a:solidFill>
            <a:prstDash val="solid"/>
          </a:ln>
        </p:spPr>
      </p:sp>
      <p:sp>
        <p:nvSpPr>
          <p:cNvPr id="26" name="Text 24"/>
          <p:cNvSpPr txBox="1"/>
          <p:nvPr/>
        </p:nvSpPr>
        <p:spPr>
          <a:xfrm>
            <a:off x="6126480" y="2606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27" name="Text 25"/>
          <p:cNvSpPr txBox="1"/>
          <p:nvPr/>
        </p:nvSpPr>
        <p:spPr>
          <a:xfrm>
            <a:off x="6675120" y="2478024"/>
            <a:ext cx="4937760" cy="640080"/>
          </a:xfrm>
          <a:prstGeom prst="rect">
            <a:avLst/>
          </a:prstGeom>
          <a:noFill/>
          <a:ln/>
        </p:spPr>
        <p:txBody>
          <a:bodyPr wrap="square" lIns="0" tIns="0" rIns="0" bIns="0" rtlCol="0" anchor="ctr"/>
          <a:lstStyle/>
          <a:p>
            <a:pPr indent="0" marL="0">
              <a:buNone/>
            </a:pPr>
            <a:r>
              <a:rPr lang="en-US" sz="1400" dirty="0">
                <a:solidFill>
                  <a:srgbClr val="14202A"/>
                </a:solidFill>
                <a:latin typeface="Arial" pitchFamily="34" charset="0"/>
                <a:ea typeface="Arial" pitchFamily="34" charset="-122"/>
                <a:cs typeface="Arial" pitchFamily="34" charset="-120"/>
              </a:rPr>
              <a:t>Rassembler les indicateurs des paniers retenus</a:t>
            </a:r>
            <a:endParaRPr lang="en-US" sz="1400" dirty="0"/>
          </a:p>
        </p:txBody>
      </p:sp>
      <p:sp>
        <p:nvSpPr>
          <p:cNvPr id="28" name="Shape 26"/>
          <p:cNvSpPr/>
          <p:nvPr/>
        </p:nvSpPr>
        <p:spPr>
          <a:xfrm>
            <a:off x="6126480" y="3383280"/>
            <a:ext cx="384048" cy="384048"/>
          </a:xfrm>
          <a:prstGeom prst="ellipse">
            <a:avLst/>
          </a:prstGeom>
          <a:solidFill>
            <a:srgbClr val="0A7560"/>
          </a:solidFill>
          <a:ln w="12700">
            <a:solidFill>
              <a:srgbClr val="0A7560"/>
            </a:solidFill>
            <a:prstDash val="solid"/>
          </a:ln>
        </p:spPr>
      </p:sp>
      <p:sp>
        <p:nvSpPr>
          <p:cNvPr id="29" name="Text 27"/>
          <p:cNvSpPr txBox="1"/>
          <p:nvPr/>
        </p:nvSpPr>
        <p:spPr>
          <a:xfrm>
            <a:off x="6126480" y="33832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30" name="Text 28"/>
          <p:cNvSpPr txBox="1"/>
          <p:nvPr/>
        </p:nvSpPr>
        <p:spPr>
          <a:xfrm>
            <a:off x="6675120" y="3255264"/>
            <a:ext cx="4937760" cy="640080"/>
          </a:xfrm>
          <a:prstGeom prst="rect">
            <a:avLst/>
          </a:prstGeom>
          <a:noFill/>
          <a:ln/>
        </p:spPr>
        <p:txBody>
          <a:bodyPr wrap="square" lIns="0" tIns="0" rIns="0" bIns="0" rtlCol="0" anchor="ctr"/>
          <a:lstStyle/>
          <a:p>
            <a:pPr indent="0" marL="0">
              <a:buNone/>
            </a:pPr>
            <a:r>
              <a:rPr lang="en-US" sz="1400" dirty="0">
                <a:solidFill>
                  <a:srgbClr val="14202A"/>
                </a:solidFill>
                <a:latin typeface="Arial" pitchFamily="34" charset="0"/>
                <a:ea typeface="Arial" pitchFamily="34" charset="-122"/>
                <a:cs typeface="Arial" pitchFamily="34" charset="-120"/>
              </a:rPr>
              <a:t>Corrélation cross-sectionnelle : au-delà de 0,8, un seul survit</a:t>
            </a:r>
            <a:endParaRPr lang="en-US" sz="1400" dirty="0"/>
          </a:p>
        </p:txBody>
      </p:sp>
      <p:sp>
        <p:nvSpPr>
          <p:cNvPr id="31" name="Shape 29"/>
          <p:cNvSpPr/>
          <p:nvPr/>
        </p:nvSpPr>
        <p:spPr>
          <a:xfrm>
            <a:off x="6126480" y="4160520"/>
            <a:ext cx="384048" cy="384048"/>
          </a:xfrm>
          <a:prstGeom prst="ellipse">
            <a:avLst/>
          </a:prstGeom>
          <a:solidFill>
            <a:srgbClr val="0A7560"/>
          </a:solidFill>
          <a:ln w="12700">
            <a:solidFill>
              <a:srgbClr val="0A7560"/>
            </a:solidFill>
            <a:prstDash val="solid"/>
          </a:ln>
        </p:spPr>
      </p:sp>
      <p:sp>
        <p:nvSpPr>
          <p:cNvPr id="32" name="Text 30"/>
          <p:cNvSpPr txBox="1"/>
          <p:nvPr/>
        </p:nvSpPr>
        <p:spPr>
          <a:xfrm>
            <a:off x="6126480" y="4160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33" name="Text 31"/>
          <p:cNvSpPr txBox="1"/>
          <p:nvPr/>
        </p:nvSpPr>
        <p:spPr>
          <a:xfrm>
            <a:off x="6675120" y="4032504"/>
            <a:ext cx="4937760" cy="640080"/>
          </a:xfrm>
          <a:prstGeom prst="rect">
            <a:avLst/>
          </a:prstGeom>
          <a:noFill/>
          <a:ln/>
        </p:spPr>
        <p:txBody>
          <a:bodyPr wrap="square" lIns="0" tIns="0" rIns="0" bIns="0" rtlCol="0" anchor="ctr"/>
          <a:lstStyle/>
          <a:p>
            <a:pPr indent="0" marL="0">
              <a:buNone/>
            </a:pPr>
            <a:r>
              <a:rPr lang="en-US" sz="1400" dirty="0">
                <a:solidFill>
                  <a:srgbClr val="14202A"/>
                </a:solidFill>
                <a:latin typeface="Arial" pitchFamily="34" charset="0"/>
                <a:ea typeface="Arial" pitchFamily="34" charset="-122"/>
                <a:cs typeface="Arial" pitchFamily="34" charset="-120"/>
              </a:rPr>
              <a:t>Le survivant hérite de la fréquence des évincés</a:t>
            </a:r>
            <a:endParaRPr lang="en-US" sz="1400" dirty="0"/>
          </a:p>
        </p:txBody>
      </p:sp>
      <p:sp>
        <p:nvSpPr>
          <p:cNvPr id="34" name="Shape 32"/>
          <p:cNvSpPr/>
          <p:nvPr/>
        </p:nvSpPr>
        <p:spPr>
          <a:xfrm>
            <a:off x="6126480" y="4937760"/>
            <a:ext cx="384048" cy="384048"/>
          </a:xfrm>
          <a:prstGeom prst="ellipse">
            <a:avLst/>
          </a:prstGeom>
          <a:solidFill>
            <a:srgbClr val="0A7560"/>
          </a:solidFill>
          <a:ln w="12700">
            <a:solidFill>
              <a:srgbClr val="0A7560"/>
            </a:solidFill>
            <a:prstDash val="solid"/>
          </a:ln>
        </p:spPr>
      </p:sp>
      <p:sp>
        <p:nvSpPr>
          <p:cNvPr id="35" name="Text 33"/>
          <p:cNvSpPr txBox="1"/>
          <p:nvPr/>
        </p:nvSpPr>
        <p:spPr>
          <a:xfrm>
            <a:off x="6126480" y="4937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36" name="Text 34"/>
          <p:cNvSpPr txBox="1"/>
          <p:nvPr/>
        </p:nvSpPr>
        <p:spPr>
          <a:xfrm>
            <a:off x="6675120" y="4809744"/>
            <a:ext cx="4937760" cy="640080"/>
          </a:xfrm>
          <a:prstGeom prst="rect">
            <a:avLst/>
          </a:prstGeom>
          <a:noFill/>
          <a:ln/>
        </p:spPr>
        <p:txBody>
          <a:bodyPr wrap="square" lIns="0" tIns="0" rIns="0" bIns="0" rtlCol="0" anchor="ctr"/>
          <a:lstStyle/>
          <a:p>
            <a:pPr indent="0" marL="0">
              <a:buNone/>
            </a:pPr>
            <a:r>
              <a:rPr lang="en-US" sz="1400" dirty="0">
                <a:solidFill>
                  <a:srgbClr val="14202A"/>
                </a:solidFill>
                <a:latin typeface="Arial" pitchFamily="34" charset="0"/>
                <a:ea typeface="Arial" pitchFamily="34" charset="-122"/>
                <a:cs typeface="Arial" pitchFamily="34" charset="-120"/>
              </a:rPr>
              <a:t>Poids = rang percentile de la fréquence</a:t>
            </a:r>
            <a:endParaRPr lang="en-US" sz="1400" dirty="0"/>
          </a:p>
        </p:txBody>
      </p:sp>
      <p:sp>
        <p:nvSpPr>
          <p:cNvPr id="37" name="Text 35"/>
          <p:cNvSpPr txBox="1"/>
          <p:nvPr/>
        </p:nvSpPr>
        <p:spPr>
          <a:xfrm>
            <a:off x="6126480" y="5806440"/>
            <a:ext cx="5486400" cy="365760"/>
          </a:xfrm>
          <a:prstGeom prst="rect">
            <a:avLst/>
          </a:prstGeom>
          <a:noFill/>
          <a:ln/>
        </p:spPr>
        <p:txBody>
          <a:bodyPr wrap="square" lIns="0" tIns="0" rIns="0" bIns="0" rtlCol="0" anchor="t"/>
          <a:lstStyle/>
          <a:p>
            <a:pPr indent="0" marL="0">
              <a:buNone/>
            </a:pPr>
            <a:r>
              <a:rPr lang="en-US" sz="1200" dirty="0">
                <a:solidFill>
                  <a:srgbClr val="52616C"/>
                </a:solidFill>
                <a:latin typeface="Arial" pitchFamily="34" charset="0"/>
                <a:ea typeface="Arial" pitchFamily="34" charset="-122"/>
                <a:cs typeface="Arial" pitchFamily="34" charset="-120"/>
              </a:rPr>
              <a:t>Deux fusions parallèles : une pour l'entrée, une pour la sortie.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F0EE"/>
        </a:solidFill>
      </p:bgPr>
    </p:bg>
    <p:spTree>
      <p:nvGrpSpPr>
        <p:cNvPr id="1" name=""/>
        <p:cNvGrpSpPr/>
        <p:nvPr/>
      </p:nvGrpSpPr>
      <p:grpSpPr>
        <a:xfrm>
          <a:off x="0" y="0"/>
          <a:ext cx="0" cy="0"/>
          <a:chOff x="0" y="0"/>
          <a:chExt cx="0" cy="0"/>
        </a:xfrm>
      </p:grpSpPr>
      <p:sp>
        <p:nvSpPr>
          <p:cNvPr id="2" name="Shape 0"/>
          <p:cNvSpPr/>
          <p:nvPr/>
        </p:nvSpPr>
        <p:spPr>
          <a:xfrm>
            <a:off x="548640" y="292608"/>
            <a:ext cx="1322451" cy="45720"/>
          </a:xfrm>
          <a:prstGeom prst="rect">
            <a:avLst/>
          </a:prstGeom>
          <a:solidFill>
            <a:srgbClr val="52616C"/>
          </a:solidFill>
          <a:ln w="12700">
            <a:solidFill>
              <a:srgbClr val="52616C"/>
            </a:solidFill>
            <a:prstDash val="solid"/>
          </a:ln>
        </p:spPr>
      </p:sp>
      <p:sp>
        <p:nvSpPr>
          <p:cNvPr id="3" name="Text 1"/>
          <p:cNvSpPr txBox="1"/>
          <p:nvPr/>
        </p:nvSpPr>
        <p:spPr>
          <a:xfrm>
            <a:off x="548640"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1  </a:t>
            </a:r>
            <a:pPr indent="0" marL="0">
              <a:buNone/>
            </a:pPr>
            <a:r>
              <a:rPr lang="en-US" sz="1000" dirty="0">
                <a:solidFill>
                  <a:srgbClr val="14202A"/>
                </a:solidFill>
                <a:latin typeface="Arial" pitchFamily="34" charset="0"/>
                <a:ea typeface="Arial" pitchFamily="34" charset="-122"/>
                <a:cs typeface="Arial" pitchFamily="34" charset="-120"/>
              </a:rPr>
              <a:t>Données</a:t>
            </a:r>
            <a:endParaRPr lang="en-US" sz="1000" dirty="0"/>
          </a:p>
        </p:txBody>
      </p:sp>
      <p:sp>
        <p:nvSpPr>
          <p:cNvPr id="4" name="Shape 2"/>
          <p:cNvSpPr/>
          <p:nvPr/>
        </p:nvSpPr>
        <p:spPr>
          <a:xfrm>
            <a:off x="1944243" y="292608"/>
            <a:ext cx="1322451" cy="45720"/>
          </a:xfrm>
          <a:prstGeom prst="rect">
            <a:avLst/>
          </a:prstGeom>
          <a:solidFill>
            <a:srgbClr val="52616C"/>
          </a:solidFill>
          <a:ln w="12700">
            <a:solidFill>
              <a:srgbClr val="52616C"/>
            </a:solidFill>
            <a:prstDash val="solid"/>
          </a:ln>
        </p:spPr>
      </p:sp>
      <p:sp>
        <p:nvSpPr>
          <p:cNvPr id="5" name="Text 3"/>
          <p:cNvSpPr txBox="1"/>
          <p:nvPr/>
        </p:nvSpPr>
        <p:spPr>
          <a:xfrm>
            <a:off x="1944243"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2  </a:t>
            </a:r>
            <a:pPr indent="0" marL="0">
              <a:buNone/>
            </a:pPr>
            <a:r>
              <a:rPr lang="en-US" sz="1000" dirty="0">
                <a:solidFill>
                  <a:srgbClr val="14202A"/>
                </a:solidFill>
                <a:latin typeface="Arial" pitchFamily="34" charset="0"/>
                <a:ea typeface="Arial" pitchFamily="34" charset="-122"/>
                <a:cs typeface="Arial" pitchFamily="34" charset="-120"/>
              </a:rPr>
              <a:t>Indicateurs</a:t>
            </a:r>
            <a:endParaRPr lang="en-US" sz="1000" dirty="0"/>
          </a:p>
        </p:txBody>
      </p:sp>
      <p:sp>
        <p:nvSpPr>
          <p:cNvPr id="6" name="Shape 4"/>
          <p:cNvSpPr/>
          <p:nvPr/>
        </p:nvSpPr>
        <p:spPr>
          <a:xfrm>
            <a:off x="3339846" y="292608"/>
            <a:ext cx="1322451" cy="45720"/>
          </a:xfrm>
          <a:prstGeom prst="rect">
            <a:avLst/>
          </a:prstGeom>
          <a:solidFill>
            <a:srgbClr val="52616C"/>
          </a:solidFill>
          <a:ln w="12700">
            <a:solidFill>
              <a:srgbClr val="52616C"/>
            </a:solidFill>
            <a:prstDash val="solid"/>
          </a:ln>
        </p:spPr>
      </p:sp>
      <p:sp>
        <p:nvSpPr>
          <p:cNvPr id="7" name="Text 5"/>
          <p:cNvSpPr txBox="1"/>
          <p:nvPr/>
        </p:nvSpPr>
        <p:spPr>
          <a:xfrm>
            <a:off x="3339846"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3  </a:t>
            </a:r>
            <a:pPr indent="0" marL="0">
              <a:buNone/>
            </a:pPr>
            <a:r>
              <a:rPr lang="en-US" sz="1000" dirty="0">
                <a:solidFill>
                  <a:srgbClr val="14202A"/>
                </a:solidFill>
                <a:latin typeface="Arial" pitchFamily="34" charset="0"/>
                <a:ea typeface="Arial" pitchFamily="34" charset="-122"/>
                <a:cs typeface="Arial" pitchFamily="34" charset="-120"/>
              </a:rPr>
              <a:t>Paniers</a:t>
            </a:r>
            <a:endParaRPr lang="en-US" sz="1000" dirty="0"/>
          </a:p>
        </p:txBody>
      </p:sp>
      <p:sp>
        <p:nvSpPr>
          <p:cNvPr id="8" name="Shape 6"/>
          <p:cNvSpPr/>
          <p:nvPr/>
        </p:nvSpPr>
        <p:spPr>
          <a:xfrm>
            <a:off x="4735449" y="292608"/>
            <a:ext cx="1322451" cy="45720"/>
          </a:xfrm>
          <a:prstGeom prst="rect">
            <a:avLst/>
          </a:prstGeom>
          <a:solidFill>
            <a:srgbClr val="52616C"/>
          </a:solidFill>
          <a:ln w="12700">
            <a:solidFill>
              <a:srgbClr val="52616C"/>
            </a:solidFill>
            <a:prstDash val="solid"/>
          </a:ln>
        </p:spPr>
      </p:sp>
      <p:sp>
        <p:nvSpPr>
          <p:cNvPr id="9" name="Text 7"/>
          <p:cNvSpPr txBox="1"/>
          <p:nvPr/>
        </p:nvSpPr>
        <p:spPr>
          <a:xfrm>
            <a:off x="4735449"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4  </a:t>
            </a:r>
            <a:pPr indent="0" marL="0">
              <a:buNone/>
            </a:pPr>
            <a:r>
              <a:rPr lang="en-US" sz="1000" dirty="0">
                <a:solidFill>
                  <a:srgbClr val="14202A"/>
                </a:solidFill>
                <a:latin typeface="Arial" pitchFamily="34" charset="0"/>
                <a:ea typeface="Arial" pitchFamily="34" charset="-122"/>
                <a:cs typeface="Arial" pitchFamily="34" charset="-120"/>
              </a:rPr>
              <a:t>Bootstrap</a:t>
            </a:r>
            <a:endParaRPr lang="en-US" sz="1000" dirty="0"/>
          </a:p>
        </p:txBody>
      </p:sp>
      <p:sp>
        <p:nvSpPr>
          <p:cNvPr id="10" name="Shape 8"/>
          <p:cNvSpPr/>
          <p:nvPr/>
        </p:nvSpPr>
        <p:spPr>
          <a:xfrm>
            <a:off x="6131052" y="292608"/>
            <a:ext cx="1322451" cy="45720"/>
          </a:xfrm>
          <a:prstGeom prst="rect">
            <a:avLst/>
          </a:prstGeom>
          <a:solidFill>
            <a:srgbClr val="52616C"/>
          </a:solidFill>
          <a:ln w="12700">
            <a:solidFill>
              <a:srgbClr val="52616C"/>
            </a:solidFill>
            <a:prstDash val="solid"/>
          </a:ln>
        </p:spPr>
      </p:sp>
      <p:sp>
        <p:nvSpPr>
          <p:cNvPr id="11" name="Text 9"/>
          <p:cNvSpPr txBox="1"/>
          <p:nvPr/>
        </p:nvSpPr>
        <p:spPr>
          <a:xfrm>
            <a:off x="6131052"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5  </a:t>
            </a:r>
            <a:pPr indent="0" marL="0">
              <a:buNone/>
            </a:pPr>
            <a:r>
              <a:rPr lang="en-US" sz="1000" dirty="0">
                <a:solidFill>
                  <a:srgbClr val="14202A"/>
                </a:solidFill>
                <a:latin typeface="Arial" pitchFamily="34" charset="0"/>
                <a:ea typeface="Arial" pitchFamily="34" charset="-122"/>
                <a:cs typeface="Arial" pitchFamily="34" charset="-120"/>
              </a:rPr>
              <a:t>Sélection</a:t>
            </a:r>
            <a:endParaRPr lang="en-US" sz="1000" dirty="0"/>
          </a:p>
        </p:txBody>
      </p:sp>
      <p:sp>
        <p:nvSpPr>
          <p:cNvPr id="12" name="Shape 10"/>
          <p:cNvSpPr/>
          <p:nvPr/>
        </p:nvSpPr>
        <p:spPr>
          <a:xfrm>
            <a:off x="7526655" y="292608"/>
            <a:ext cx="1322451" cy="45720"/>
          </a:xfrm>
          <a:prstGeom prst="rect">
            <a:avLst/>
          </a:prstGeom>
          <a:solidFill>
            <a:srgbClr val="52616C"/>
          </a:solidFill>
          <a:ln w="12700">
            <a:solidFill>
              <a:srgbClr val="52616C"/>
            </a:solidFill>
            <a:prstDash val="solid"/>
          </a:ln>
        </p:spPr>
      </p:sp>
      <p:sp>
        <p:nvSpPr>
          <p:cNvPr id="13" name="Text 11"/>
          <p:cNvSpPr txBox="1"/>
          <p:nvPr/>
        </p:nvSpPr>
        <p:spPr>
          <a:xfrm>
            <a:off x="7526655"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6  </a:t>
            </a:r>
            <a:pPr indent="0" marL="0">
              <a:buNone/>
            </a:pPr>
            <a:r>
              <a:rPr lang="en-US" sz="1000" dirty="0">
                <a:solidFill>
                  <a:srgbClr val="14202A"/>
                </a:solidFill>
                <a:latin typeface="Arial" pitchFamily="34" charset="0"/>
                <a:ea typeface="Arial" pitchFamily="34" charset="-122"/>
                <a:cs typeface="Arial" pitchFamily="34" charset="-120"/>
              </a:rPr>
              <a:t>Fusion</a:t>
            </a:r>
            <a:endParaRPr lang="en-US" sz="1000" dirty="0"/>
          </a:p>
        </p:txBody>
      </p:sp>
      <p:sp>
        <p:nvSpPr>
          <p:cNvPr id="14" name="Shape 12"/>
          <p:cNvSpPr/>
          <p:nvPr/>
        </p:nvSpPr>
        <p:spPr>
          <a:xfrm>
            <a:off x="8922258" y="278892"/>
            <a:ext cx="1322451" cy="73152"/>
          </a:xfrm>
          <a:prstGeom prst="rect">
            <a:avLst/>
          </a:prstGeom>
          <a:solidFill>
            <a:srgbClr val="0A7560"/>
          </a:solidFill>
          <a:ln w="12700">
            <a:solidFill>
              <a:srgbClr val="0A7560"/>
            </a:solidFill>
            <a:prstDash val="solid"/>
          </a:ln>
        </p:spPr>
      </p:sp>
      <p:sp>
        <p:nvSpPr>
          <p:cNvPr id="15" name="Text 13"/>
          <p:cNvSpPr txBox="1"/>
          <p:nvPr/>
        </p:nvSpPr>
        <p:spPr>
          <a:xfrm>
            <a:off x="8922258" y="402336"/>
            <a:ext cx="1322451" cy="237744"/>
          </a:xfrm>
          <a:prstGeom prst="rect">
            <a:avLst/>
          </a:prstGeom>
          <a:noFill/>
          <a:ln/>
        </p:spPr>
        <p:txBody>
          <a:bodyPr wrap="square" lIns="0" tIns="0" rIns="0" bIns="0" rtlCol="0" anchor="t"/>
          <a:lstStyle/>
          <a:p>
            <a:pPr indent="0" marL="0">
              <a:buNone/>
            </a:pPr>
            <a:r>
              <a:rPr lang="en-US" sz="1000" b="1" dirty="0">
                <a:solidFill>
                  <a:srgbClr val="0A7560"/>
                </a:solidFill>
                <a:latin typeface="Arial" pitchFamily="34" charset="0"/>
                <a:ea typeface="Arial" pitchFamily="34" charset="-122"/>
                <a:cs typeface="Arial" pitchFamily="34" charset="-120"/>
              </a:rPr>
              <a:t>7  </a:t>
            </a:r>
            <a:pPr indent="0" marL="0">
              <a:buNone/>
            </a:pPr>
            <a:r>
              <a:rPr lang="en-US" sz="1000" b="1" dirty="0">
                <a:solidFill>
                  <a:srgbClr val="0A7560"/>
                </a:solidFill>
                <a:latin typeface="Arial" pitchFamily="34" charset="0"/>
                <a:ea typeface="Arial" pitchFamily="34" charset="-122"/>
                <a:cs typeface="Arial" pitchFamily="34" charset="-120"/>
              </a:rPr>
              <a:t>Validation</a:t>
            </a:r>
            <a:endParaRPr lang="en-US" sz="1000" dirty="0"/>
          </a:p>
        </p:txBody>
      </p:sp>
      <p:sp>
        <p:nvSpPr>
          <p:cNvPr id="16" name="Shape 14"/>
          <p:cNvSpPr/>
          <p:nvPr/>
        </p:nvSpPr>
        <p:spPr>
          <a:xfrm>
            <a:off x="10317861" y="292608"/>
            <a:ext cx="1322451" cy="45720"/>
          </a:xfrm>
          <a:prstGeom prst="rect">
            <a:avLst/>
          </a:prstGeom>
          <a:solidFill>
            <a:srgbClr val="C6CFCB"/>
          </a:solidFill>
          <a:ln w="12700">
            <a:solidFill>
              <a:srgbClr val="C6CFCB"/>
            </a:solidFill>
            <a:prstDash val="solid"/>
          </a:ln>
        </p:spPr>
      </p:sp>
      <p:sp>
        <p:nvSpPr>
          <p:cNvPr id="17" name="Text 15"/>
          <p:cNvSpPr txBox="1"/>
          <p:nvPr/>
        </p:nvSpPr>
        <p:spPr>
          <a:xfrm>
            <a:off x="10317861"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8  </a:t>
            </a:r>
            <a:pPr indent="0" marL="0">
              <a:buNone/>
            </a:pPr>
            <a:r>
              <a:rPr lang="en-US" sz="1000" dirty="0">
                <a:solidFill>
                  <a:srgbClr val="52616C"/>
                </a:solidFill>
                <a:latin typeface="Arial" pitchFamily="34" charset="0"/>
                <a:ea typeface="Arial" pitchFamily="34" charset="-122"/>
                <a:cs typeface="Arial" pitchFamily="34" charset="-120"/>
              </a:rPr>
              <a:t>Production</a:t>
            </a:r>
            <a:endParaRPr lang="en-US" sz="1000" dirty="0"/>
          </a:p>
        </p:txBody>
      </p:sp>
      <p:sp>
        <p:nvSpPr>
          <p:cNvPr id="18" name="Text 16"/>
          <p:cNvSpPr txBox="1"/>
          <p:nvPr/>
        </p:nvSpPr>
        <p:spPr>
          <a:xfrm>
            <a:off x="548640" y="914400"/>
            <a:ext cx="6035040" cy="1188720"/>
          </a:xfrm>
          <a:prstGeom prst="rect">
            <a:avLst/>
          </a:prstGeom>
          <a:noFill/>
          <a:ln/>
        </p:spPr>
        <p:txBody>
          <a:bodyPr wrap="square" lIns="0" tIns="0" rIns="0" bIns="0" rtlCol="0" anchor="t"/>
          <a:lstStyle/>
          <a:p>
            <a:pPr indent="0" marL="0">
              <a:buNone/>
            </a:pPr>
            <a:r>
              <a:rPr lang="en-US" sz="3200" b="1" dirty="0">
                <a:solidFill>
                  <a:srgbClr val="14202A"/>
                </a:solidFill>
                <a:latin typeface="Arial" pitchFamily="34" charset="0"/>
                <a:ea typeface="Arial" pitchFamily="34" charset="-122"/>
                <a:cs typeface="Arial" pitchFamily="34" charset="-120"/>
              </a:rPr>
              <a:t>Le panier final est jugé sur des données qu'il n'a jamais vues</a:t>
            </a:r>
            <a:endParaRPr lang="en-US" sz="3200" dirty="0"/>
          </a:p>
        </p:txBody>
      </p:sp>
      <p:sp>
        <p:nvSpPr>
          <p:cNvPr id="19" name="Text 17"/>
          <p:cNvSpPr txBox="1"/>
          <p:nvPr/>
        </p:nvSpPr>
        <p:spPr>
          <a:xfrm>
            <a:off x="548640" y="2286000"/>
            <a:ext cx="6035040" cy="3840480"/>
          </a:xfrm>
          <a:prstGeom prst="rect">
            <a:avLst/>
          </a:prstGeom>
          <a:noFill/>
          <a:ln/>
        </p:spPr>
        <p:txBody>
          <a:bodyPr wrap="square" lIns="0" tIns="0" rIns="0" bIns="0" rtlCol="0" anchor="t"/>
          <a:lstStyle/>
          <a:p>
            <a:pPr indent="0" marL="0">
              <a:lnSpc>
                <a:spcPct val="112000"/>
              </a:lnSpc>
              <a:buNone/>
            </a:pPr>
            <a:r>
              <a:rPr lang="en-US" sz="1500" b="1" dirty="0">
                <a:solidFill>
                  <a:srgbClr val="14202A"/>
                </a:solidFill>
                <a:latin typeface="Arial" pitchFamily="34" charset="0"/>
                <a:ea typeface="Arial" pitchFamily="34" charset="-122"/>
                <a:cs typeface="Arial" pitchFamily="34" charset="-120"/>
              </a:rPr>
              <a:t>70 % entraînement, 30 % test, </a:t>
            </a:r>
            <a:pPr indent="0" marL="0">
              <a:lnSpc>
                <a:spcPct val="112000"/>
              </a:lnSpc>
              <a:spcAft>
                <a:spcPts val="900"/>
              </a:spcAft>
              <a:buNone/>
            </a:pPr>
            <a:r>
              <a:rPr lang="en-US" sz="1500" dirty="0">
                <a:solidFill>
                  <a:srgbClr val="14202A"/>
                </a:solidFill>
                <a:latin typeface="Arial" pitchFamily="34" charset="0"/>
                <a:ea typeface="Arial" pitchFamily="34" charset="-122"/>
                <a:cs typeface="Arial" pitchFamily="34" charset="-120"/>
              </a:rPr>
              <a:t>découpage chronologique.</a:t>
            </a:r>
            <a:endParaRPr lang="en-US" sz="1500" dirty="0"/>
          </a:p>
          <a:p>
            <a:pPr indent="0" marL="0">
              <a:lnSpc>
                <a:spcPct val="112000"/>
              </a:lnSpc>
              <a:buNone/>
            </a:pPr>
            <a:r>
              <a:rPr lang="en-US" sz="1500" b="1" dirty="0">
                <a:solidFill>
                  <a:srgbClr val="14202A"/>
                </a:solidFill>
                <a:latin typeface="Arial" pitchFamily="34" charset="0"/>
                <a:ea typeface="Arial" pitchFamily="34" charset="-122"/>
                <a:cs typeface="Arial" pitchFamily="34" charset="-120"/>
              </a:rPr>
              <a:t>Quatre objets </a:t>
            </a:r>
            <a:pPr indent="0" marL="0">
              <a:lnSpc>
                <a:spcPct val="112000"/>
              </a:lnSpc>
              <a:spcAft>
                <a:spcPts val="900"/>
              </a:spcAft>
              <a:buNone/>
            </a:pPr>
            <a:r>
              <a:rPr lang="en-US" sz="1500" dirty="0">
                <a:solidFill>
                  <a:srgbClr val="14202A"/>
                </a:solidFill>
                <a:latin typeface="Arial" pitchFamily="34" charset="0"/>
                <a:ea typeface="Arial" pitchFamily="34" charset="-122"/>
                <a:cs typeface="Arial" pitchFamily="34" charset="-120"/>
              </a:rPr>
              <a:t>rejoués sur les mêmes fenêtres de test : le panier fusionné et les trois couples retenus.</a:t>
            </a:r>
            <a:endParaRPr lang="en-US" sz="1500" dirty="0"/>
          </a:p>
          <a:p>
            <a:pPr indent="0" marL="0">
              <a:lnSpc>
                <a:spcPct val="112000"/>
              </a:lnSpc>
              <a:buNone/>
            </a:pPr>
            <a:r>
              <a:rPr lang="en-US" sz="1500" b="1" dirty="0">
                <a:solidFill>
                  <a:srgbClr val="14202A"/>
                </a:solidFill>
                <a:latin typeface="Arial" pitchFamily="34" charset="0"/>
                <a:ea typeface="Arial" pitchFamily="34" charset="-122"/>
                <a:cs typeface="Arial" pitchFamily="34" charset="-120"/>
              </a:rPr>
              <a:t>Walk-forward purgé : </a:t>
            </a:r>
            <a:pPr indent="0" marL="0">
              <a:lnSpc>
                <a:spcPct val="112000"/>
              </a:lnSpc>
              <a:spcAft>
                <a:spcPts val="900"/>
              </a:spcAft>
              <a:buNone/>
            </a:pPr>
            <a:r>
              <a:rPr lang="en-US" sz="1500" dirty="0">
                <a:solidFill>
                  <a:srgbClr val="14202A"/>
                </a:solidFill>
                <a:latin typeface="Arial" pitchFamily="34" charset="0"/>
                <a:ea typeface="Arial" pitchFamily="34" charset="-122"/>
                <a:cs typeface="Arial" pitchFamily="34" charset="-120"/>
              </a:rPr>
              <a:t>cinq folds, purge de 20 séances et embargo de 10 à chaque frontière.</a:t>
            </a:r>
            <a:endParaRPr lang="en-US" sz="1500" dirty="0"/>
          </a:p>
          <a:p>
            <a:pPr indent="0" marL="0">
              <a:lnSpc>
                <a:spcPct val="112000"/>
              </a:lnSpc>
              <a:buNone/>
            </a:pPr>
            <a:r>
              <a:rPr lang="en-US" sz="1500" b="1" dirty="0">
                <a:solidFill>
                  <a:srgbClr val="14202A"/>
                </a:solidFill>
                <a:latin typeface="Arial" pitchFamily="34" charset="0"/>
                <a:ea typeface="Arial" pitchFamily="34" charset="-122"/>
                <a:cs typeface="Arial" pitchFamily="34" charset="-120"/>
              </a:rPr>
              <a:t>Comparaison au buy &amp; hold </a:t>
            </a:r>
            <a:pPr indent="0" marL="0">
              <a:lnSpc>
                <a:spcPct val="112000"/>
              </a:lnSpc>
              <a:spcAft>
                <a:spcPts val="900"/>
              </a:spcAft>
              <a:buNone/>
            </a:pPr>
            <a:r>
              <a:rPr lang="en-US" sz="1500" dirty="0">
                <a:solidFill>
                  <a:srgbClr val="14202A"/>
                </a:solidFill>
                <a:latin typeface="Arial" pitchFamily="34" charset="0"/>
                <a:ea typeface="Arial" pitchFamily="34" charset="-122"/>
                <a:cs typeface="Arial" pitchFamily="34" charset="-120"/>
              </a:rPr>
              <a:t>équipondéré, jamais à zéro.</a:t>
            </a:r>
            <a:endParaRPr lang="en-US" sz="1500" dirty="0"/>
          </a:p>
        </p:txBody>
      </p:sp>
      <p:sp>
        <p:nvSpPr>
          <p:cNvPr id="20" name="Shape 18"/>
          <p:cNvSpPr/>
          <p:nvPr/>
        </p:nvSpPr>
        <p:spPr>
          <a:xfrm>
            <a:off x="6949440" y="960120"/>
            <a:ext cx="4690872" cy="2514600"/>
          </a:xfrm>
          <a:prstGeom prst="rect">
            <a:avLst/>
          </a:prstGeom>
          <a:solidFill>
            <a:srgbClr val="F2E2CC"/>
          </a:solidFill>
          <a:ln w="12700">
            <a:solidFill>
              <a:srgbClr val="F2E2CC"/>
            </a:solidFill>
            <a:prstDash val="solid"/>
          </a:ln>
        </p:spPr>
      </p:sp>
      <p:sp>
        <p:nvSpPr>
          <p:cNvPr id="21" name="Text 19"/>
          <p:cNvSpPr txBox="1"/>
          <p:nvPr/>
        </p:nvSpPr>
        <p:spPr>
          <a:xfrm>
            <a:off x="7223760" y="1143000"/>
            <a:ext cx="4142232" cy="365760"/>
          </a:xfrm>
          <a:prstGeom prst="rect">
            <a:avLst/>
          </a:prstGeom>
          <a:noFill/>
          <a:ln/>
        </p:spPr>
        <p:txBody>
          <a:bodyPr wrap="square" lIns="0" tIns="0" rIns="0" bIns="0" rtlCol="0" anchor="t"/>
          <a:lstStyle/>
          <a:p>
            <a:pPr indent="0" marL="0">
              <a:buNone/>
            </a:pPr>
            <a:r>
              <a:rPr lang="en-US" sz="1600" b="1" dirty="0">
                <a:solidFill>
                  <a:srgbClr val="A35F12"/>
                </a:solidFill>
                <a:latin typeface="Arial" pitchFamily="34" charset="0"/>
                <a:ea typeface="Arial" pitchFamily="34" charset="-122"/>
                <a:cs typeface="Arial" pitchFamily="34" charset="-120"/>
              </a:rPr>
              <a:t>Pourquoi quatre objets</a:t>
            </a:r>
            <a:endParaRPr lang="en-US" sz="1600" dirty="0"/>
          </a:p>
        </p:txBody>
      </p:sp>
      <p:sp>
        <p:nvSpPr>
          <p:cNvPr id="22" name="Text 20"/>
          <p:cNvSpPr txBox="1"/>
          <p:nvPr/>
        </p:nvSpPr>
        <p:spPr>
          <a:xfrm>
            <a:off x="7223760" y="1554480"/>
            <a:ext cx="4142232" cy="1783080"/>
          </a:xfrm>
          <a:prstGeom prst="rect">
            <a:avLst/>
          </a:prstGeom>
          <a:noFill/>
          <a:ln/>
        </p:spPr>
        <p:txBody>
          <a:bodyPr wrap="square" lIns="0" tIns="0" rIns="0" bIns="0" rtlCol="0" anchor="t"/>
          <a:lstStyle/>
          <a:p>
            <a:pPr indent="0" marL="0">
              <a:buNone/>
            </a:pPr>
            <a:r>
              <a:rPr lang="en-US" sz="1350" dirty="0">
                <a:solidFill>
                  <a:srgbClr val="14202A"/>
                </a:solidFill>
                <a:latin typeface="Arial" pitchFamily="34" charset="0"/>
                <a:ea typeface="Arial" pitchFamily="34" charset="-122"/>
                <a:cs typeface="Arial" pitchFamily="34" charset="-120"/>
              </a:rPr>
              <a:t>Le panier fusionné est un objet neuf, jamais mesuré au bootstrap. La fusion peut diluer ce qui marchait : s'il ne bat pas les couples d'origine, on retient le couple.</a:t>
            </a:r>
            <a:endParaRPr lang="en-US" sz="1350" dirty="0"/>
          </a:p>
        </p:txBody>
      </p:sp>
      <p:sp>
        <p:nvSpPr>
          <p:cNvPr id="23" name="Shape 21"/>
          <p:cNvSpPr/>
          <p:nvPr/>
        </p:nvSpPr>
        <p:spPr>
          <a:xfrm>
            <a:off x="6949440" y="3657600"/>
            <a:ext cx="4690872" cy="2514600"/>
          </a:xfrm>
          <a:prstGeom prst="rect">
            <a:avLst/>
          </a:prstGeom>
          <a:solidFill>
            <a:srgbClr val="F2E2CC"/>
          </a:solidFill>
          <a:ln w="12700">
            <a:solidFill>
              <a:srgbClr val="F2E2CC"/>
            </a:solidFill>
            <a:prstDash val="solid"/>
          </a:ln>
        </p:spPr>
      </p:sp>
      <p:sp>
        <p:nvSpPr>
          <p:cNvPr id="24" name="Text 22"/>
          <p:cNvSpPr txBox="1"/>
          <p:nvPr/>
        </p:nvSpPr>
        <p:spPr>
          <a:xfrm>
            <a:off x="7223760" y="3840480"/>
            <a:ext cx="4142232" cy="365760"/>
          </a:xfrm>
          <a:prstGeom prst="rect">
            <a:avLst/>
          </a:prstGeom>
          <a:noFill/>
          <a:ln/>
        </p:spPr>
        <p:txBody>
          <a:bodyPr wrap="square" lIns="0" tIns="0" rIns="0" bIns="0" rtlCol="0" anchor="t"/>
          <a:lstStyle/>
          <a:p>
            <a:pPr indent="0" marL="0">
              <a:buNone/>
            </a:pPr>
            <a:r>
              <a:rPr lang="en-US" sz="1600" b="1" dirty="0">
                <a:solidFill>
                  <a:srgbClr val="A35F12"/>
                </a:solidFill>
                <a:latin typeface="Arial" pitchFamily="34" charset="0"/>
                <a:ea typeface="Arial" pitchFamily="34" charset="-122"/>
                <a:cs typeface="Arial" pitchFamily="34" charset="-120"/>
              </a:rPr>
              <a:t>Pourquoi pas zéro</a:t>
            </a:r>
            <a:endParaRPr lang="en-US" sz="1600" dirty="0"/>
          </a:p>
        </p:txBody>
      </p:sp>
      <p:sp>
        <p:nvSpPr>
          <p:cNvPr id="25" name="Text 23"/>
          <p:cNvSpPr txBox="1"/>
          <p:nvPr/>
        </p:nvSpPr>
        <p:spPr>
          <a:xfrm>
            <a:off x="7223760" y="4251960"/>
            <a:ext cx="4142232" cy="1783080"/>
          </a:xfrm>
          <a:prstGeom prst="rect">
            <a:avLst/>
          </a:prstGeom>
          <a:noFill/>
          <a:ln/>
        </p:spPr>
        <p:txBody>
          <a:bodyPr wrap="square" lIns="0" tIns="0" rIns="0" bIns="0" rtlCol="0" anchor="t"/>
          <a:lstStyle/>
          <a:p>
            <a:pPr indent="0" marL="0">
              <a:buNone/>
            </a:pPr>
            <a:r>
              <a:rPr lang="en-US" sz="1350" dirty="0">
                <a:solidFill>
                  <a:srgbClr val="14202A"/>
                </a:solidFill>
                <a:latin typeface="Arial" pitchFamily="34" charset="0"/>
                <a:ea typeface="Arial" pitchFamily="34" charset="-122"/>
                <a:cs typeface="Arial" pitchFamily="34" charset="-120"/>
              </a:rPr>
              <a:t>Sur une marche aléatoire en logarithme, le prix dérive à la hausse (inégalité de Jensen) : une stratégie long-only gagne alors sans le moindre avantage.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F0EE"/>
        </a:solidFill>
      </p:bgPr>
    </p:bg>
    <p:spTree>
      <p:nvGrpSpPr>
        <p:cNvPr id="1" name=""/>
        <p:cNvGrpSpPr/>
        <p:nvPr/>
      </p:nvGrpSpPr>
      <p:grpSpPr>
        <a:xfrm>
          <a:off x="0" y="0"/>
          <a:ext cx="0" cy="0"/>
          <a:chOff x="0" y="0"/>
          <a:chExt cx="0" cy="0"/>
        </a:xfrm>
      </p:grpSpPr>
      <p:sp>
        <p:nvSpPr>
          <p:cNvPr id="2" name="Shape 0"/>
          <p:cNvSpPr/>
          <p:nvPr/>
        </p:nvSpPr>
        <p:spPr>
          <a:xfrm>
            <a:off x="548640" y="292608"/>
            <a:ext cx="1322451" cy="45720"/>
          </a:xfrm>
          <a:prstGeom prst="rect">
            <a:avLst/>
          </a:prstGeom>
          <a:solidFill>
            <a:srgbClr val="52616C"/>
          </a:solidFill>
          <a:ln w="12700">
            <a:solidFill>
              <a:srgbClr val="52616C"/>
            </a:solidFill>
            <a:prstDash val="solid"/>
          </a:ln>
        </p:spPr>
      </p:sp>
      <p:sp>
        <p:nvSpPr>
          <p:cNvPr id="3" name="Text 1"/>
          <p:cNvSpPr txBox="1"/>
          <p:nvPr/>
        </p:nvSpPr>
        <p:spPr>
          <a:xfrm>
            <a:off x="548640"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1  </a:t>
            </a:r>
            <a:pPr indent="0" marL="0">
              <a:buNone/>
            </a:pPr>
            <a:r>
              <a:rPr lang="en-US" sz="1000" dirty="0">
                <a:solidFill>
                  <a:srgbClr val="14202A"/>
                </a:solidFill>
                <a:latin typeface="Arial" pitchFamily="34" charset="0"/>
                <a:ea typeface="Arial" pitchFamily="34" charset="-122"/>
                <a:cs typeface="Arial" pitchFamily="34" charset="-120"/>
              </a:rPr>
              <a:t>Données</a:t>
            </a:r>
            <a:endParaRPr lang="en-US" sz="1000" dirty="0"/>
          </a:p>
        </p:txBody>
      </p:sp>
      <p:sp>
        <p:nvSpPr>
          <p:cNvPr id="4" name="Shape 2"/>
          <p:cNvSpPr/>
          <p:nvPr/>
        </p:nvSpPr>
        <p:spPr>
          <a:xfrm>
            <a:off x="1944243" y="292608"/>
            <a:ext cx="1322451" cy="45720"/>
          </a:xfrm>
          <a:prstGeom prst="rect">
            <a:avLst/>
          </a:prstGeom>
          <a:solidFill>
            <a:srgbClr val="52616C"/>
          </a:solidFill>
          <a:ln w="12700">
            <a:solidFill>
              <a:srgbClr val="52616C"/>
            </a:solidFill>
            <a:prstDash val="solid"/>
          </a:ln>
        </p:spPr>
      </p:sp>
      <p:sp>
        <p:nvSpPr>
          <p:cNvPr id="5" name="Text 3"/>
          <p:cNvSpPr txBox="1"/>
          <p:nvPr/>
        </p:nvSpPr>
        <p:spPr>
          <a:xfrm>
            <a:off x="1944243"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2  </a:t>
            </a:r>
            <a:pPr indent="0" marL="0">
              <a:buNone/>
            </a:pPr>
            <a:r>
              <a:rPr lang="en-US" sz="1000" dirty="0">
                <a:solidFill>
                  <a:srgbClr val="14202A"/>
                </a:solidFill>
                <a:latin typeface="Arial" pitchFamily="34" charset="0"/>
                <a:ea typeface="Arial" pitchFamily="34" charset="-122"/>
                <a:cs typeface="Arial" pitchFamily="34" charset="-120"/>
              </a:rPr>
              <a:t>Indicateurs</a:t>
            </a:r>
            <a:endParaRPr lang="en-US" sz="1000" dirty="0"/>
          </a:p>
        </p:txBody>
      </p:sp>
      <p:sp>
        <p:nvSpPr>
          <p:cNvPr id="6" name="Shape 4"/>
          <p:cNvSpPr/>
          <p:nvPr/>
        </p:nvSpPr>
        <p:spPr>
          <a:xfrm>
            <a:off x="3339846" y="292608"/>
            <a:ext cx="1322451" cy="45720"/>
          </a:xfrm>
          <a:prstGeom prst="rect">
            <a:avLst/>
          </a:prstGeom>
          <a:solidFill>
            <a:srgbClr val="52616C"/>
          </a:solidFill>
          <a:ln w="12700">
            <a:solidFill>
              <a:srgbClr val="52616C"/>
            </a:solidFill>
            <a:prstDash val="solid"/>
          </a:ln>
        </p:spPr>
      </p:sp>
      <p:sp>
        <p:nvSpPr>
          <p:cNvPr id="7" name="Text 5"/>
          <p:cNvSpPr txBox="1"/>
          <p:nvPr/>
        </p:nvSpPr>
        <p:spPr>
          <a:xfrm>
            <a:off x="3339846"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3  </a:t>
            </a:r>
            <a:pPr indent="0" marL="0">
              <a:buNone/>
            </a:pPr>
            <a:r>
              <a:rPr lang="en-US" sz="1000" dirty="0">
                <a:solidFill>
                  <a:srgbClr val="14202A"/>
                </a:solidFill>
                <a:latin typeface="Arial" pitchFamily="34" charset="0"/>
                <a:ea typeface="Arial" pitchFamily="34" charset="-122"/>
                <a:cs typeface="Arial" pitchFamily="34" charset="-120"/>
              </a:rPr>
              <a:t>Paniers</a:t>
            </a:r>
            <a:endParaRPr lang="en-US" sz="1000" dirty="0"/>
          </a:p>
        </p:txBody>
      </p:sp>
      <p:sp>
        <p:nvSpPr>
          <p:cNvPr id="8" name="Shape 6"/>
          <p:cNvSpPr/>
          <p:nvPr/>
        </p:nvSpPr>
        <p:spPr>
          <a:xfrm>
            <a:off x="4735449" y="292608"/>
            <a:ext cx="1322451" cy="45720"/>
          </a:xfrm>
          <a:prstGeom prst="rect">
            <a:avLst/>
          </a:prstGeom>
          <a:solidFill>
            <a:srgbClr val="52616C"/>
          </a:solidFill>
          <a:ln w="12700">
            <a:solidFill>
              <a:srgbClr val="52616C"/>
            </a:solidFill>
            <a:prstDash val="solid"/>
          </a:ln>
        </p:spPr>
      </p:sp>
      <p:sp>
        <p:nvSpPr>
          <p:cNvPr id="9" name="Text 7"/>
          <p:cNvSpPr txBox="1"/>
          <p:nvPr/>
        </p:nvSpPr>
        <p:spPr>
          <a:xfrm>
            <a:off x="4735449"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4  </a:t>
            </a:r>
            <a:pPr indent="0" marL="0">
              <a:buNone/>
            </a:pPr>
            <a:r>
              <a:rPr lang="en-US" sz="1000" dirty="0">
                <a:solidFill>
                  <a:srgbClr val="14202A"/>
                </a:solidFill>
                <a:latin typeface="Arial" pitchFamily="34" charset="0"/>
                <a:ea typeface="Arial" pitchFamily="34" charset="-122"/>
                <a:cs typeface="Arial" pitchFamily="34" charset="-120"/>
              </a:rPr>
              <a:t>Bootstrap</a:t>
            </a:r>
            <a:endParaRPr lang="en-US" sz="1000" dirty="0"/>
          </a:p>
        </p:txBody>
      </p:sp>
      <p:sp>
        <p:nvSpPr>
          <p:cNvPr id="10" name="Shape 8"/>
          <p:cNvSpPr/>
          <p:nvPr/>
        </p:nvSpPr>
        <p:spPr>
          <a:xfrm>
            <a:off x="6131052" y="292608"/>
            <a:ext cx="1322451" cy="45720"/>
          </a:xfrm>
          <a:prstGeom prst="rect">
            <a:avLst/>
          </a:prstGeom>
          <a:solidFill>
            <a:srgbClr val="52616C"/>
          </a:solidFill>
          <a:ln w="12700">
            <a:solidFill>
              <a:srgbClr val="52616C"/>
            </a:solidFill>
            <a:prstDash val="solid"/>
          </a:ln>
        </p:spPr>
      </p:sp>
      <p:sp>
        <p:nvSpPr>
          <p:cNvPr id="11" name="Text 9"/>
          <p:cNvSpPr txBox="1"/>
          <p:nvPr/>
        </p:nvSpPr>
        <p:spPr>
          <a:xfrm>
            <a:off x="6131052"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5  </a:t>
            </a:r>
            <a:pPr indent="0" marL="0">
              <a:buNone/>
            </a:pPr>
            <a:r>
              <a:rPr lang="en-US" sz="1000" dirty="0">
                <a:solidFill>
                  <a:srgbClr val="14202A"/>
                </a:solidFill>
                <a:latin typeface="Arial" pitchFamily="34" charset="0"/>
                <a:ea typeface="Arial" pitchFamily="34" charset="-122"/>
                <a:cs typeface="Arial" pitchFamily="34" charset="-120"/>
              </a:rPr>
              <a:t>Sélection</a:t>
            </a:r>
            <a:endParaRPr lang="en-US" sz="1000" dirty="0"/>
          </a:p>
        </p:txBody>
      </p:sp>
      <p:sp>
        <p:nvSpPr>
          <p:cNvPr id="12" name="Shape 10"/>
          <p:cNvSpPr/>
          <p:nvPr/>
        </p:nvSpPr>
        <p:spPr>
          <a:xfrm>
            <a:off x="7526655" y="292608"/>
            <a:ext cx="1322451" cy="45720"/>
          </a:xfrm>
          <a:prstGeom prst="rect">
            <a:avLst/>
          </a:prstGeom>
          <a:solidFill>
            <a:srgbClr val="52616C"/>
          </a:solidFill>
          <a:ln w="12700">
            <a:solidFill>
              <a:srgbClr val="52616C"/>
            </a:solidFill>
            <a:prstDash val="solid"/>
          </a:ln>
        </p:spPr>
      </p:sp>
      <p:sp>
        <p:nvSpPr>
          <p:cNvPr id="13" name="Text 11"/>
          <p:cNvSpPr txBox="1"/>
          <p:nvPr/>
        </p:nvSpPr>
        <p:spPr>
          <a:xfrm>
            <a:off x="7526655"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6  </a:t>
            </a:r>
            <a:pPr indent="0" marL="0">
              <a:buNone/>
            </a:pPr>
            <a:r>
              <a:rPr lang="en-US" sz="1000" dirty="0">
                <a:solidFill>
                  <a:srgbClr val="14202A"/>
                </a:solidFill>
                <a:latin typeface="Arial" pitchFamily="34" charset="0"/>
                <a:ea typeface="Arial" pitchFamily="34" charset="-122"/>
                <a:cs typeface="Arial" pitchFamily="34" charset="-120"/>
              </a:rPr>
              <a:t>Fusion</a:t>
            </a:r>
            <a:endParaRPr lang="en-US" sz="1000" dirty="0"/>
          </a:p>
        </p:txBody>
      </p:sp>
      <p:sp>
        <p:nvSpPr>
          <p:cNvPr id="14" name="Shape 12"/>
          <p:cNvSpPr/>
          <p:nvPr/>
        </p:nvSpPr>
        <p:spPr>
          <a:xfrm>
            <a:off x="8922258" y="278892"/>
            <a:ext cx="1322451" cy="73152"/>
          </a:xfrm>
          <a:prstGeom prst="rect">
            <a:avLst/>
          </a:prstGeom>
          <a:solidFill>
            <a:srgbClr val="0A7560"/>
          </a:solidFill>
          <a:ln w="12700">
            <a:solidFill>
              <a:srgbClr val="0A7560"/>
            </a:solidFill>
            <a:prstDash val="solid"/>
          </a:ln>
        </p:spPr>
      </p:sp>
      <p:sp>
        <p:nvSpPr>
          <p:cNvPr id="15" name="Text 13"/>
          <p:cNvSpPr txBox="1"/>
          <p:nvPr/>
        </p:nvSpPr>
        <p:spPr>
          <a:xfrm>
            <a:off x="8922258" y="402336"/>
            <a:ext cx="1322451" cy="237744"/>
          </a:xfrm>
          <a:prstGeom prst="rect">
            <a:avLst/>
          </a:prstGeom>
          <a:noFill/>
          <a:ln/>
        </p:spPr>
        <p:txBody>
          <a:bodyPr wrap="square" lIns="0" tIns="0" rIns="0" bIns="0" rtlCol="0" anchor="t"/>
          <a:lstStyle/>
          <a:p>
            <a:pPr indent="0" marL="0">
              <a:buNone/>
            </a:pPr>
            <a:r>
              <a:rPr lang="en-US" sz="1000" b="1" dirty="0">
                <a:solidFill>
                  <a:srgbClr val="0A7560"/>
                </a:solidFill>
                <a:latin typeface="Arial" pitchFamily="34" charset="0"/>
                <a:ea typeface="Arial" pitchFamily="34" charset="-122"/>
                <a:cs typeface="Arial" pitchFamily="34" charset="-120"/>
              </a:rPr>
              <a:t>7  </a:t>
            </a:r>
            <a:pPr indent="0" marL="0">
              <a:buNone/>
            </a:pPr>
            <a:r>
              <a:rPr lang="en-US" sz="1000" b="1" dirty="0">
                <a:solidFill>
                  <a:srgbClr val="0A7560"/>
                </a:solidFill>
                <a:latin typeface="Arial" pitchFamily="34" charset="0"/>
                <a:ea typeface="Arial" pitchFamily="34" charset="-122"/>
                <a:cs typeface="Arial" pitchFamily="34" charset="-120"/>
              </a:rPr>
              <a:t>Validation</a:t>
            </a:r>
            <a:endParaRPr lang="en-US" sz="1000" dirty="0"/>
          </a:p>
        </p:txBody>
      </p:sp>
      <p:sp>
        <p:nvSpPr>
          <p:cNvPr id="16" name="Shape 14"/>
          <p:cNvSpPr/>
          <p:nvPr/>
        </p:nvSpPr>
        <p:spPr>
          <a:xfrm>
            <a:off x="10317861" y="292608"/>
            <a:ext cx="1322451" cy="45720"/>
          </a:xfrm>
          <a:prstGeom prst="rect">
            <a:avLst/>
          </a:prstGeom>
          <a:solidFill>
            <a:srgbClr val="C6CFCB"/>
          </a:solidFill>
          <a:ln w="12700">
            <a:solidFill>
              <a:srgbClr val="C6CFCB"/>
            </a:solidFill>
            <a:prstDash val="solid"/>
          </a:ln>
        </p:spPr>
      </p:sp>
      <p:sp>
        <p:nvSpPr>
          <p:cNvPr id="17" name="Text 15"/>
          <p:cNvSpPr txBox="1"/>
          <p:nvPr/>
        </p:nvSpPr>
        <p:spPr>
          <a:xfrm>
            <a:off x="10317861"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8  </a:t>
            </a:r>
            <a:pPr indent="0" marL="0">
              <a:buNone/>
            </a:pPr>
            <a:r>
              <a:rPr lang="en-US" sz="1000" dirty="0">
                <a:solidFill>
                  <a:srgbClr val="52616C"/>
                </a:solidFill>
                <a:latin typeface="Arial" pitchFamily="34" charset="0"/>
                <a:ea typeface="Arial" pitchFamily="34" charset="-122"/>
                <a:cs typeface="Arial" pitchFamily="34" charset="-120"/>
              </a:rPr>
              <a:t>Production</a:t>
            </a:r>
            <a:endParaRPr lang="en-US" sz="1000" dirty="0"/>
          </a:p>
        </p:txBody>
      </p:sp>
      <p:sp>
        <p:nvSpPr>
          <p:cNvPr id="18" name="Text 16"/>
          <p:cNvSpPr txBox="1"/>
          <p:nvPr/>
        </p:nvSpPr>
        <p:spPr>
          <a:xfrm>
            <a:off x="548640" y="1143000"/>
            <a:ext cx="5852160" cy="2743200"/>
          </a:xfrm>
          <a:prstGeom prst="rect">
            <a:avLst/>
          </a:prstGeom>
          <a:noFill/>
          <a:ln/>
        </p:spPr>
        <p:txBody>
          <a:bodyPr wrap="square" lIns="0" tIns="0" rIns="0" bIns="0" rtlCol="0" anchor="t"/>
          <a:lstStyle/>
          <a:p>
            <a:pPr indent="0" marL="0">
              <a:lnSpc>
                <a:spcPct val="100000"/>
              </a:lnSpc>
              <a:buNone/>
            </a:pPr>
            <a:r>
              <a:rPr lang="en-US" sz="3400" b="1" dirty="0">
                <a:solidFill>
                  <a:srgbClr val="14202A"/>
                </a:solidFill>
                <a:latin typeface="Arial" pitchFamily="34" charset="0"/>
                <a:ea typeface="Arial" pitchFamily="34" charset="-122"/>
                <a:cs typeface="Arial" pitchFamily="34" charset="-120"/>
              </a:rPr>
              <a:t>Sur des données sans aucun signal, la meilleure de 150 combinaisons affiche un t de 2,59.</a:t>
            </a:r>
            <a:endParaRPr lang="en-US" sz="3400" dirty="0"/>
          </a:p>
        </p:txBody>
      </p:sp>
      <p:sp>
        <p:nvSpPr>
          <p:cNvPr id="19" name="Text 17"/>
          <p:cNvSpPr txBox="1"/>
          <p:nvPr/>
        </p:nvSpPr>
        <p:spPr>
          <a:xfrm>
            <a:off x="548640" y="4160520"/>
            <a:ext cx="5669280" cy="1371600"/>
          </a:xfrm>
          <a:prstGeom prst="rect">
            <a:avLst/>
          </a:prstGeom>
          <a:noFill/>
          <a:ln/>
        </p:spPr>
        <p:txBody>
          <a:bodyPr wrap="square" lIns="0" tIns="0" rIns="0" bIns="0" rtlCol="0" anchor="t"/>
          <a:lstStyle/>
          <a:p>
            <a:pPr indent="0" marL="0">
              <a:buNone/>
            </a:pPr>
            <a:r>
              <a:rPr lang="en-US" sz="1500" dirty="0">
                <a:solidFill>
                  <a:srgbClr val="14202A"/>
                </a:solidFill>
                <a:latin typeface="Arial" pitchFamily="34" charset="0"/>
                <a:ea typeface="Arial" pitchFamily="34" charset="-122"/>
                <a:cs typeface="Arial" pitchFamily="34" charset="-120"/>
              </a:rPr>
              <a:t>Retenir le maximum de N candidats produit un résultat « significatif » par construction. Le seuil à battre n'est pas zéro, et il croît avec le nombre d'essais.</a:t>
            </a:r>
            <a:endParaRPr lang="en-US" sz="1500" dirty="0"/>
          </a:p>
        </p:txBody>
      </p:sp>
      <p:sp>
        <p:nvSpPr>
          <p:cNvPr id="20" name="Text 18"/>
          <p:cNvSpPr txBox="1"/>
          <p:nvPr/>
        </p:nvSpPr>
        <p:spPr>
          <a:xfrm>
            <a:off x="6903720" y="1143000"/>
            <a:ext cx="4736592" cy="411480"/>
          </a:xfrm>
          <a:prstGeom prst="rect">
            <a:avLst/>
          </a:prstGeom>
          <a:noFill/>
          <a:ln/>
        </p:spPr>
        <p:txBody>
          <a:bodyPr wrap="square" lIns="0" tIns="0" rIns="0" bIns="0" rtlCol="0" anchor="t"/>
          <a:lstStyle/>
          <a:p>
            <a:pPr indent="0" marL="0">
              <a:buNone/>
            </a:pPr>
            <a:r>
              <a:rPr lang="en-US" sz="1800" b="1" dirty="0">
                <a:solidFill>
                  <a:srgbClr val="14202A"/>
                </a:solidFill>
                <a:latin typeface="Arial" pitchFamily="34" charset="0"/>
                <a:ea typeface="Arial" pitchFamily="34" charset="-122"/>
                <a:cs typeface="Arial" pitchFamily="34" charset="-120"/>
              </a:rPr>
              <a:t>Le remède : la permutation</a:t>
            </a:r>
            <a:endParaRPr lang="en-US" sz="1800" dirty="0"/>
          </a:p>
        </p:txBody>
      </p:sp>
      <p:sp>
        <p:nvSpPr>
          <p:cNvPr id="21" name="Text 19"/>
          <p:cNvSpPr txBox="1"/>
          <p:nvPr/>
        </p:nvSpPr>
        <p:spPr>
          <a:xfrm>
            <a:off x="6903720" y="1627632"/>
            <a:ext cx="4736592" cy="1554480"/>
          </a:xfrm>
          <a:prstGeom prst="rect">
            <a:avLst/>
          </a:prstGeom>
          <a:noFill/>
          <a:ln/>
        </p:spPr>
        <p:txBody>
          <a:bodyPr wrap="square" lIns="0" tIns="0" rIns="0" bIns="0" rtlCol="0" anchor="t"/>
          <a:lstStyle/>
          <a:p>
            <a:pPr indent="0" marL="0">
              <a:buNone/>
            </a:pPr>
            <a:r>
              <a:rPr lang="en-US" sz="1350" dirty="0">
                <a:solidFill>
                  <a:srgbClr val="14202A"/>
                </a:solidFill>
                <a:latin typeface="Arial" pitchFamily="34" charset="0"/>
                <a:ea typeface="Arial" pitchFamily="34" charset="-122"/>
                <a:cs typeface="Arial" pitchFamily="34" charset="-120"/>
              </a:rPr>
              <a:t>À chaque date, on mélange les rendements futurs entre titres : le lien signal-rendement est détruit, tout le reste préservé. Le 95e percentile des meilleurs scores devient la barre.</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903720" y="3337560"/>
          <a:ext cx="4736592" cy="914400"/>
        </p:xfrm>
        <a:graphic>
          <a:graphicData uri="http://schemas.openxmlformats.org/drawingml/2006/table">
            <a:tbl>
              <a:tblPr/>
              <a:tblGrid>
                <a:gridCol w="1463040"/>
                <a:gridCol w="1097280"/>
                <a:gridCol w="1097280"/>
                <a:gridCol w="1078992"/>
              </a:tblGrid>
              <a:tr h="384048">
                <a:tc>
                  <a:txBody>
                    <a:bodyPr/>
                    <a:lstStyle/>
                    <a:p>
                      <a:pPr indent="0" marL="0">
                        <a:buNone/>
                      </a:pPr>
                      <a:r>
                        <a:rPr lang="en-US" sz="1200" b="1" dirty="0">
                          <a:solidFill>
                            <a:srgbClr val="52616C"/>
                          </a:solidFill>
                          <a:latin typeface="Arial" pitchFamily="34" charset="0"/>
                          <a:ea typeface="Arial" pitchFamily="34" charset="-122"/>
                          <a:cs typeface="Arial" pitchFamily="34" charset="-120"/>
                        </a:rPr>
                        <a:t>Univers</a:t>
                      </a:r>
                      <a:endParaRPr lang="en-US" sz="12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EDF0EE"/>
                    </a:solidFill>
                  </a:tcPr>
                </a:tc>
                <a:tc>
                  <a:txBody>
                    <a:bodyPr/>
                    <a:lstStyle/>
                    <a:p>
                      <a:pPr algn="r" indent="0" marL="0">
                        <a:buNone/>
                      </a:pPr>
                      <a:r>
                        <a:rPr lang="en-US" sz="1200" b="1" dirty="0">
                          <a:solidFill>
                            <a:srgbClr val="52616C"/>
                          </a:solidFill>
                          <a:latin typeface="Arial" pitchFamily="34" charset="0"/>
                          <a:ea typeface="Arial" pitchFamily="34" charset="-122"/>
                          <a:cs typeface="Arial" pitchFamily="34" charset="-120"/>
                        </a:rPr>
                        <a:t>MCC train</a:t>
                      </a:r>
                      <a:endParaRPr lang="en-US" sz="12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EDF0EE"/>
                    </a:solidFill>
                  </a:tcPr>
                </a:tc>
                <a:tc>
                  <a:txBody>
                    <a:bodyPr/>
                    <a:lstStyle/>
                    <a:p>
                      <a:pPr algn="r" indent="0" marL="0">
                        <a:buNone/>
                      </a:pPr>
                      <a:r>
                        <a:rPr lang="en-US" sz="1200" b="1" dirty="0">
                          <a:solidFill>
                            <a:srgbClr val="52616C"/>
                          </a:solidFill>
                          <a:latin typeface="Arial" pitchFamily="34" charset="0"/>
                          <a:ea typeface="Arial" pitchFamily="34" charset="-122"/>
                          <a:cs typeface="Arial" pitchFamily="34" charset="-120"/>
                        </a:rPr>
                        <a:t>MCC test</a:t>
                      </a:r>
                      <a:endParaRPr lang="en-US" sz="12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EDF0EE"/>
                    </a:solidFill>
                  </a:tcPr>
                </a:tc>
                <a:tc>
                  <a:txBody>
                    <a:bodyPr/>
                    <a:lstStyle/>
                    <a:p>
                      <a:pPr indent="0" marL="0">
                        <a:buNone/>
                      </a:pPr>
                      <a:r>
                        <a:rPr lang="en-US" sz="1200" b="1" dirty="0">
                          <a:solidFill>
                            <a:srgbClr val="52616C"/>
                          </a:solidFill>
                          <a:latin typeface="Arial" pitchFamily="34" charset="0"/>
                          <a:ea typeface="Arial" pitchFamily="34" charset="-122"/>
                          <a:cs typeface="Arial" pitchFamily="34" charset="-120"/>
                        </a:rPr>
                        <a:t>Verdict</a:t>
                      </a:r>
                      <a:endParaRPr lang="en-US" sz="12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EDF0EE"/>
                    </a:solidFill>
                  </a:tcPr>
                </a:tc>
              </a:tr>
              <a:tr h="384048">
                <a:tc>
                  <a:txBody>
                    <a:bodyPr/>
                    <a:lstStyle/>
                    <a:p>
                      <a:pPr indent="0" marL="0">
                        <a:buNone/>
                      </a:pPr>
                      <a:r>
                        <a:rPr lang="en-US" sz="1300" dirty="0">
                          <a:solidFill>
                            <a:srgbClr val="14202A"/>
                          </a:solidFill>
                          <a:latin typeface="Arial" pitchFamily="34" charset="0"/>
                          <a:ea typeface="Arial" pitchFamily="34" charset="-122"/>
                          <a:cs typeface="Arial" pitchFamily="34" charset="-120"/>
                        </a:rPr>
                        <a:t>Avec signal</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c>
                  <a:txBody>
                    <a:bodyPr/>
                    <a:lstStyle/>
                    <a:p>
                      <a:pPr algn="r" indent="0" marL="0">
                        <a:buNone/>
                      </a:pPr>
                      <a:r>
                        <a:rPr lang="en-US" sz="1300" dirty="0">
                          <a:solidFill>
                            <a:srgbClr val="14202A"/>
                          </a:solidFill>
                          <a:latin typeface="Arial" pitchFamily="34" charset="0"/>
                          <a:ea typeface="Arial" pitchFamily="34" charset="-122"/>
                          <a:cs typeface="Arial" pitchFamily="34" charset="-120"/>
                        </a:rPr>
                        <a:t>0,209</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c>
                  <a:txBody>
                    <a:bodyPr/>
                    <a:lstStyle/>
                    <a:p>
                      <a:pPr algn="r" indent="0" marL="0">
                        <a:buNone/>
                      </a:pPr>
                      <a:r>
                        <a:rPr lang="en-US" sz="1300" dirty="0">
                          <a:solidFill>
                            <a:srgbClr val="14202A"/>
                          </a:solidFill>
                          <a:latin typeface="Arial" pitchFamily="34" charset="0"/>
                          <a:ea typeface="Arial" pitchFamily="34" charset="-122"/>
                          <a:cs typeface="Arial" pitchFamily="34" charset="-120"/>
                        </a:rPr>
                        <a:t>0,209</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c>
                  <a:txBody>
                    <a:bodyPr/>
                    <a:lstStyle/>
                    <a:p>
                      <a:pPr indent="0" marL="0">
                        <a:buNone/>
                      </a:pPr>
                      <a:r>
                        <a:rPr lang="en-US" sz="1300" b="1" dirty="0">
                          <a:solidFill>
                            <a:srgbClr val="0A7560"/>
                          </a:solidFill>
                          <a:latin typeface="Arial" pitchFamily="34" charset="0"/>
                          <a:ea typeface="Arial" pitchFamily="34" charset="-122"/>
                          <a:cs typeface="Arial" pitchFamily="34" charset="-120"/>
                        </a:rPr>
                        <a:t>retenu</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r>
              <a:tr h="384048">
                <a:tc>
                  <a:txBody>
                    <a:bodyPr/>
                    <a:lstStyle/>
                    <a:p>
                      <a:pPr indent="0" marL="0">
                        <a:buNone/>
                      </a:pPr>
                      <a:r>
                        <a:rPr lang="en-US" sz="1300" dirty="0">
                          <a:solidFill>
                            <a:srgbClr val="14202A"/>
                          </a:solidFill>
                          <a:latin typeface="Arial" pitchFamily="34" charset="0"/>
                          <a:ea typeface="Arial" pitchFamily="34" charset="-122"/>
                          <a:cs typeface="Arial" pitchFamily="34" charset="-120"/>
                        </a:rPr>
                        <a:t>Bruit pur</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c>
                  <a:txBody>
                    <a:bodyPr/>
                    <a:lstStyle/>
                    <a:p>
                      <a:pPr algn="r" indent="0" marL="0">
                        <a:buNone/>
                      </a:pPr>
                      <a:r>
                        <a:rPr lang="en-US" sz="1300" dirty="0">
                          <a:solidFill>
                            <a:srgbClr val="14202A"/>
                          </a:solidFill>
                          <a:latin typeface="Arial" pitchFamily="34" charset="0"/>
                          <a:ea typeface="Arial" pitchFamily="34" charset="-122"/>
                          <a:cs typeface="Arial" pitchFamily="34" charset="-120"/>
                        </a:rPr>
                        <a:t>0,046</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c>
                  <a:txBody>
                    <a:bodyPr/>
                    <a:lstStyle/>
                    <a:p>
                      <a:pPr algn="r" indent="0" marL="0">
                        <a:buNone/>
                      </a:pPr>
                      <a:r>
                        <a:rPr lang="en-US" sz="1300" dirty="0">
                          <a:solidFill>
                            <a:srgbClr val="14202A"/>
                          </a:solidFill>
                          <a:latin typeface="Arial" pitchFamily="34" charset="0"/>
                          <a:ea typeface="Arial" pitchFamily="34" charset="-122"/>
                          <a:cs typeface="Arial" pitchFamily="34" charset="-120"/>
                        </a:rPr>
                        <a:t>0,005</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c>
                  <a:txBody>
                    <a:bodyPr/>
                    <a:lstStyle/>
                    <a:p>
                      <a:pPr indent="0" marL="0">
                        <a:buNone/>
                      </a:pPr>
                      <a:r>
                        <a:rPr lang="en-US" sz="1300" b="1" dirty="0">
                          <a:solidFill>
                            <a:srgbClr val="A35F12"/>
                          </a:solidFill>
                          <a:latin typeface="Arial" pitchFamily="34" charset="0"/>
                          <a:ea typeface="Arial" pitchFamily="34" charset="-122"/>
                          <a:cs typeface="Arial" pitchFamily="34" charset="-120"/>
                        </a:rPr>
                        <a:t>rejeté</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r>
            </a:tbl>
          </a:graphicData>
        </a:graphic>
      </p:graphicFrame>
      <p:sp>
        <p:nvSpPr>
          <p:cNvPr id="23" name="Shape 20"/>
          <p:cNvSpPr/>
          <p:nvPr/>
        </p:nvSpPr>
        <p:spPr>
          <a:xfrm>
            <a:off x="6903720" y="4800600"/>
            <a:ext cx="4736592" cy="1234440"/>
          </a:xfrm>
          <a:prstGeom prst="rect">
            <a:avLst/>
          </a:prstGeom>
          <a:solidFill>
            <a:srgbClr val="D2E8E1"/>
          </a:solidFill>
          <a:ln w="12700">
            <a:solidFill>
              <a:srgbClr val="D2E8E1"/>
            </a:solidFill>
            <a:prstDash val="solid"/>
          </a:ln>
        </p:spPr>
      </p:sp>
      <p:sp>
        <p:nvSpPr>
          <p:cNvPr id="24" name="Text 21"/>
          <p:cNvSpPr txBox="1"/>
          <p:nvPr/>
        </p:nvSpPr>
        <p:spPr>
          <a:xfrm>
            <a:off x="7132320" y="4956048"/>
            <a:ext cx="4279392" cy="960120"/>
          </a:xfrm>
          <a:prstGeom prst="rect">
            <a:avLst/>
          </a:prstGeom>
          <a:noFill/>
          <a:ln/>
        </p:spPr>
        <p:txBody>
          <a:bodyPr wrap="square" lIns="0" tIns="0" rIns="0" bIns="0" rtlCol="0" anchor="t"/>
          <a:lstStyle/>
          <a:p>
            <a:pPr indent="0" marL="0">
              <a:buNone/>
            </a:pPr>
            <a:r>
              <a:rPr lang="en-US" sz="1350" b="1" dirty="0">
                <a:solidFill>
                  <a:srgbClr val="0A7560"/>
                </a:solidFill>
                <a:latin typeface="Arial" pitchFamily="34" charset="0"/>
                <a:ea typeface="Arial" pitchFamily="34" charset="-122"/>
                <a:cs typeface="Arial" pitchFamily="34" charset="-120"/>
              </a:rPr>
              <a:t>Corollaire : tester peu de candidats, choisis par conviction, est plus puissant que ratisser large.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DF0EE"/>
        </a:solidFill>
      </p:bgPr>
    </p:bg>
    <p:spTree>
      <p:nvGrpSpPr>
        <p:cNvPr id="1" name=""/>
        <p:cNvGrpSpPr/>
        <p:nvPr/>
      </p:nvGrpSpPr>
      <p:grpSpPr>
        <a:xfrm>
          <a:off x="0" y="0"/>
          <a:ext cx="0" cy="0"/>
          <a:chOff x="0" y="0"/>
          <a:chExt cx="0" cy="0"/>
        </a:xfrm>
      </p:grpSpPr>
      <p:sp>
        <p:nvSpPr>
          <p:cNvPr id="2" name="Shape 0"/>
          <p:cNvSpPr/>
          <p:nvPr/>
        </p:nvSpPr>
        <p:spPr>
          <a:xfrm>
            <a:off x="548640" y="292608"/>
            <a:ext cx="1322451" cy="45720"/>
          </a:xfrm>
          <a:prstGeom prst="rect">
            <a:avLst/>
          </a:prstGeom>
          <a:solidFill>
            <a:srgbClr val="52616C"/>
          </a:solidFill>
          <a:ln w="12700">
            <a:solidFill>
              <a:srgbClr val="52616C"/>
            </a:solidFill>
            <a:prstDash val="solid"/>
          </a:ln>
        </p:spPr>
      </p:sp>
      <p:sp>
        <p:nvSpPr>
          <p:cNvPr id="3" name="Text 1"/>
          <p:cNvSpPr txBox="1"/>
          <p:nvPr/>
        </p:nvSpPr>
        <p:spPr>
          <a:xfrm>
            <a:off x="548640"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1  </a:t>
            </a:r>
            <a:pPr indent="0" marL="0">
              <a:buNone/>
            </a:pPr>
            <a:r>
              <a:rPr lang="en-US" sz="1000" dirty="0">
                <a:solidFill>
                  <a:srgbClr val="14202A"/>
                </a:solidFill>
                <a:latin typeface="Arial" pitchFamily="34" charset="0"/>
                <a:ea typeface="Arial" pitchFamily="34" charset="-122"/>
                <a:cs typeface="Arial" pitchFamily="34" charset="-120"/>
              </a:rPr>
              <a:t>Données</a:t>
            </a:r>
            <a:endParaRPr lang="en-US" sz="1000" dirty="0"/>
          </a:p>
        </p:txBody>
      </p:sp>
      <p:sp>
        <p:nvSpPr>
          <p:cNvPr id="4" name="Shape 2"/>
          <p:cNvSpPr/>
          <p:nvPr/>
        </p:nvSpPr>
        <p:spPr>
          <a:xfrm>
            <a:off x="1944243" y="292608"/>
            <a:ext cx="1322451" cy="45720"/>
          </a:xfrm>
          <a:prstGeom prst="rect">
            <a:avLst/>
          </a:prstGeom>
          <a:solidFill>
            <a:srgbClr val="52616C"/>
          </a:solidFill>
          <a:ln w="12700">
            <a:solidFill>
              <a:srgbClr val="52616C"/>
            </a:solidFill>
            <a:prstDash val="solid"/>
          </a:ln>
        </p:spPr>
      </p:sp>
      <p:sp>
        <p:nvSpPr>
          <p:cNvPr id="5" name="Text 3"/>
          <p:cNvSpPr txBox="1"/>
          <p:nvPr/>
        </p:nvSpPr>
        <p:spPr>
          <a:xfrm>
            <a:off x="1944243"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2  </a:t>
            </a:r>
            <a:pPr indent="0" marL="0">
              <a:buNone/>
            </a:pPr>
            <a:r>
              <a:rPr lang="en-US" sz="1000" dirty="0">
                <a:solidFill>
                  <a:srgbClr val="14202A"/>
                </a:solidFill>
                <a:latin typeface="Arial" pitchFamily="34" charset="0"/>
                <a:ea typeface="Arial" pitchFamily="34" charset="-122"/>
                <a:cs typeface="Arial" pitchFamily="34" charset="-120"/>
              </a:rPr>
              <a:t>Indicateurs</a:t>
            </a:r>
            <a:endParaRPr lang="en-US" sz="1000" dirty="0"/>
          </a:p>
        </p:txBody>
      </p:sp>
      <p:sp>
        <p:nvSpPr>
          <p:cNvPr id="6" name="Shape 4"/>
          <p:cNvSpPr/>
          <p:nvPr/>
        </p:nvSpPr>
        <p:spPr>
          <a:xfrm>
            <a:off x="3339846" y="292608"/>
            <a:ext cx="1322451" cy="45720"/>
          </a:xfrm>
          <a:prstGeom prst="rect">
            <a:avLst/>
          </a:prstGeom>
          <a:solidFill>
            <a:srgbClr val="52616C"/>
          </a:solidFill>
          <a:ln w="12700">
            <a:solidFill>
              <a:srgbClr val="52616C"/>
            </a:solidFill>
            <a:prstDash val="solid"/>
          </a:ln>
        </p:spPr>
      </p:sp>
      <p:sp>
        <p:nvSpPr>
          <p:cNvPr id="7" name="Text 5"/>
          <p:cNvSpPr txBox="1"/>
          <p:nvPr/>
        </p:nvSpPr>
        <p:spPr>
          <a:xfrm>
            <a:off x="3339846"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3  </a:t>
            </a:r>
            <a:pPr indent="0" marL="0">
              <a:buNone/>
            </a:pPr>
            <a:r>
              <a:rPr lang="en-US" sz="1000" dirty="0">
                <a:solidFill>
                  <a:srgbClr val="14202A"/>
                </a:solidFill>
                <a:latin typeface="Arial" pitchFamily="34" charset="0"/>
                <a:ea typeface="Arial" pitchFamily="34" charset="-122"/>
                <a:cs typeface="Arial" pitchFamily="34" charset="-120"/>
              </a:rPr>
              <a:t>Paniers</a:t>
            </a:r>
            <a:endParaRPr lang="en-US" sz="1000" dirty="0"/>
          </a:p>
        </p:txBody>
      </p:sp>
      <p:sp>
        <p:nvSpPr>
          <p:cNvPr id="8" name="Shape 6"/>
          <p:cNvSpPr/>
          <p:nvPr/>
        </p:nvSpPr>
        <p:spPr>
          <a:xfrm>
            <a:off x="4735449" y="278892"/>
            <a:ext cx="1322451" cy="73152"/>
          </a:xfrm>
          <a:prstGeom prst="rect">
            <a:avLst/>
          </a:prstGeom>
          <a:solidFill>
            <a:srgbClr val="0A7560"/>
          </a:solidFill>
          <a:ln w="12700">
            <a:solidFill>
              <a:srgbClr val="0A7560"/>
            </a:solidFill>
            <a:prstDash val="solid"/>
          </a:ln>
        </p:spPr>
      </p:sp>
      <p:sp>
        <p:nvSpPr>
          <p:cNvPr id="9" name="Text 7"/>
          <p:cNvSpPr txBox="1"/>
          <p:nvPr/>
        </p:nvSpPr>
        <p:spPr>
          <a:xfrm>
            <a:off x="4735449" y="402336"/>
            <a:ext cx="1322451" cy="237744"/>
          </a:xfrm>
          <a:prstGeom prst="rect">
            <a:avLst/>
          </a:prstGeom>
          <a:noFill/>
          <a:ln/>
        </p:spPr>
        <p:txBody>
          <a:bodyPr wrap="square" lIns="0" tIns="0" rIns="0" bIns="0" rtlCol="0" anchor="t"/>
          <a:lstStyle/>
          <a:p>
            <a:pPr indent="0" marL="0">
              <a:buNone/>
            </a:pPr>
            <a:r>
              <a:rPr lang="en-US" sz="1000" b="1" dirty="0">
                <a:solidFill>
                  <a:srgbClr val="0A7560"/>
                </a:solidFill>
                <a:latin typeface="Arial" pitchFamily="34" charset="0"/>
                <a:ea typeface="Arial" pitchFamily="34" charset="-122"/>
                <a:cs typeface="Arial" pitchFamily="34" charset="-120"/>
              </a:rPr>
              <a:t>4  </a:t>
            </a:r>
            <a:pPr indent="0" marL="0">
              <a:buNone/>
            </a:pPr>
            <a:r>
              <a:rPr lang="en-US" sz="1000" b="1" dirty="0">
                <a:solidFill>
                  <a:srgbClr val="0A7560"/>
                </a:solidFill>
                <a:latin typeface="Arial" pitchFamily="34" charset="0"/>
                <a:ea typeface="Arial" pitchFamily="34" charset="-122"/>
                <a:cs typeface="Arial" pitchFamily="34" charset="-120"/>
              </a:rPr>
              <a:t>Bootstrap</a:t>
            </a:r>
            <a:endParaRPr lang="en-US" sz="1000" dirty="0"/>
          </a:p>
        </p:txBody>
      </p:sp>
      <p:sp>
        <p:nvSpPr>
          <p:cNvPr id="10" name="Shape 8"/>
          <p:cNvSpPr/>
          <p:nvPr/>
        </p:nvSpPr>
        <p:spPr>
          <a:xfrm>
            <a:off x="6131052" y="278892"/>
            <a:ext cx="1322451" cy="73152"/>
          </a:xfrm>
          <a:prstGeom prst="rect">
            <a:avLst/>
          </a:prstGeom>
          <a:solidFill>
            <a:srgbClr val="0A7560"/>
          </a:solidFill>
          <a:ln w="12700">
            <a:solidFill>
              <a:srgbClr val="0A7560"/>
            </a:solidFill>
            <a:prstDash val="solid"/>
          </a:ln>
        </p:spPr>
      </p:sp>
      <p:sp>
        <p:nvSpPr>
          <p:cNvPr id="11" name="Text 9"/>
          <p:cNvSpPr txBox="1"/>
          <p:nvPr/>
        </p:nvSpPr>
        <p:spPr>
          <a:xfrm>
            <a:off x="6131052" y="402336"/>
            <a:ext cx="1322451" cy="237744"/>
          </a:xfrm>
          <a:prstGeom prst="rect">
            <a:avLst/>
          </a:prstGeom>
          <a:noFill/>
          <a:ln/>
        </p:spPr>
        <p:txBody>
          <a:bodyPr wrap="square" lIns="0" tIns="0" rIns="0" bIns="0" rtlCol="0" anchor="t"/>
          <a:lstStyle/>
          <a:p>
            <a:pPr indent="0" marL="0">
              <a:buNone/>
            </a:pPr>
            <a:r>
              <a:rPr lang="en-US" sz="1000" b="1" dirty="0">
                <a:solidFill>
                  <a:srgbClr val="0A7560"/>
                </a:solidFill>
                <a:latin typeface="Arial" pitchFamily="34" charset="0"/>
                <a:ea typeface="Arial" pitchFamily="34" charset="-122"/>
                <a:cs typeface="Arial" pitchFamily="34" charset="-120"/>
              </a:rPr>
              <a:t>5  </a:t>
            </a:r>
            <a:pPr indent="0" marL="0">
              <a:buNone/>
            </a:pPr>
            <a:r>
              <a:rPr lang="en-US" sz="1000" b="1" dirty="0">
                <a:solidFill>
                  <a:srgbClr val="0A7560"/>
                </a:solidFill>
                <a:latin typeface="Arial" pitchFamily="34" charset="0"/>
                <a:ea typeface="Arial" pitchFamily="34" charset="-122"/>
                <a:cs typeface="Arial" pitchFamily="34" charset="-120"/>
              </a:rPr>
              <a:t>Sélection</a:t>
            </a:r>
            <a:endParaRPr lang="en-US" sz="1000" dirty="0"/>
          </a:p>
        </p:txBody>
      </p:sp>
      <p:sp>
        <p:nvSpPr>
          <p:cNvPr id="12" name="Shape 10"/>
          <p:cNvSpPr/>
          <p:nvPr/>
        </p:nvSpPr>
        <p:spPr>
          <a:xfrm>
            <a:off x="7526655" y="278892"/>
            <a:ext cx="1322451" cy="73152"/>
          </a:xfrm>
          <a:prstGeom prst="rect">
            <a:avLst/>
          </a:prstGeom>
          <a:solidFill>
            <a:srgbClr val="0A7560"/>
          </a:solidFill>
          <a:ln w="12700">
            <a:solidFill>
              <a:srgbClr val="0A7560"/>
            </a:solidFill>
            <a:prstDash val="solid"/>
          </a:ln>
        </p:spPr>
      </p:sp>
      <p:sp>
        <p:nvSpPr>
          <p:cNvPr id="13" name="Text 11"/>
          <p:cNvSpPr txBox="1"/>
          <p:nvPr/>
        </p:nvSpPr>
        <p:spPr>
          <a:xfrm>
            <a:off x="7526655" y="402336"/>
            <a:ext cx="1322451" cy="237744"/>
          </a:xfrm>
          <a:prstGeom prst="rect">
            <a:avLst/>
          </a:prstGeom>
          <a:noFill/>
          <a:ln/>
        </p:spPr>
        <p:txBody>
          <a:bodyPr wrap="square" lIns="0" tIns="0" rIns="0" bIns="0" rtlCol="0" anchor="t"/>
          <a:lstStyle/>
          <a:p>
            <a:pPr indent="0" marL="0">
              <a:buNone/>
            </a:pPr>
            <a:r>
              <a:rPr lang="en-US" sz="1000" b="1" dirty="0">
                <a:solidFill>
                  <a:srgbClr val="0A7560"/>
                </a:solidFill>
                <a:latin typeface="Arial" pitchFamily="34" charset="0"/>
                <a:ea typeface="Arial" pitchFamily="34" charset="-122"/>
                <a:cs typeface="Arial" pitchFamily="34" charset="-120"/>
              </a:rPr>
              <a:t>6  </a:t>
            </a:r>
            <a:pPr indent="0" marL="0">
              <a:buNone/>
            </a:pPr>
            <a:r>
              <a:rPr lang="en-US" sz="1000" b="1" dirty="0">
                <a:solidFill>
                  <a:srgbClr val="0A7560"/>
                </a:solidFill>
                <a:latin typeface="Arial" pitchFamily="34" charset="0"/>
                <a:ea typeface="Arial" pitchFamily="34" charset="-122"/>
                <a:cs typeface="Arial" pitchFamily="34" charset="-120"/>
              </a:rPr>
              <a:t>Fusion</a:t>
            </a:r>
            <a:endParaRPr lang="en-US" sz="1000" dirty="0"/>
          </a:p>
        </p:txBody>
      </p:sp>
      <p:sp>
        <p:nvSpPr>
          <p:cNvPr id="14" name="Shape 12"/>
          <p:cNvSpPr/>
          <p:nvPr/>
        </p:nvSpPr>
        <p:spPr>
          <a:xfrm>
            <a:off x="8922258" y="292608"/>
            <a:ext cx="1322451" cy="45720"/>
          </a:xfrm>
          <a:prstGeom prst="rect">
            <a:avLst/>
          </a:prstGeom>
          <a:solidFill>
            <a:srgbClr val="C6CFCB"/>
          </a:solidFill>
          <a:ln w="12700">
            <a:solidFill>
              <a:srgbClr val="C6CFCB"/>
            </a:solidFill>
            <a:prstDash val="solid"/>
          </a:ln>
        </p:spPr>
      </p:sp>
      <p:sp>
        <p:nvSpPr>
          <p:cNvPr id="15" name="Text 13"/>
          <p:cNvSpPr txBox="1"/>
          <p:nvPr/>
        </p:nvSpPr>
        <p:spPr>
          <a:xfrm>
            <a:off x="8922258"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7  </a:t>
            </a:r>
            <a:pPr indent="0" marL="0">
              <a:buNone/>
            </a:pPr>
            <a:r>
              <a:rPr lang="en-US" sz="1000" dirty="0">
                <a:solidFill>
                  <a:srgbClr val="52616C"/>
                </a:solidFill>
                <a:latin typeface="Arial" pitchFamily="34" charset="0"/>
                <a:ea typeface="Arial" pitchFamily="34" charset="-122"/>
                <a:cs typeface="Arial" pitchFamily="34" charset="-120"/>
              </a:rPr>
              <a:t>Validation</a:t>
            </a:r>
            <a:endParaRPr lang="en-US" sz="1000" dirty="0"/>
          </a:p>
        </p:txBody>
      </p:sp>
      <p:sp>
        <p:nvSpPr>
          <p:cNvPr id="16" name="Shape 14"/>
          <p:cNvSpPr/>
          <p:nvPr/>
        </p:nvSpPr>
        <p:spPr>
          <a:xfrm>
            <a:off x="10317861" y="292608"/>
            <a:ext cx="1322451" cy="45720"/>
          </a:xfrm>
          <a:prstGeom prst="rect">
            <a:avLst/>
          </a:prstGeom>
          <a:solidFill>
            <a:srgbClr val="C6CFCB"/>
          </a:solidFill>
          <a:ln w="12700">
            <a:solidFill>
              <a:srgbClr val="C6CFCB"/>
            </a:solidFill>
            <a:prstDash val="solid"/>
          </a:ln>
        </p:spPr>
      </p:sp>
      <p:sp>
        <p:nvSpPr>
          <p:cNvPr id="17" name="Text 15"/>
          <p:cNvSpPr txBox="1"/>
          <p:nvPr/>
        </p:nvSpPr>
        <p:spPr>
          <a:xfrm>
            <a:off x="10317861"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8  </a:t>
            </a:r>
            <a:pPr indent="0" marL="0">
              <a:buNone/>
            </a:pPr>
            <a:r>
              <a:rPr lang="en-US" sz="1000" dirty="0">
                <a:solidFill>
                  <a:srgbClr val="52616C"/>
                </a:solidFill>
                <a:latin typeface="Arial" pitchFamily="34" charset="0"/>
                <a:ea typeface="Arial" pitchFamily="34" charset="-122"/>
                <a:cs typeface="Arial" pitchFamily="34" charset="-120"/>
              </a:rPr>
              <a:t>Production</a:t>
            </a:r>
            <a:endParaRPr lang="en-US" sz="1000" dirty="0"/>
          </a:p>
        </p:txBody>
      </p:sp>
      <p:sp>
        <p:nvSpPr>
          <p:cNvPr id="18" name="Text 16"/>
          <p:cNvSpPr txBox="1"/>
          <p:nvPr/>
        </p:nvSpPr>
        <p:spPr>
          <a:xfrm>
            <a:off x="548640" y="914400"/>
            <a:ext cx="6400800" cy="1097280"/>
          </a:xfrm>
          <a:prstGeom prst="rect">
            <a:avLst/>
          </a:prstGeom>
          <a:noFill/>
          <a:ln/>
        </p:spPr>
        <p:txBody>
          <a:bodyPr wrap="square" lIns="0" tIns="0" rIns="0" bIns="0" rtlCol="0" anchor="t"/>
          <a:lstStyle/>
          <a:p>
            <a:pPr indent="0" marL="0">
              <a:buNone/>
            </a:pPr>
            <a:r>
              <a:rPr lang="en-US" sz="3200" b="1" dirty="0">
                <a:solidFill>
                  <a:srgbClr val="14202A"/>
                </a:solidFill>
                <a:latin typeface="Arial" pitchFamily="34" charset="0"/>
                <a:ea typeface="Arial" pitchFamily="34" charset="-122"/>
                <a:cs typeface="Arial" pitchFamily="34" charset="-120"/>
              </a:rPr>
              <a:t>Un panier par régime d'activité macro</a:t>
            </a:r>
            <a:endParaRPr lang="en-US" sz="3200" dirty="0"/>
          </a:p>
        </p:txBody>
      </p:sp>
      <p:sp>
        <p:nvSpPr>
          <p:cNvPr id="19" name="Text 17"/>
          <p:cNvSpPr txBox="1"/>
          <p:nvPr/>
        </p:nvSpPr>
        <p:spPr>
          <a:xfrm>
            <a:off x="548640" y="2313432"/>
            <a:ext cx="914400" cy="320040"/>
          </a:xfrm>
          <a:prstGeom prst="rect">
            <a:avLst/>
          </a:prstGeom>
          <a:noFill/>
          <a:ln/>
        </p:spPr>
        <p:txBody>
          <a:bodyPr wrap="square" lIns="0" tIns="0" rIns="0" bIns="0" rtlCol="0" anchor="t"/>
          <a:lstStyle/>
          <a:p>
            <a:pPr indent="0" marL="0">
              <a:buNone/>
            </a:pPr>
            <a:r>
              <a:rPr lang="en-US" sz="1300" b="1" dirty="0">
                <a:solidFill>
                  <a:srgbClr val="52616C"/>
                </a:solidFill>
                <a:latin typeface="Arial" pitchFamily="34" charset="0"/>
                <a:ea typeface="Arial" pitchFamily="34" charset="-122"/>
                <a:cs typeface="Arial" pitchFamily="34" charset="-120"/>
              </a:rPr>
              <a:t>high</a:t>
            </a:r>
            <a:endParaRPr lang="en-US" sz="1300" dirty="0"/>
          </a:p>
        </p:txBody>
      </p:sp>
      <p:sp>
        <p:nvSpPr>
          <p:cNvPr id="20" name="Shape 18"/>
          <p:cNvSpPr/>
          <p:nvPr/>
        </p:nvSpPr>
        <p:spPr>
          <a:xfrm>
            <a:off x="1600200" y="2468880"/>
            <a:ext cx="5029200" cy="0"/>
          </a:xfrm>
          <a:prstGeom prst="line">
            <a:avLst/>
          </a:prstGeom>
          <a:noFill/>
          <a:ln w="12700">
            <a:solidFill>
              <a:srgbClr val="C6CFCB"/>
            </a:solidFill>
            <a:prstDash val="solid"/>
          </a:ln>
        </p:spPr>
      </p:sp>
      <p:sp>
        <p:nvSpPr>
          <p:cNvPr id="21" name="Text 19"/>
          <p:cNvSpPr txBox="1"/>
          <p:nvPr/>
        </p:nvSpPr>
        <p:spPr>
          <a:xfrm>
            <a:off x="548640" y="3044952"/>
            <a:ext cx="914400" cy="320040"/>
          </a:xfrm>
          <a:prstGeom prst="rect">
            <a:avLst/>
          </a:prstGeom>
          <a:noFill/>
          <a:ln/>
        </p:spPr>
        <p:txBody>
          <a:bodyPr wrap="square" lIns="0" tIns="0" rIns="0" bIns="0" rtlCol="0" anchor="t"/>
          <a:lstStyle/>
          <a:p>
            <a:pPr indent="0" marL="0">
              <a:buNone/>
            </a:pPr>
            <a:r>
              <a:rPr lang="en-US" sz="1300" b="1" dirty="0">
                <a:solidFill>
                  <a:srgbClr val="52616C"/>
                </a:solidFill>
                <a:latin typeface="Arial" pitchFamily="34" charset="0"/>
                <a:ea typeface="Arial" pitchFamily="34" charset="-122"/>
                <a:cs typeface="Arial" pitchFamily="34" charset="-120"/>
              </a:rPr>
              <a:t>medium</a:t>
            </a:r>
            <a:endParaRPr lang="en-US" sz="1300" dirty="0"/>
          </a:p>
        </p:txBody>
      </p:sp>
      <p:sp>
        <p:nvSpPr>
          <p:cNvPr id="22" name="Shape 20"/>
          <p:cNvSpPr/>
          <p:nvPr/>
        </p:nvSpPr>
        <p:spPr>
          <a:xfrm>
            <a:off x="1600200" y="3200400"/>
            <a:ext cx="5029200" cy="0"/>
          </a:xfrm>
          <a:prstGeom prst="line">
            <a:avLst/>
          </a:prstGeom>
          <a:noFill/>
          <a:ln w="12700">
            <a:solidFill>
              <a:srgbClr val="C6CFCB"/>
            </a:solidFill>
            <a:prstDash val="solid"/>
          </a:ln>
        </p:spPr>
      </p:sp>
      <p:sp>
        <p:nvSpPr>
          <p:cNvPr id="23" name="Text 21"/>
          <p:cNvSpPr txBox="1"/>
          <p:nvPr/>
        </p:nvSpPr>
        <p:spPr>
          <a:xfrm>
            <a:off x="548640" y="3776472"/>
            <a:ext cx="914400" cy="320040"/>
          </a:xfrm>
          <a:prstGeom prst="rect">
            <a:avLst/>
          </a:prstGeom>
          <a:noFill/>
          <a:ln/>
        </p:spPr>
        <p:txBody>
          <a:bodyPr wrap="square" lIns="0" tIns="0" rIns="0" bIns="0" rtlCol="0" anchor="t"/>
          <a:lstStyle/>
          <a:p>
            <a:pPr indent="0" marL="0">
              <a:buNone/>
            </a:pPr>
            <a:r>
              <a:rPr lang="en-US" sz="1300" b="1" dirty="0">
                <a:solidFill>
                  <a:srgbClr val="52616C"/>
                </a:solidFill>
                <a:latin typeface="Arial" pitchFamily="34" charset="0"/>
                <a:ea typeface="Arial" pitchFamily="34" charset="-122"/>
                <a:cs typeface="Arial" pitchFamily="34" charset="-120"/>
              </a:rPr>
              <a:t>low</a:t>
            </a:r>
            <a:endParaRPr lang="en-US" sz="1300" dirty="0"/>
          </a:p>
        </p:txBody>
      </p:sp>
      <p:sp>
        <p:nvSpPr>
          <p:cNvPr id="24" name="Shape 22"/>
          <p:cNvSpPr/>
          <p:nvPr/>
        </p:nvSpPr>
        <p:spPr>
          <a:xfrm>
            <a:off x="1600200" y="3931920"/>
            <a:ext cx="5029200" cy="0"/>
          </a:xfrm>
          <a:prstGeom prst="line">
            <a:avLst/>
          </a:prstGeom>
          <a:noFill/>
          <a:ln w="12700">
            <a:solidFill>
              <a:srgbClr val="C6CFCB"/>
            </a:solidFill>
            <a:prstDash val="solid"/>
          </a:ln>
        </p:spPr>
      </p:sp>
      <p:sp>
        <p:nvSpPr>
          <p:cNvPr id="25" name="Shape 23"/>
          <p:cNvSpPr/>
          <p:nvPr/>
        </p:nvSpPr>
        <p:spPr>
          <a:xfrm>
            <a:off x="1600200" y="2240280"/>
            <a:ext cx="490679" cy="457200"/>
          </a:xfrm>
          <a:prstGeom prst="rect">
            <a:avLst/>
          </a:prstGeom>
          <a:solidFill>
            <a:srgbClr val="0A7560"/>
          </a:solidFill>
          <a:ln w="12700">
            <a:solidFill>
              <a:srgbClr val="0A7560"/>
            </a:solidFill>
            <a:prstDash val="solid"/>
          </a:ln>
        </p:spPr>
      </p:sp>
      <p:sp>
        <p:nvSpPr>
          <p:cNvPr id="26" name="Shape 24"/>
          <p:cNvSpPr/>
          <p:nvPr/>
        </p:nvSpPr>
        <p:spPr>
          <a:xfrm>
            <a:off x="2776384" y="2240280"/>
            <a:ext cx="571795" cy="457200"/>
          </a:xfrm>
          <a:prstGeom prst="rect">
            <a:avLst/>
          </a:prstGeom>
          <a:solidFill>
            <a:srgbClr val="0A7560"/>
          </a:solidFill>
          <a:ln w="12700">
            <a:solidFill>
              <a:srgbClr val="0A7560"/>
            </a:solidFill>
            <a:prstDash val="solid"/>
          </a:ln>
        </p:spPr>
      </p:sp>
      <p:sp>
        <p:nvSpPr>
          <p:cNvPr id="27" name="Shape 25"/>
          <p:cNvSpPr/>
          <p:nvPr/>
        </p:nvSpPr>
        <p:spPr>
          <a:xfrm>
            <a:off x="3871452" y="2240280"/>
            <a:ext cx="409563" cy="457200"/>
          </a:xfrm>
          <a:prstGeom prst="rect">
            <a:avLst/>
          </a:prstGeom>
          <a:solidFill>
            <a:srgbClr val="0A7560"/>
          </a:solidFill>
          <a:ln w="12700">
            <a:solidFill>
              <a:srgbClr val="0A7560"/>
            </a:solidFill>
            <a:prstDash val="solid"/>
          </a:ln>
        </p:spPr>
      </p:sp>
      <p:sp>
        <p:nvSpPr>
          <p:cNvPr id="28" name="Shape 26"/>
          <p:cNvSpPr/>
          <p:nvPr/>
        </p:nvSpPr>
        <p:spPr>
          <a:xfrm>
            <a:off x="5007077" y="2240280"/>
            <a:ext cx="531237" cy="457200"/>
          </a:xfrm>
          <a:prstGeom prst="rect">
            <a:avLst/>
          </a:prstGeom>
          <a:solidFill>
            <a:srgbClr val="0A7560">
              <a:alpha val="0"/>
            </a:srgbClr>
          </a:solidFill>
          <a:ln w="25400">
            <a:solidFill>
              <a:srgbClr val="0A7560"/>
            </a:solidFill>
            <a:prstDash val="solid"/>
          </a:ln>
        </p:spPr>
      </p:sp>
      <p:sp>
        <p:nvSpPr>
          <p:cNvPr id="29" name="Shape 27"/>
          <p:cNvSpPr/>
          <p:nvPr/>
        </p:nvSpPr>
        <p:spPr>
          <a:xfrm>
            <a:off x="6142703" y="2240280"/>
            <a:ext cx="450121" cy="457200"/>
          </a:xfrm>
          <a:prstGeom prst="rect">
            <a:avLst/>
          </a:prstGeom>
          <a:solidFill>
            <a:srgbClr val="0A7560">
              <a:alpha val="0"/>
            </a:srgbClr>
          </a:solidFill>
          <a:ln w="25400">
            <a:solidFill>
              <a:srgbClr val="0A7560"/>
            </a:solidFill>
            <a:prstDash val="solid"/>
          </a:ln>
        </p:spPr>
      </p:sp>
      <p:sp>
        <p:nvSpPr>
          <p:cNvPr id="30" name="Shape 28"/>
          <p:cNvSpPr/>
          <p:nvPr/>
        </p:nvSpPr>
        <p:spPr>
          <a:xfrm>
            <a:off x="2370803" y="2971800"/>
            <a:ext cx="369005" cy="457200"/>
          </a:xfrm>
          <a:prstGeom prst="rect">
            <a:avLst/>
          </a:prstGeom>
          <a:solidFill>
            <a:srgbClr val="7B8A92"/>
          </a:solidFill>
          <a:ln w="12700">
            <a:solidFill>
              <a:srgbClr val="7B8A92"/>
            </a:solidFill>
            <a:prstDash val="solid"/>
          </a:ln>
        </p:spPr>
      </p:sp>
      <p:sp>
        <p:nvSpPr>
          <p:cNvPr id="31" name="Shape 29"/>
          <p:cNvSpPr/>
          <p:nvPr/>
        </p:nvSpPr>
        <p:spPr>
          <a:xfrm>
            <a:off x="3384755" y="2971800"/>
            <a:ext cx="247330" cy="457200"/>
          </a:xfrm>
          <a:prstGeom prst="rect">
            <a:avLst/>
          </a:prstGeom>
          <a:solidFill>
            <a:srgbClr val="7B8A92"/>
          </a:solidFill>
          <a:ln w="12700">
            <a:solidFill>
              <a:srgbClr val="7B8A92"/>
            </a:solidFill>
            <a:prstDash val="solid"/>
          </a:ln>
        </p:spPr>
      </p:sp>
      <p:sp>
        <p:nvSpPr>
          <p:cNvPr id="32" name="Shape 30"/>
          <p:cNvSpPr/>
          <p:nvPr/>
        </p:nvSpPr>
        <p:spPr>
          <a:xfrm>
            <a:off x="4317590" y="2971800"/>
            <a:ext cx="328447" cy="457200"/>
          </a:xfrm>
          <a:prstGeom prst="rect">
            <a:avLst/>
          </a:prstGeom>
          <a:solidFill>
            <a:srgbClr val="7B8A92"/>
          </a:solidFill>
          <a:ln w="12700">
            <a:solidFill>
              <a:srgbClr val="7B8A92"/>
            </a:solidFill>
            <a:prstDash val="solid"/>
          </a:ln>
        </p:spPr>
      </p:sp>
      <p:sp>
        <p:nvSpPr>
          <p:cNvPr id="33" name="Shape 31"/>
          <p:cNvSpPr/>
          <p:nvPr/>
        </p:nvSpPr>
        <p:spPr>
          <a:xfrm>
            <a:off x="5574890" y="2971800"/>
            <a:ext cx="287889" cy="457200"/>
          </a:xfrm>
          <a:prstGeom prst="rect">
            <a:avLst/>
          </a:prstGeom>
          <a:solidFill>
            <a:srgbClr val="7B8A92">
              <a:alpha val="0"/>
            </a:srgbClr>
          </a:solidFill>
          <a:ln w="25400">
            <a:solidFill>
              <a:srgbClr val="7B8A92"/>
            </a:solidFill>
            <a:prstDash val="solid"/>
          </a:ln>
        </p:spPr>
      </p:sp>
      <p:sp>
        <p:nvSpPr>
          <p:cNvPr id="34" name="Shape 32"/>
          <p:cNvSpPr/>
          <p:nvPr/>
        </p:nvSpPr>
        <p:spPr>
          <a:xfrm>
            <a:off x="2127455" y="3703320"/>
            <a:ext cx="206772" cy="457200"/>
          </a:xfrm>
          <a:prstGeom prst="rect">
            <a:avLst/>
          </a:prstGeom>
          <a:solidFill>
            <a:srgbClr val="A35F12"/>
          </a:solidFill>
          <a:ln w="12700">
            <a:solidFill>
              <a:srgbClr val="A35F12"/>
            </a:solidFill>
            <a:prstDash val="solid"/>
          </a:ln>
        </p:spPr>
      </p:sp>
      <p:sp>
        <p:nvSpPr>
          <p:cNvPr id="35" name="Shape 33"/>
          <p:cNvSpPr/>
          <p:nvPr/>
        </p:nvSpPr>
        <p:spPr>
          <a:xfrm>
            <a:off x="3668661" y="3703320"/>
            <a:ext cx="166214" cy="457200"/>
          </a:xfrm>
          <a:prstGeom prst="rect">
            <a:avLst/>
          </a:prstGeom>
          <a:solidFill>
            <a:srgbClr val="A35F12"/>
          </a:solidFill>
          <a:ln w="12700">
            <a:solidFill>
              <a:srgbClr val="A35F12"/>
            </a:solidFill>
            <a:prstDash val="solid"/>
          </a:ln>
        </p:spPr>
      </p:sp>
      <p:sp>
        <p:nvSpPr>
          <p:cNvPr id="36" name="Shape 34"/>
          <p:cNvSpPr/>
          <p:nvPr/>
        </p:nvSpPr>
        <p:spPr>
          <a:xfrm>
            <a:off x="4682613" y="3703320"/>
            <a:ext cx="287889" cy="457200"/>
          </a:xfrm>
          <a:prstGeom prst="rect">
            <a:avLst/>
          </a:prstGeom>
          <a:solidFill>
            <a:srgbClr val="A35F12"/>
          </a:solidFill>
          <a:ln w="12700">
            <a:solidFill>
              <a:srgbClr val="A35F12"/>
            </a:solidFill>
            <a:prstDash val="solid"/>
          </a:ln>
        </p:spPr>
      </p:sp>
      <p:sp>
        <p:nvSpPr>
          <p:cNvPr id="37" name="Shape 35"/>
          <p:cNvSpPr/>
          <p:nvPr/>
        </p:nvSpPr>
        <p:spPr>
          <a:xfrm>
            <a:off x="5899355" y="3703320"/>
            <a:ext cx="206772" cy="457200"/>
          </a:xfrm>
          <a:prstGeom prst="rect">
            <a:avLst/>
          </a:prstGeom>
          <a:solidFill>
            <a:srgbClr val="A35F12">
              <a:alpha val="0"/>
            </a:srgbClr>
          </a:solidFill>
          <a:ln w="25400">
            <a:solidFill>
              <a:srgbClr val="A35F12"/>
            </a:solidFill>
            <a:prstDash val="solid"/>
          </a:ln>
        </p:spPr>
      </p:sp>
      <p:sp>
        <p:nvSpPr>
          <p:cNvPr id="38" name="Text 36"/>
          <p:cNvSpPr txBox="1"/>
          <p:nvPr/>
        </p:nvSpPr>
        <p:spPr>
          <a:xfrm>
            <a:off x="548640" y="4389120"/>
            <a:ext cx="5852160" cy="548640"/>
          </a:xfrm>
          <a:prstGeom prst="rect">
            <a:avLst/>
          </a:prstGeom>
          <a:noFill/>
          <a:ln/>
        </p:spPr>
        <p:txBody>
          <a:bodyPr wrap="square" lIns="0" tIns="0" rIns="0" bIns="0" rtlCol="0" anchor="t"/>
          <a:lstStyle/>
          <a:p>
            <a:pPr indent="0" marL="0">
              <a:buNone/>
            </a:pPr>
            <a:r>
              <a:rPr lang="en-US" sz="1150" dirty="0">
                <a:solidFill>
                  <a:srgbClr val="52616C"/>
                </a:solidFill>
                <a:latin typeface="Arial" pitchFamily="34" charset="0"/>
                <a:ea typeface="Arial" pitchFamily="34" charset="-122"/>
                <a:cs typeface="Arial" pitchFamily="34" charset="-120"/>
              </a:rPr>
              <a:t>Plein : entraînement. Contour seul : épisodes récents réservés au test, régime par régime.</a:t>
            </a:r>
            <a:endParaRPr lang="en-US" sz="1150" dirty="0"/>
          </a:p>
        </p:txBody>
      </p:sp>
      <p:sp>
        <p:nvSpPr>
          <p:cNvPr id="39" name="Text 37"/>
          <p:cNvSpPr txBox="1"/>
          <p:nvPr/>
        </p:nvSpPr>
        <p:spPr>
          <a:xfrm>
            <a:off x="7040880" y="2148840"/>
            <a:ext cx="4599432" cy="4206240"/>
          </a:xfrm>
          <a:prstGeom prst="rect">
            <a:avLst/>
          </a:prstGeom>
          <a:noFill/>
          <a:ln/>
        </p:spPr>
        <p:txBody>
          <a:bodyPr wrap="square" lIns="0" tIns="0" rIns="0" bIns="0" rtlCol="0" anchor="t"/>
          <a:lstStyle/>
          <a:p>
            <a:pPr indent="0" marL="0">
              <a:lnSpc>
                <a:spcPct val="112000"/>
              </a:lnSpc>
              <a:buNone/>
            </a:pPr>
            <a:r>
              <a:rPr lang="en-US" sz="1350" b="1" dirty="0">
                <a:solidFill>
                  <a:srgbClr val="14202A"/>
                </a:solidFill>
                <a:latin typeface="Arial" pitchFamily="34" charset="0"/>
                <a:ea typeface="Arial" pitchFamily="34" charset="-122"/>
                <a:cs typeface="Arial" pitchFamily="34" charset="-120"/>
              </a:rPr>
              <a:t>Score macro maison </a:t>
            </a:r>
            <a:pPr indent="0" marL="0">
              <a:lnSpc>
                <a:spcPct val="112000"/>
              </a:lnSpc>
              <a:spcAft>
                <a:spcPts val="900"/>
              </a:spcAft>
              <a:buNone/>
            </a:pPr>
            <a:r>
              <a:rPr lang="en-US" sz="1350" dirty="0">
                <a:solidFill>
                  <a:srgbClr val="14202A"/>
                </a:solidFill>
                <a:latin typeface="Arial" pitchFamily="34" charset="0"/>
                <a:ea typeface="Arial" pitchFamily="34" charset="-122"/>
                <a:cs typeface="Arial" pitchFamily="34" charset="-120"/>
              </a:rPr>
              <a:t>(PIB, inflation, CFNAI), mensuel, décalé d'un mois pour la latence de publication.</a:t>
            </a:r>
            <a:endParaRPr lang="en-US" sz="1350" dirty="0"/>
          </a:p>
          <a:p>
            <a:pPr indent="0" marL="0">
              <a:lnSpc>
                <a:spcPct val="112000"/>
              </a:lnSpc>
              <a:buNone/>
            </a:pPr>
            <a:r>
              <a:rPr lang="en-US" sz="1350" b="1" dirty="0">
                <a:solidFill>
                  <a:srgbClr val="14202A"/>
                </a:solidFill>
                <a:latin typeface="Arial" pitchFamily="34" charset="0"/>
                <a:ea typeface="Arial" pitchFamily="34" charset="-122"/>
                <a:cs typeface="Arial" pitchFamily="34" charset="-120"/>
              </a:rPr>
              <a:t>Le protocole tourne trois fois, </a:t>
            </a:r>
            <a:pPr indent="0" marL="0">
              <a:lnSpc>
                <a:spcPct val="112000"/>
              </a:lnSpc>
              <a:spcAft>
                <a:spcPts val="900"/>
              </a:spcAft>
              <a:buNone/>
            </a:pPr>
            <a:r>
              <a:rPr lang="en-US" sz="1350" dirty="0">
                <a:solidFill>
                  <a:srgbClr val="14202A"/>
                </a:solidFill>
                <a:latin typeface="Arial" pitchFamily="34" charset="0"/>
                <a:ea typeface="Arial" pitchFamily="34" charset="-122"/>
                <a:cs typeface="Arial" pitchFamily="34" charset="-120"/>
              </a:rPr>
              <a:t>chaque fois sur les seules dates du régime.</a:t>
            </a:r>
            <a:endParaRPr lang="en-US" sz="1350" dirty="0"/>
          </a:p>
          <a:p>
            <a:pPr indent="0" marL="0">
              <a:lnSpc>
                <a:spcPct val="112000"/>
              </a:lnSpc>
              <a:buNone/>
            </a:pPr>
            <a:r>
              <a:rPr lang="en-US" sz="1350" b="1" dirty="0">
                <a:solidFill>
                  <a:srgbClr val="14202A"/>
                </a:solidFill>
                <a:latin typeface="Arial" pitchFamily="34" charset="0"/>
                <a:ea typeface="Arial" pitchFamily="34" charset="-122"/>
                <a:cs typeface="Arial" pitchFamily="34" charset="-120"/>
              </a:rPr>
              <a:t>L'unité d'indépendance est l'épisode, </a:t>
            </a:r>
            <a:pPr indent="0" marL="0">
              <a:lnSpc>
                <a:spcPct val="112000"/>
              </a:lnSpc>
              <a:spcAft>
                <a:spcPts val="900"/>
              </a:spcAft>
              <a:buNone/>
            </a:pPr>
            <a:r>
              <a:rPr lang="en-US" sz="1350" dirty="0">
                <a:solidFill>
                  <a:srgbClr val="14202A"/>
                </a:solidFill>
                <a:latin typeface="Arial" pitchFamily="34" charset="0"/>
                <a:ea typeface="Arial" pitchFamily="34" charset="-122"/>
                <a:cs typeface="Arial" pitchFamily="34" charset="-120"/>
              </a:rPr>
              <a:t>pas la fenêtre : le t est groupé par épisode.</a:t>
            </a:r>
            <a:endParaRPr lang="en-US" sz="1350" dirty="0"/>
          </a:p>
          <a:p>
            <a:pPr indent="0" marL="0">
              <a:lnSpc>
                <a:spcPct val="112000"/>
              </a:lnSpc>
              <a:buNone/>
            </a:pPr>
            <a:r>
              <a:rPr lang="en-US" sz="1350" b="1" dirty="0">
                <a:solidFill>
                  <a:srgbClr val="14202A"/>
                </a:solidFill>
                <a:latin typeface="Arial" pitchFamily="34" charset="0"/>
                <a:ea typeface="Arial" pitchFamily="34" charset="-122"/>
                <a:cs typeface="Arial" pitchFamily="34" charset="-120"/>
              </a:rPr>
              <a:t>Test décisif : </a:t>
            </a:r>
            <a:pPr indent="0" marL="0">
              <a:lnSpc>
                <a:spcPct val="112000"/>
              </a:lnSpc>
              <a:spcAft>
                <a:spcPts val="900"/>
              </a:spcAft>
              <a:buNone/>
            </a:pPr>
            <a:r>
              <a:rPr lang="en-US" sz="1350" dirty="0">
                <a:solidFill>
                  <a:srgbClr val="14202A"/>
                </a:solidFill>
                <a:latin typeface="Arial" pitchFamily="34" charset="0"/>
                <a:ea typeface="Arial" pitchFamily="34" charset="-122"/>
                <a:cs typeface="Arial" pitchFamily="34" charset="-120"/>
              </a:rPr>
              <a:t>le spécialisé bat-il le panier global sur son propre régime ? Sinon, la subdivision n'a fait que tripler les degrés de liberté.</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DF0EE"/>
        </a:solidFill>
      </p:bgPr>
    </p:bg>
    <p:spTree>
      <p:nvGrpSpPr>
        <p:cNvPr id="1" name=""/>
        <p:cNvGrpSpPr/>
        <p:nvPr/>
      </p:nvGrpSpPr>
      <p:grpSpPr>
        <a:xfrm>
          <a:off x="0" y="0"/>
          <a:ext cx="0" cy="0"/>
          <a:chOff x="0" y="0"/>
          <a:chExt cx="0" cy="0"/>
        </a:xfrm>
      </p:grpSpPr>
      <p:sp>
        <p:nvSpPr>
          <p:cNvPr id="2" name="Shape 0"/>
          <p:cNvSpPr/>
          <p:nvPr/>
        </p:nvSpPr>
        <p:spPr>
          <a:xfrm>
            <a:off x="548640" y="292608"/>
            <a:ext cx="1322451" cy="45720"/>
          </a:xfrm>
          <a:prstGeom prst="rect">
            <a:avLst/>
          </a:prstGeom>
          <a:solidFill>
            <a:srgbClr val="52616C"/>
          </a:solidFill>
          <a:ln w="12700">
            <a:solidFill>
              <a:srgbClr val="52616C"/>
            </a:solidFill>
            <a:prstDash val="solid"/>
          </a:ln>
        </p:spPr>
      </p:sp>
      <p:sp>
        <p:nvSpPr>
          <p:cNvPr id="3" name="Text 1"/>
          <p:cNvSpPr txBox="1"/>
          <p:nvPr/>
        </p:nvSpPr>
        <p:spPr>
          <a:xfrm>
            <a:off x="548640"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1  </a:t>
            </a:r>
            <a:pPr indent="0" marL="0">
              <a:buNone/>
            </a:pPr>
            <a:r>
              <a:rPr lang="en-US" sz="1000" dirty="0">
                <a:solidFill>
                  <a:srgbClr val="14202A"/>
                </a:solidFill>
                <a:latin typeface="Arial" pitchFamily="34" charset="0"/>
                <a:ea typeface="Arial" pitchFamily="34" charset="-122"/>
                <a:cs typeface="Arial" pitchFamily="34" charset="-120"/>
              </a:rPr>
              <a:t>Données</a:t>
            </a:r>
            <a:endParaRPr lang="en-US" sz="1000" dirty="0"/>
          </a:p>
        </p:txBody>
      </p:sp>
      <p:sp>
        <p:nvSpPr>
          <p:cNvPr id="4" name="Shape 2"/>
          <p:cNvSpPr/>
          <p:nvPr/>
        </p:nvSpPr>
        <p:spPr>
          <a:xfrm>
            <a:off x="1944243" y="292608"/>
            <a:ext cx="1322451" cy="45720"/>
          </a:xfrm>
          <a:prstGeom prst="rect">
            <a:avLst/>
          </a:prstGeom>
          <a:solidFill>
            <a:srgbClr val="52616C"/>
          </a:solidFill>
          <a:ln w="12700">
            <a:solidFill>
              <a:srgbClr val="52616C"/>
            </a:solidFill>
            <a:prstDash val="solid"/>
          </a:ln>
        </p:spPr>
      </p:sp>
      <p:sp>
        <p:nvSpPr>
          <p:cNvPr id="5" name="Text 3"/>
          <p:cNvSpPr txBox="1"/>
          <p:nvPr/>
        </p:nvSpPr>
        <p:spPr>
          <a:xfrm>
            <a:off x="1944243"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2  </a:t>
            </a:r>
            <a:pPr indent="0" marL="0">
              <a:buNone/>
            </a:pPr>
            <a:r>
              <a:rPr lang="en-US" sz="1000" dirty="0">
                <a:solidFill>
                  <a:srgbClr val="14202A"/>
                </a:solidFill>
                <a:latin typeface="Arial" pitchFamily="34" charset="0"/>
                <a:ea typeface="Arial" pitchFamily="34" charset="-122"/>
                <a:cs typeface="Arial" pitchFamily="34" charset="-120"/>
              </a:rPr>
              <a:t>Indicateurs</a:t>
            </a:r>
            <a:endParaRPr lang="en-US" sz="1000" dirty="0"/>
          </a:p>
        </p:txBody>
      </p:sp>
      <p:sp>
        <p:nvSpPr>
          <p:cNvPr id="6" name="Shape 4"/>
          <p:cNvSpPr/>
          <p:nvPr/>
        </p:nvSpPr>
        <p:spPr>
          <a:xfrm>
            <a:off x="3339846" y="292608"/>
            <a:ext cx="1322451" cy="45720"/>
          </a:xfrm>
          <a:prstGeom prst="rect">
            <a:avLst/>
          </a:prstGeom>
          <a:solidFill>
            <a:srgbClr val="52616C"/>
          </a:solidFill>
          <a:ln w="12700">
            <a:solidFill>
              <a:srgbClr val="52616C"/>
            </a:solidFill>
            <a:prstDash val="solid"/>
          </a:ln>
        </p:spPr>
      </p:sp>
      <p:sp>
        <p:nvSpPr>
          <p:cNvPr id="7" name="Text 5"/>
          <p:cNvSpPr txBox="1"/>
          <p:nvPr/>
        </p:nvSpPr>
        <p:spPr>
          <a:xfrm>
            <a:off x="3339846"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3  </a:t>
            </a:r>
            <a:pPr indent="0" marL="0">
              <a:buNone/>
            </a:pPr>
            <a:r>
              <a:rPr lang="en-US" sz="1000" dirty="0">
                <a:solidFill>
                  <a:srgbClr val="14202A"/>
                </a:solidFill>
                <a:latin typeface="Arial" pitchFamily="34" charset="0"/>
                <a:ea typeface="Arial" pitchFamily="34" charset="-122"/>
                <a:cs typeface="Arial" pitchFamily="34" charset="-120"/>
              </a:rPr>
              <a:t>Paniers</a:t>
            </a:r>
            <a:endParaRPr lang="en-US" sz="1000" dirty="0"/>
          </a:p>
        </p:txBody>
      </p:sp>
      <p:sp>
        <p:nvSpPr>
          <p:cNvPr id="8" name="Shape 6"/>
          <p:cNvSpPr/>
          <p:nvPr/>
        </p:nvSpPr>
        <p:spPr>
          <a:xfrm>
            <a:off x="4735449" y="292608"/>
            <a:ext cx="1322451" cy="45720"/>
          </a:xfrm>
          <a:prstGeom prst="rect">
            <a:avLst/>
          </a:prstGeom>
          <a:solidFill>
            <a:srgbClr val="52616C"/>
          </a:solidFill>
          <a:ln w="12700">
            <a:solidFill>
              <a:srgbClr val="52616C"/>
            </a:solidFill>
            <a:prstDash val="solid"/>
          </a:ln>
        </p:spPr>
      </p:sp>
      <p:sp>
        <p:nvSpPr>
          <p:cNvPr id="9" name="Text 7"/>
          <p:cNvSpPr txBox="1"/>
          <p:nvPr/>
        </p:nvSpPr>
        <p:spPr>
          <a:xfrm>
            <a:off x="4735449"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4  </a:t>
            </a:r>
            <a:pPr indent="0" marL="0">
              <a:buNone/>
            </a:pPr>
            <a:r>
              <a:rPr lang="en-US" sz="1000" dirty="0">
                <a:solidFill>
                  <a:srgbClr val="14202A"/>
                </a:solidFill>
                <a:latin typeface="Arial" pitchFamily="34" charset="0"/>
                <a:ea typeface="Arial" pitchFamily="34" charset="-122"/>
                <a:cs typeface="Arial" pitchFamily="34" charset="-120"/>
              </a:rPr>
              <a:t>Bootstrap</a:t>
            </a:r>
            <a:endParaRPr lang="en-US" sz="1000" dirty="0"/>
          </a:p>
        </p:txBody>
      </p:sp>
      <p:sp>
        <p:nvSpPr>
          <p:cNvPr id="10" name="Shape 8"/>
          <p:cNvSpPr/>
          <p:nvPr/>
        </p:nvSpPr>
        <p:spPr>
          <a:xfrm>
            <a:off x="6131052" y="292608"/>
            <a:ext cx="1322451" cy="45720"/>
          </a:xfrm>
          <a:prstGeom prst="rect">
            <a:avLst/>
          </a:prstGeom>
          <a:solidFill>
            <a:srgbClr val="52616C"/>
          </a:solidFill>
          <a:ln w="12700">
            <a:solidFill>
              <a:srgbClr val="52616C"/>
            </a:solidFill>
            <a:prstDash val="solid"/>
          </a:ln>
        </p:spPr>
      </p:sp>
      <p:sp>
        <p:nvSpPr>
          <p:cNvPr id="11" name="Text 9"/>
          <p:cNvSpPr txBox="1"/>
          <p:nvPr/>
        </p:nvSpPr>
        <p:spPr>
          <a:xfrm>
            <a:off x="6131052"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5  </a:t>
            </a:r>
            <a:pPr indent="0" marL="0">
              <a:buNone/>
            </a:pPr>
            <a:r>
              <a:rPr lang="en-US" sz="1000" dirty="0">
                <a:solidFill>
                  <a:srgbClr val="14202A"/>
                </a:solidFill>
                <a:latin typeface="Arial" pitchFamily="34" charset="0"/>
                <a:ea typeface="Arial" pitchFamily="34" charset="-122"/>
                <a:cs typeface="Arial" pitchFamily="34" charset="-120"/>
              </a:rPr>
              <a:t>Sélection</a:t>
            </a:r>
            <a:endParaRPr lang="en-US" sz="1000" dirty="0"/>
          </a:p>
        </p:txBody>
      </p:sp>
      <p:sp>
        <p:nvSpPr>
          <p:cNvPr id="12" name="Shape 10"/>
          <p:cNvSpPr/>
          <p:nvPr/>
        </p:nvSpPr>
        <p:spPr>
          <a:xfrm>
            <a:off x="7526655" y="292608"/>
            <a:ext cx="1322451" cy="45720"/>
          </a:xfrm>
          <a:prstGeom prst="rect">
            <a:avLst/>
          </a:prstGeom>
          <a:solidFill>
            <a:srgbClr val="52616C"/>
          </a:solidFill>
          <a:ln w="12700">
            <a:solidFill>
              <a:srgbClr val="52616C"/>
            </a:solidFill>
            <a:prstDash val="solid"/>
          </a:ln>
        </p:spPr>
      </p:sp>
      <p:sp>
        <p:nvSpPr>
          <p:cNvPr id="13" name="Text 11"/>
          <p:cNvSpPr txBox="1"/>
          <p:nvPr/>
        </p:nvSpPr>
        <p:spPr>
          <a:xfrm>
            <a:off x="7526655"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6  </a:t>
            </a:r>
            <a:pPr indent="0" marL="0">
              <a:buNone/>
            </a:pPr>
            <a:r>
              <a:rPr lang="en-US" sz="1000" dirty="0">
                <a:solidFill>
                  <a:srgbClr val="14202A"/>
                </a:solidFill>
                <a:latin typeface="Arial" pitchFamily="34" charset="0"/>
                <a:ea typeface="Arial" pitchFamily="34" charset="-122"/>
                <a:cs typeface="Arial" pitchFamily="34" charset="-120"/>
              </a:rPr>
              <a:t>Fusion</a:t>
            </a:r>
            <a:endParaRPr lang="en-US" sz="1000" dirty="0"/>
          </a:p>
        </p:txBody>
      </p:sp>
      <p:sp>
        <p:nvSpPr>
          <p:cNvPr id="14" name="Shape 12"/>
          <p:cNvSpPr/>
          <p:nvPr/>
        </p:nvSpPr>
        <p:spPr>
          <a:xfrm>
            <a:off x="8922258" y="292608"/>
            <a:ext cx="1322451" cy="45720"/>
          </a:xfrm>
          <a:prstGeom prst="rect">
            <a:avLst/>
          </a:prstGeom>
          <a:solidFill>
            <a:srgbClr val="52616C"/>
          </a:solidFill>
          <a:ln w="12700">
            <a:solidFill>
              <a:srgbClr val="52616C"/>
            </a:solidFill>
            <a:prstDash val="solid"/>
          </a:ln>
        </p:spPr>
      </p:sp>
      <p:sp>
        <p:nvSpPr>
          <p:cNvPr id="15" name="Text 13"/>
          <p:cNvSpPr txBox="1"/>
          <p:nvPr/>
        </p:nvSpPr>
        <p:spPr>
          <a:xfrm>
            <a:off x="8922258" y="402336"/>
            <a:ext cx="1322451" cy="237744"/>
          </a:xfrm>
          <a:prstGeom prst="rect">
            <a:avLst/>
          </a:prstGeom>
          <a:noFill/>
          <a:ln/>
        </p:spPr>
        <p:txBody>
          <a:bodyPr wrap="square" lIns="0" tIns="0" rIns="0" bIns="0" rtlCol="0" anchor="t"/>
          <a:lstStyle/>
          <a:p>
            <a:pPr indent="0" marL="0">
              <a:buNone/>
            </a:pPr>
            <a:r>
              <a:rPr lang="en-US" sz="1000" b="1" dirty="0">
                <a:solidFill>
                  <a:srgbClr val="14202A"/>
                </a:solidFill>
                <a:latin typeface="Arial" pitchFamily="34" charset="0"/>
                <a:ea typeface="Arial" pitchFamily="34" charset="-122"/>
                <a:cs typeface="Arial" pitchFamily="34" charset="-120"/>
              </a:rPr>
              <a:t>7  </a:t>
            </a:r>
            <a:pPr indent="0" marL="0">
              <a:buNone/>
            </a:pPr>
            <a:r>
              <a:rPr lang="en-US" sz="1000" dirty="0">
                <a:solidFill>
                  <a:srgbClr val="14202A"/>
                </a:solidFill>
                <a:latin typeface="Arial" pitchFamily="34" charset="0"/>
                <a:ea typeface="Arial" pitchFamily="34" charset="-122"/>
                <a:cs typeface="Arial" pitchFamily="34" charset="-120"/>
              </a:rPr>
              <a:t>Validation</a:t>
            </a:r>
            <a:endParaRPr lang="en-US" sz="1000" dirty="0"/>
          </a:p>
        </p:txBody>
      </p:sp>
      <p:sp>
        <p:nvSpPr>
          <p:cNvPr id="16" name="Shape 14"/>
          <p:cNvSpPr/>
          <p:nvPr/>
        </p:nvSpPr>
        <p:spPr>
          <a:xfrm>
            <a:off x="10317861" y="278892"/>
            <a:ext cx="1322451" cy="73152"/>
          </a:xfrm>
          <a:prstGeom prst="rect">
            <a:avLst/>
          </a:prstGeom>
          <a:solidFill>
            <a:srgbClr val="0A7560"/>
          </a:solidFill>
          <a:ln w="12700">
            <a:solidFill>
              <a:srgbClr val="0A7560"/>
            </a:solidFill>
            <a:prstDash val="solid"/>
          </a:ln>
        </p:spPr>
      </p:sp>
      <p:sp>
        <p:nvSpPr>
          <p:cNvPr id="17" name="Text 15"/>
          <p:cNvSpPr txBox="1"/>
          <p:nvPr/>
        </p:nvSpPr>
        <p:spPr>
          <a:xfrm>
            <a:off x="10317861" y="402336"/>
            <a:ext cx="1322451" cy="237744"/>
          </a:xfrm>
          <a:prstGeom prst="rect">
            <a:avLst/>
          </a:prstGeom>
          <a:noFill/>
          <a:ln/>
        </p:spPr>
        <p:txBody>
          <a:bodyPr wrap="square" lIns="0" tIns="0" rIns="0" bIns="0" rtlCol="0" anchor="t"/>
          <a:lstStyle/>
          <a:p>
            <a:pPr indent="0" marL="0">
              <a:buNone/>
            </a:pPr>
            <a:r>
              <a:rPr lang="en-US" sz="1000" b="1" dirty="0">
                <a:solidFill>
                  <a:srgbClr val="0A7560"/>
                </a:solidFill>
                <a:latin typeface="Arial" pitchFamily="34" charset="0"/>
                <a:ea typeface="Arial" pitchFamily="34" charset="-122"/>
                <a:cs typeface="Arial" pitchFamily="34" charset="-120"/>
              </a:rPr>
              <a:t>8  </a:t>
            </a:r>
            <a:pPr indent="0" marL="0">
              <a:buNone/>
            </a:pPr>
            <a:r>
              <a:rPr lang="en-US" sz="1000" b="1" dirty="0">
                <a:solidFill>
                  <a:srgbClr val="0A7560"/>
                </a:solidFill>
                <a:latin typeface="Arial" pitchFamily="34" charset="0"/>
                <a:ea typeface="Arial" pitchFamily="34" charset="-122"/>
                <a:cs typeface="Arial" pitchFamily="34" charset="-120"/>
              </a:rPr>
              <a:t>Production</a:t>
            </a:r>
            <a:endParaRPr lang="en-US" sz="1000" dirty="0"/>
          </a:p>
        </p:txBody>
      </p:sp>
      <p:sp>
        <p:nvSpPr>
          <p:cNvPr id="18" name="Text 16"/>
          <p:cNvSpPr txBox="1"/>
          <p:nvPr/>
        </p:nvSpPr>
        <p:spPr>
          <a:xfrm>
            <a:off x="548640" y="914400"/>
            <a:ext cx="10058400" cy="1097280"/>
          </a:xfrm>
          <a:prstGeom prst="rect">
            <a:avLst/>
          </a:prstGeom>
          <a:noFill/>
          <a:ln/>
        </p:spPr>
        <p:txBody>
          <a:bodyPr wrap="square" lIns="0" tIns="0" rIns="0" bIns="0" rtlCol="0" anchor="t"/>
          <a:lstStyle/>
          <a:p>
            <a:pPr indent="0" marL="0">
              <a:buNone/>
            </a:pPr>
            <a:r>
              <a:rPr lang="en-US" sz="3200" b="1" dirty="0">
                <a:solidFill>
                  <a:srgbClr val="14202A"/>
                </a:solidFill>
                <a:latin typeface="Arial" pitchFamily="34" charset="0"/>
                <a:ea typeface="Arial" pitchFamily="34" charset="-122"/>
                <a:cs typeface="Arial" pitchFamily="34" charset="-120"/>
              </a:rPr>
              <a:t>Chaque matin, le carnet d'ordres</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6217920" cy="914400"/>
        </p:xfrm>
        <a:graphic>
          <a:graphicData uri="http://schemas.openxmlformats.org/drawingml/2006/table">
            <a:tbl>
              <a:tblPr/>
              <a:tblGrid>
                <a:gridCol w="914400"/>
                <a:gridCol w="1371600"/>
                <a:gridCol w="1188720"/>
                <a:gridCol w="1188720"/>
                <a:gridCol w="1554480"/>
              </a:tblGrid>
              <a:tr h="420624">
                <a:tc>
                  <a:txBody>
                    <a:bodyPr/>
                    <a:lstStyle/>
                    <a:p>
                      <a:pPr indent="0" marL="0">
                        <a:buNone/>
                      </a:pPr>
                      <a:r>
                        <a:rPr lang="en-US" sz="1200" b="1" dirty="0">
                          <a:solidFill>
                            <a:srgbClr val="52616C"/>
                          </a:solidFill>
                          <a:latin typeface="Arial" pitchFamily="34" charset="0"/>
                          <a:ea typeface="Arial" pitchFamily="34" charset="-122"/>
                          <a:cs typeface="Arial" pitchFamily="34" charset="-120"/>
                        </a:rPr>
                        <a:t>Titre</a:t>
                      </a:r>
                      <a:endParaRPr lang="en-US" sz="12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EDF0EE"/>
                    </a:solidFill>
                  </a:tcPr>
                </a:tc>
                <a:tc>
                  <a:txBody>
                    <a:bodyPr/>
                    <a:lstStyle/>
                    <a:p>
                      <a:pPr indent="0" marL="0">
                        <a:buNone/>
                      </a:pPr>
                      <a:r>
                        <a:rPr lang="en-US" sz="1200" b="1" dirty="0">
                          <a:solidFill>
                            <a:srgbClr val="52616C"/>
                          </a:solidFill>
                          <a:latin typeface="Arial" pitchFamily="34" charset="0"/>
                          <a:ea typeface="Arial" pitchFamily="34" charset="-122"/>
                          <a:cs typeface="Arial" pitchFamily="34" charset="-120"/>
                        </a:rPr>
                        <a:t>Action</a:t>
                      </a:r>
                      <a:endParaRPr lang="en-US" sz="12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EDF0EE"/>
                    </a:solidFill>
                  </a:tcPr>
                </a:tc>
                <a:tc>
                  <a:txBody>
                    <a:bodyPr/>
                    <a:lstStyle/>
                    <a:p>
                      <a:pPr algn="r" indent="0" marL="0">
                        <a:buNone/>
                      </a:pPr>
                      <a:r>
                        <a:rPr lang="en-US" sz="1200" b="1" dirty="0">
                          <a:solidFill>
                            <a:srgbClr val="52616C"/>
                          </a:solidFill>
                          <a:latin typeface="Arial" pitchFamily="34" charset="0"/>
                          <a:ea typeface="Arial" pitchFamily="34" charset="-122"/>
                          <a:cs typeface="Arial" pitchFamily="34" charset="-120"/>
                        </a:rPr>
                        <a:t>Montant</a:t>
                      </a:r>
                      <a:endParaRPr lang="en-US" sz="12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EDF0EE"/>
                    </a:solidFill>
                  </a:tcPr>
                </a:tc>
                <a:tc>
                  <a:txBody>
                    <a:bodyPr/>
                    <a:lstStyle/>
                    <a:p>
                      <a:pPr algn="r" indent="0" marL="0">
                        <a:buNone/>
                      </a:pPr>
                      <a:r>
                        <a:rPr lang="en-US" sz="1200" b="1" dirty="0">
                          <a:solidFill>
                            <a:srgbClr val="52616C"/>
                          </a:solidFill>
                          <a:latin typeface="Arial" pitchFamily="34" charset="0"/>
                          <a:ea typeface="Arial" pitchFamily="34" charset="-122"/>
                          <a:cs typeface="Arial" pitchFamily="34" charset="-120"/>
                        </a:rPr>
                        <a:t>Stop</a:t>
                      </a:r>
                      <a:endParaRPr lang="en-US" sz="12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EDF0EE"/>
                    </a:solidFill>
                  </a:tcPr>
                </a:tc>
                <a:tc>
                  <a:txBody>
                    <a:bodyPr/>
                    <a:lstStyle/>
                    <a:p>
                      <a:pPr algn="r" indent="0" marL="0">
                        <a:buNone/>
                      </a:pPr>
                      <a:r>
                        <a:rPr lang="en-US" sz="1200" b="1" dirty="0">
                          <a:solidFill>
                            <a:srgbClr val="52616C"/>
                          </a:solidFill>
                          <a:latin typeface="Arial" pitchFamily="34" charset="0"/>
                          <a:ea typeface="Arial" pitchFamily="34" charset="-122"/>
                          <a:cs typeface="Arial" pitchFamily="34" charset="-120"/>
                        </a:rPr>
                        <a:t>Marge au stop</a:t>
                      </a:r>
                      <a:endParaRPr lang="en-US" sz="12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EDF0EE"/>
                    </a:solidFill>
                  </a:tcPr>
                </a:tc>
              </a:tr>
              <a:tr h="420624">
                <a:tc>
                  <a:txBody>
                    <a:bodyPr/>
                    <a:lstStyle/>
                    <a:p>
                      <a:pPr indent="0" marL="0">
                        <a:buNone/>
                      </a:pPr>
                      <a:r>
                        <a:rPr lang="en-US" sz="1300" dirty="0">
                          <a:solidFill>
                            <a:srgbClr val="14202A"/>
                          </a:solidFill>
                          <a:latin typeface="Arial" pitchFamily="34" charset="0"/>
                          <a:ea typeface="Arial" pitchFamily="34" charset="-122"/>
                          <a:cs typeface="Arial" pitchFamily="34" charset="-120"/>
                        </a:rPr>
                        <a:t>T46</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c>
                  <a:txBody>
                    <a:bodyPr/>
                    <a:lstStyle/>
                    <a:p>
                      <a:pPr indent="0" marL="0">
                        <a:buNone/>
                      </a:pPr>
                      <a:r>
                        <a:rPr lang="en-US" sz="1300" dirty="0">
                          <a:solidFill>
                            <a:srgbClr val="52616C"/>
                          </a:solidFill>
                          <a:latin typeface="Arial" pitchFamily="34" charset="0"/>
                          <a:ea typeface="Arial" pitchFamily="34" charset="-122"/>
                          <a:cs typeface="Arial" pitchFamily="34" charset="-120"/>
                        </a:rPr>
                        <a:t>conserver</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c>
                  <a:txBody>
                    <a:bodyPr/>
                    <a:lstStyle/>
                    <a:p>
                      <a:pPr algn="r" indent="0" marL="0">
                        <a:buNone/>
                      </a:pPr>
                      <a:r>
                        <a:rPr lang="en-US" sz="1300" dirty="0">
                          <a:solidFill>
                            <a:srgbClr val="14202A"/>
                          </a:solidFill>
                          <a:latin typeface="Arial" pitchFamily="34" charset="0"/>
                          <a:ea typeface="Arial" pitchFamily="34" charset="-122"/>
                          <a:cs typeface="Arial" pitchFamily="34" charset="-120"/>
                        </a:rPr>
                        <a:t>2 108</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c>
                  <a:txBody>
                    <a:bodyPr/>
                    <a:lstStyle/>
                    <a:p>
                      <a:pPr algn="r" indent="0" marL="0">
                        <a:buNone/>
                      </a:pPr>
                      <a:r>
                        <a:rPr lang="en-US" sz="1300" dirty="0">
                          <a:solidFill>
                            <a:srgbClr val="14202A"/>
                          </a:solidFill>
                          <a:latin typeface="Arial" pitchFamily="34" charset="0"/>
                          <a:ea typeface="Arial" pitchFamily="34" charset="-122"/>
                          <a:cs typeface="Arial" pitchFamily="34" charset="-120"/>
                        </a:rPr>
                        <a:t>27,69</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c>
                  <a:txBody>
                    <a:bodyPr/>
                    <a:lstStyle/>
                    <a:p>
                      <a:pPr algn="r" indent="0" marL="0">
                        <a:buNone/>
                      </a:pPr>
                      <a:r>
                        <a:rPr lang="en-US" sz="1300" dirty="0">
                          <a:solidFill>
                            <a:srgbClr val="14202A"/>
                          </a:solidFill>
                          <a:latin typeface="Arial" pitchFamily="34" charset="0"/>
                          <a:ea typeface="Arial" pitchFamily="34" charset="-122"/>
                          <a:cs typeface="Arial" pitchFamily="34" charset="-120"/>
                        </a:rPr>
                        <a:t>16,1 %</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r>
              <a:tr h="420624">
                <a:tc>
                  <a:txBody>
                    <a:bodyPr/>
                    <a:lstStyle/>
                    <a:p>
                      <a:pPr indent="0" marL="0">
                        <a:buNone/>
                      </a:pPr>
                      <a:r>
                        <a:rPr lang="en-US" sz="1300" dirty="0">
                          <a:solidFill>
                            <a:srgbClr val="14202A"/>
                          </a:solidFill>
                          <a:latin typeface="Arial" pitchFamily="34" charset="0"/>
                          <a:ea typeface="Arial" pitchFamily="34" charset="-122"/>
                          <a:cs typeface="Arial" pitchFamily="34" charset="-120"/>
                        </a:rPr>
                        <a:t>T10</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c>
                  <a:txBody>
                    <a:bodyPr/>
                    <a:lstStyle/>
                    <a:p>
                      <a:pPr indent="0" marL="0">
                        <a:buNone/>
                      </a:pPr>
                      <a:r>
                        <a:rPr lang="en-US" sz="1300" dirty="0">
                          <a:solidFill>
                            <a:srgbClr val="52616C"/>
                          </a:solidFill>
                          <a:latin typeface="Arial" pitchFamily="34" charset="0"/>
                          <a:ea typeface="Arial" pitchFamily="34" charset="-122"/>
                          <a:cs typeface="Arial" pitchFamily="34" charset="-120"/>
                        </a:rPr>
                        <a:t>conserver</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c>
                  <a:txBody>
                    <a:bodyPr/>
                    <a:lstStyle/>
                    <a:p>
                      <a:pPr algn="r" indent="0" marL="0">
                        <a:buNone/>
                      </a:pPr>
                      <a:r>
                        <a:rPr lang="en-US" sz="1300" dirty="0">
                          <a:solidFill>
                            <a:srgbClr val="14202A"/>
                          </a:solidFill>
                          <a:latin typeface="Arial" pitchFamily="34" charset="0"/>
                          <a:ea typeface="Arial" pitchFamily="34" charset="-122"/>
                          <a:cs typeface="Arial" pitchFamily="34" charset="-120"/>
                        </a:rPr>
                        <a:t>2 507</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c>
                  <a:txBody>
                    <a:bodyPr/>
                    <a:lstStyle/>
                    <a:p>
                      <a:pPr algn="r" indent="0" marL="0">
                        <a:buNone/>
                      </a:pPr>
                      <a:r>
                        <a:rPr lang="en-US" sz="1300" dirty="0">
                          <a:solidFill>
                            <a:srgbClr val="14202A"/>
                          </a:solidFill>
                          <a:latin typeface="Arial" pitchFamily="34" charset="0"/>
                          <a:ea typeface="Arial" pitchFamily="34" charset="-122"/>
                          <a:cs typeface="Arial" pitchFamily="34" charset="-120"/>
                        </a:rPr>
                        <a:t>24,95</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c>
                  <a:txBody>
                    <a:bodyPr/>
                    <a:lstStyle/>
                    <a:p>
                      <a:pPr algn="r" indent="0" marL="0">
                        <a:buNone/>
                      </a:pPr>
                      <a:r>
                        <a:rPr lang="en-US" sz="1300" dirty="0">
                          <a:solidFill>
                            <a:srgbClr val="14202A"/>
                          </a:solidFill>
                          <a:latin typeface="Arial" pitchFamily="34" charset="0"/>
                          <a:ea typeface="Arial" pitchFamily="34" charset="-122"/>
                          <a:cs typeface="Arial" pitchFamily="34" charset="-120"/>
                        </a:rPr>
                        <a:t>7,5 %</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r>
              <a:tr h="420624">
                <a:tc>
                  <a:txBody>
                    <a:bodyPr/>
                    <a:lstStyle/>
                    <a:p>
                      <a:pPr indent="0" marL="0">
                        <a:buNone/>
                      </a:pPr>
                      <a:r>
                        <a:rPr lang="en-US" sz="1300" dirty="0">
                          <a:solidFill>
                            <a:srgbClr val="14202A"/>
                          </a:solidFill>
                          <a:latin typeface="Arial" pitchFamily="34" charset="0"/>
                          <a:ea typeface="Arial" pitchFamily="34" charset="-122"/>
                          <a:cs typeface="Arial" pitchFamily="34" charset="-120"/>
                        </a:rPr>
                        <a:t>T13</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2E2CC"/>
                    </a:solidFill>
                  </a:tcPr>
                </a:tc>
                <a:tc>
                  <a:txBody>
                    <a:bodyPr/>
                    <a:lstStyle/>
                    <a:p>
                      <a:pPr indent="0" marL="0">
                        <a:buNone/>
                      </a:pPr>
                      <a:r>
                        <a:rPr lang="en-US" sz="1300" b="1" dirty="0">
                          <a:solidFill>
                            <a:srgbClr val="A35F12"/>
                          </a:solidFill>
                          <a:latin typeface="Arial" pitchFamily="34" charset="0"/>
                          <a:ea typeface="Arial" pitchFamily="34" charset="-122"/>
                          <a:cs typeface="Arial" pitchFamily="34" charset="-120"/>
                        </a:rPr>
                        <a:t>surveiller</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2E2CC"/>
                    </a:solidFill>
                  </a:tcPr>
                </a:tc>
                <a:tc>
                  <a:txBody>
                    <a:bodyPr/>
                    <a:lstStyle/>
                    <a:p>
                      <a:pPr algn="r" indent="0" marL="0">
                        <a:buNone/>
                      </a:pPr>
                      <a:r>
                        <a:rPr lang="en-US" sz="1300" dirty="0">
                          <a:solidFill>
                            <a:srgbClr val="14202A"/>
                          </a:solidFill>
                          <a:latin typeface="Arial" pitchFamily="34" charset="0"/>
                          <a:ea typeface="Arial" pitchFamily="34" charset="-122"/>
                          <a:cs typeface="Arial" pitchFamily="34" charset="-120"/>
                        </a:rPr>
                        <a:t>1 601</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2E2CC"/>
                    </a:solidFill>
                  </a:tcPr>
                </a:tc>
                <a:tc>
                  <a:txBody>
                    <a:bodyPr/>
                    <a:lstStyle/>
                    <a:p>
                      <a:pPr algn="r" indent="0" marL="0">
                        <a:buNone/>
                      </a:pPr>
                      <a:r>
                        <a:rPr lang="en-US" sz="1300" dirty="0">
                          <a:solidFill>
                            <a:srgbClr val="14202A"/>
                          </a:solidFill>
                          <a:latin typeface="Arial" pitchFamily="34" charset="0"/>
                          <a:ea typeface="Arial" pitchFamily="34" charset="-122"/>
                          <a:cs typeface="Arial" pitchFamily="34" charset="-120"/>
                        </a:rPr>
                        <a:t>83,56</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2E2CC"/>
                    </a:solidFill>
                  </a:tcPr>
                </a:tc>
                <a:tc>
                  <a:txBody>
                    <a:bodyPr/>
                    <a:lstStyle/>
                    <a:p>
                      <a:pPr algn="r" indent="0" marL="0">
                        <a:buNone/>
                      </a:pPr>
                      <a:r>
                        <a:rPr lang="en-US" sz="1300" b="1" dirty="0">
                          <a:solidFill>
                            <a:srgbClr val="A35F12"/>
                          </a:solidFill>
                          <a:latin typeface="Arial" pitchFamily="34" charset="0"/>
                          <a:ea typeface="Arial" pitchFamily="34" charset="-122"/>
                          <a:cs typeface="Arial" pitchFamily="34" charset="-120"/>
                        </a:rPr>
                        <a:t>2,2 %</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2E2CC"/>
                    </a:solidFill>
                  </a:tcPr>
                </a:tc>
              </a:tr>
              <a:tr h="420624">
                <a:tc>
                  <a:txBody>
                    <a:bodyPr/>
                    <a:lstStyle/>
                    <a:p>
                      <a:pPr indent="0" marL="0">
                        <a:buNone/>
                      </a:pPr>
                      <a:r>
                        <a:rPr lang="en-US" sz="1300" dirty="0">
                          <a:solidFill>
                            <a:srgbClr val="14202A"/>
                          </a:solidFill>
                          <a:latin typeface="Arial" pitchFamily="34" charset="0"/>
                          <a:ea typeface="Arial" pitchFamily="34" charset="-122"/>
                          <a:cs typeface="Arial" pitchFamily="34" charset="-120"/>
                        </a:rPr>
                        <a:t>T01</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c>
                  <a:txBody>
                    <a:bodyPr/>
                    <a:lstStyle/>
                    <a:p>
                      <a:pPr indent="0" marL="0">
                        <a:buNone/>
                      </a:pPr>
                      <a:r>
                        <a:rPr lang="en-US" sz="1300" dirty="0">
                          <a:solidFill>
                            <a:srgbClr val="52616C"/>
                          </a:solidFill>
                          <a:latin typeface="Arial" pitchFamily="34" charset="0"/>
                          <a:ea typeface="Arial" pitchFamily="34" charset="-122"/>
                          <a:cs typeface="Arial" pitchFamily="34" charset="-120"/>
                        </a:rPr>
                        <a:t>conserver</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c>
                  <a:txBody>
                    <a:bodyPr/>
                    <a:lstStyle/>
                    <a:p>
                      <a:pPr algn="r" indent="0" marL="0">
                        <a:buNone/>
                      </a:pPr>
                      <a:r>
                        <a:rPr lang="en-US" sz="1300" dirty="0">
                          <a:solidFill>
                            <a:srgbClr val="14202A"/>
                          </a:solidFill>
                          <a:latin typeface="Arial" pitchFamily="34" charset="0"/>
                          <a:ea typeface="Arial" pitchFamily="34" charset="-122"/>
                          <a:cs typeface="Arial" pitchFamily="34" charset="-120"/>
                        </a:rPr>
                        <a:t>1 891</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c>
                  <a:txBody>
                    <a:bodyPr/>
                    <a:lstStyle/>
                    <a:p>
                      <a:pPr algn="r" indent="0" marL="0">
                        <a:buNone/>
                      </a:pPr>
                      <a:r>
                        <a:rPr lang="en-US" sz="1300" dirty="0">
                          <a:solidFill>
                            <a:srgbClr val="14202A"/>
                          </a:solidFill>
                          <a:latin typeface="Arial" pitchFamily="34" charset="0"/>
                          <a:ea typeface="Arial" pitchFamily="34" charset="-122"/>
                          <a:cs typeface="Arial" pitchFamily="34" charset="-120"/>
                        </a:rPr>
                        <a:t>14,43</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c>
                  <a:txBody>
                    <a:bodyPr/>
                    <a:lstStyle/>
                    <a:p>
                      <a:pPr algn="r" indent="0" marL="0">
                        <a:buNone/>
                      </a:pPr>
                      <a:r>
                        <a:rPr lang="en-US" sz="1300" dirty="0">
                          <a:solidFill>
                            <a:srgbClr val="14202A"/>
                          </a:solidFill>
                          <a:latin typeface="Arial" pitchFamily="34" charset="0"/>
                          <a:ea typeface="Arial" pitchFamily="34" charset="-122"/>
                          <a:cs typeface="Arial" pitchFamily="34" charset="-120"/>
                        </a:rPr>
                        <a:t>10,2 %</a:t>
                      </a:r>
                      <a:endParaRPr lang="en-US" sz="1300" dirty="0">
                        <a:latin typeface="Arial" charset="0"/>
                        <a:ea typeface="Arial" charset="0"/>
                        <a:cs typeface="Arial" charset="0"/>
                      </a:endParaRPr>
                    </a:p>
                  </a:txBody>
                  <a:tcPr marL="91440" marR="91440" marT="45720" marB="45720">
                    <a:lnL w="9525" cap="flat" cmpd="sng" algn="ctr">
                      <a:solidFill>
                        <a:srgbClr val="C6CFCB"/>
                      </a:solidFill>
                      <a:prstDash val="solid"/>
                      <a:round/>
                      <a:headEnd type="none" w="med" len="med"/>
                      <a:tailEnd type="none" w="med" len="med"/>
                    </a:lnL>
                    <a:lnR w="9525" cap="flat" cmpd="sng" algn="ctr">
                      <a:solidFill>
                        <a:srgbClr val="C6CFCB"/>
                      </a:solidFill>
                      <a:prstDash val="solid"/>
                      <a:round/>
                      <a:headEnd type="none" w="med" len="med"/>
                      <a:tailEnd type="none" w="med" len="med"/>
                    </a:lnR>
                    <a:lnT w="9525" cap="flat" cmpd="sng" algn="ctr">
                      <a:solidFill>
                        <a:srgbClr val="C6CFCB"/>
                      </a:solidFill>
                      <a:prstDash val="solid"/>
                      <a:round/>
                      <a:headEnd type="none" w="med" len="med"/>
                      <a:tailEnd type="none" w="med" len="med"/>
                    </a:lnT>
                    <a:lnB w="9525" cap="flat" cmpd="sng" algn="ctr">
                      <a:solidFill>
                        <a:srgbClr val="C6CFCB"/>
                      </a:solidFill>
                      <a:prstDash val="solid"/>
                      <a:round/>
                      <a:headEnd type="none" w="med" len="med"/>
                      <a:tailEnd type="none" w="med" len="med"/>
                    </a:lnB>
                    <a:solidFill>
                      <a:srgbClr val="F7F9F8"/>
                    </a:solidFill>
                  </a:tcPr>
                </a:tc>
              </a:tr>
            </a:tbl>
          </a:graphicData>
        </a:graphic>
      </p:graphicFrame>
      <p:sp>
        <p:nvSpPr>
          <p:cNvPr id="20" name="Text 17"/>
          <p:cNvSpPr txBox="1"/>
          <p:nvPr/>
        </p:nvSpPr>
        <p:spPr>
          <a:xfrm>
            <a:off x="548640" y="4343400"/>
            <a:ext cx="6217920" cy="320040"/>
          </a:xfrm>
          <a:prstGeom prst="rect">
            <a:avLst/>
          </a:prstGeom>
          <a:noFill/>
          <a:ln/>
        </p:spPr>
        <p:txBody>
          <a:bodyPr wrap="square" lIns="0" tIns="0" rIns="0" bIns="0" rtlCol="0" anchor="t"/>
          <a:lstStyle/>
          <a:p>
            <a:pPr indent="0" marL="0">
              <a:buNone/>
            </a:pPr>
            <a:r>
              <a:rPr lang="en-US" sz="1100" dirty="0">
                <a:solidFill>
                  <a:srgbClr val="52616C"/>
                </a:solidFill>
                <a:latin typeface="Arial" pitchFamily="34" charset="0"/>
                <a:ea typeface="Arial" pitchFamily="34" charset="-122"/>
                <a:cs typeface="Arial" pitchFamily="34" charset="-120"/>
              </a:rPr>
              <a:t>Sortie réelle du script, sur données synthétiques.</a:t>
            </a:r>
            <a:endParaRPr lang="en-US" sz="1100" dirty="0"/>
          </a:p>
        </p:txBody>
      </p:sp>
      <p:sp>
        <p:nvSpPr>
          <p:cNvPr id="21" name="Text 18"/>
          <p:cNvSpPr txBox="1"/>
          <p:nvPr/>
        </p:nvSpPr>
        <p:spPr>
          <a:xfrm>
            <a:off x="7178040" y="2103120"/>
            <a:ext cx="4462272" cy="4114800"/>
          </a:xfrm>
          <a:prstGeom prst="rect">
            <a:avLst/>
          </a:prstGeom>
          <a:noFill/>
          <a:ln/>
        </p:spPr>
        <p:txBody>
          <a:bodyPr wrap="square" lIns="0" tIns="0" rIns="0" bIns="0" rtlCol="0" anchor="t"/>
          <a:lstStyle/>
          <a:p>
            <a:pPr indent="0" marL="0">
              <a:lnSpc>
                <a:spcPct val="112000"/>
              </a:lnSpc>
              <a:buNone/>
            </a:pPr>
            <a:r>
              <a:rPr lang="en-US" sz="1400" b="1" dirty="0">
                <a:solidFill>
                  <a:srgbClr val="14202A"/>
                </a:solidFill>
                <a:latin typeface="Arial" pitchFamily="34" charset="0"/>
                <a:ea typeface="Arial" pitchFamily="34" charset="-122"/>
                <a:cs typeface="Arial" pitchFamily="34" charset="-120"/>
              </a:rPr>
              <a:t>Rejeu depuis l'ouverture du portefeuille : </a:t>
            </a:r>
            <a:pPr indent="0" marL="0">
              <a:lnSpc>
                <a:spcPct val="112000"/>
              </a:lnSpc>
              <a:spcAft>
                <a:spcPts val="900"/>
              </a:spcAft>
              <a:buNone/>
            </a:pPr>
            <a:r>
              <a:rPr lang="en-US" sz="1400" dirty="0">
                <a:solidFill>
                  <a:srgbClr val="14202A"/>
                </a:solidFill>
                <a:latin typeface="Arial" pitchFamily="34" charset="0"/>
                <a:ea typeface="Arial" pitchFamily="34" charset="-122"/>
                <a:cs typeface="Arial" pitchFamily="34" charset="-120"/>
              </a:rPr>
              <a:t>savoir quoi acheter exige de savoir ce qu'on détient, le cash et les stops en cours.</a:t>
            </a:r>
            <a:endParaRPr lang="en-US" sz="1400" dirty="0"/>
          </a:p>
          <a:p>
            <a:pPr indent="0" marL="0">
              <a:lnSpc>
                <a:spcPct val="112000"/>
              </a:lnSpc>
              <a:buNone/>
            </a:pPr>
            <a:r>
              <a:rPr lang="en-US" sz="1400" b="1" dirty="0">
                <a:solidFill>
                  <a:srgbClr val="14202A"/>
                </a:solidFill>
                <a:latin typeface="Arial" pitchFamily="34" charset="0"/>
                <a:ea typeface="Arial" pitchFamily="34" charset="-122"/>
                <a:cs typeface="Arial" pitchFamily="34" charset="-120"/>
              </a:rPr>
              <a:t>Trois modes : </a:t>
            </a:r>
            <a:pPr indent="0" marL="0">
              <a:lnSpc>
                <a:spcPct val="112000"/>
              </a:lnSpc>
              <a:spcAft>
                <a:spcPts val="900"/>
              </a:spcAft>
              <a:buNone/>
            </a:pPr>
            <a:r>
              <a:rPr lang="en-US" sz="1400" dirty="0">
                <a:solidFill>
                  <a:srgbClr val="14202A"/>
                </a:solidFill>
                <a:latin typeface="Arial" pitchFamily="34" charset="0"/>
                <a:ea typeface="Arial" pitchFamily="34" charset="-122"/>
                <a:cs typeface="Arial" pitchFamily="34" charset="-120"/>
              </a:rPr>
              <a:t>panier manuel, protocole complet, ou panier selon le régime du jour.</a:t>
            </a:r>
            <a:endParaRPr lang="en-US" sz="1400" dirty="0"/>
          </a:p>
          <a:p>
            <a:pPr indent="0" marL="0">
              <a:lnSpc>
                <a:spcPct val="112000"/>
              </a:lnSpc>
              <a:buNone/>
            </a:pPr>
            <a:r>
              <a:rPr lang="en-US" sz="1400" b="1" dirty="0">
                <a:solidFill>
                  <a:srgbClr val="14202A"/>
                </a:solidFill>
                <a:latin typeface="Arial" pitchFamily="34" charset="0"/>
                <a:ea typeface="Arial" pitchFamily="34" charset="-122"/>
                <a:cs typeface="Arial" pitchFamily="34" charset="-120"/>
              </a:rPr>
              <a:t>Ordres en montant, </a:t>
            </a:r>
            <a:pPr indent="0" marL="0">
              <a:lnSpc>
                <a:spcPct val="112000"/>
              </a:lnSpc>
              <a:spcAft>
                <a:spcPts val="900"/>
              </a:spcAft>
              <a:buNone/>
            </a:pPr>
            <a:r>
              <a:rPr lang="en-US" sz="1400" dirty="0">
                <a:solidFill>
                  <a:srgbClr val="14202A"/>
                </a:solidFill>
                <a:latin typeface="Arial" pitchFamily="34" charset="0"/>
                <a:ea typeface="Arial" pitchFamily="34" charset="-122"/>
                <a:cs typeface="Arial" pitchFamily="34" charset="-120"/>
              </a:rPr>
              <a:t>quantités et stops recalculés sur le prix d'exécution réel.</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DF0EE"/>
        </a:solidFill>
      </p:bgPr>
    </p:bg>
    <p:spTree>
      <p:nvGrpSpPr>
        <p:cNvPr id="1" name=""/>
        <p:cNvGrpSpPr/>
        <p:nvPr/>
      </p:nvGrpSpPr>
      <p:grpSpPr>
        <a:xfrm>
          <a:off x="0" y="0"/>
          <a:ext cx="0" cy="0"/>
          <a:chOff x="0" y="0"/>
          <a:chExt cx="0" cy="0"/>
        </a:xfrm>
      </p:grpSpPr>
      <p:sp>
        <p:nvSpPr>
          <p:cNvPr id="2" name="Shape 0"/>
          <p:cNvSpPr/>
          <p:nvPr/>
        </p:nvSpPr>
        <p:spPr>
          <a:xfrm>
            <a:off x="548640" y="292608"/>
            <a:ext cx="1322451" cy="45720"/>
          </a:xfrm>
          <a:prstGeom prst="rect">
            <a:avLst/>
          </a:prstGeom>
          <a:solidFill>
            <a:srgbClr val="C6CFCB"/>
          </a:solidFill>
          <a:ln w="12700">
            <a:solidFill>
              <a:srgbClr val="C6CFCB"/>
            </a:solidFill>
            <a:prstDash val="solid"/>
          </a:ln>
        </p:spPr>
      </p:sp>
      <p:sp>
        <p:nvSpPr>
          <p:cNvPr id="3" name="Text 1"/>
          <p:cNvSpPr txBox="1"/>
          <p:nvPr/>
        </p:nvSpPr>
        <p:spPr>
          <a:xfrm>
            <a:off x="548640"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1  </a:t>
            </a:r>
            <a:pPr indent="0" marL="0">
              <a:buNone/>
            </a:pPr>
            <a:r>
              <a:rPr lang="en-US" sz="1000" dirty="0">
                <a:solidFill>
                  <a:srgbClr val="52616C"/>
                </a:solidFill>
                <a:latin typeface="Arial" pitchFamily="34" charset="0"/>
                <a:ea typeface="Arial" pitchFamily="34" charset="-122"/>
                <a:cs typeface="Arial" pitchFamily="34" charset="-120"/>
              </a:rPr>
              <a:t>Données</a:t>
            </a:r>
            <a:endParaRPr lang="en-US" sz="1000" dirty="0"/>
          </a:p>
        </p:txBody>
      </p:sp>
      <p:sp>
        <p:nvSpPr>
          <p:cNvPr id="4" name="Shape 2"/>
          <p:cNvSpPr/>
          <p:nvPr/>
        </p:nvSpPr>
        <p:spPr>
          <a:xfrm>
            <a:off x="1944243" y="292608"/>
            <a:ext cx="1322451" cy="45720"/>
          </a:xfrm>
          <a:prstGeom prst="rect">
            <a:avLst/>
          </a:prstGeom>
          <a:solidFill>
            <a:srgbClr val="C6CFCB"/>
          </a:solidFill>
          <a:ln w="12700">
            <a:solidFill>
              <a:srgbClr val="C6CFCB"/>
            </a:solidFill>
            <a:prstDash val="solid"/>
          </a:ln>
        </p:spPr>
      </p:sp>
      <p:sp>
        <p:nvSpPr>
          <p:cNvPr id="5" name="Text 3"/>
          <p:cNvSpPr txBox="1"/>
          <p:nvPr/>
        </p:nvSpPr>
        <p:spPr>
          <a:xfrm>
            <a:off x="1944243"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2  </a:t>
            </a:r>
            <a:pPr indent="0" marL="0">
              <a:buNone/>
            </a:pPr>
            <a:r>
              <a:rPr lang="en-US" sz="1000" dirty="0">
                <a:solidFill>
                  <a:srgbClr val="52616C"/>
                </a:solidFill>
                <a:latin typeface="Arial" pitchFamily="34" charset="0"/>
                <a:ea typeface="Arial" pitchFamily="34" charset="-122"/>
                <a:cs typeface="Arial" pitchFamily="34" charset="-120"/>
              </a:rPr>
              <a:t>Indicateurs</a:t>
            </a:r>
            <a:endParaRPr lang="en-US" sz="1000" dirty="0"/>
          </a:p>
        </p:txBody>
      </p:sp>
      <p:sp>
        <p:nvSpPr>
          <p:cNvPr id="6" name="Shape 4"/>
          <p:cNvSpPr/>
          <p:nvPr/>
        </p:nvSpPr>
        <p:spPr>
          <a:xfrm>
            <a:off x="3339846" y="292608"/>
            <a:ext cx="1322451" cy="45720"/>
          </a:xfrm>
          <a:prstGeom prst="rect">
            <a:avLst/>
          </a:prstGeom>
          <a:solidFill>
            <a:srgbClr val="C6CFCB"/>
          </a:solidFill>
          <a:ln w="12700">
            <a:solidFill>
              <a:srgbClr val="C6CFCB"/>
            </a:solidFill>
            <a:prstDash val="solid"/>
          </a:ln>
        </p:spPr>
      </p:sp>
      <p:sp>
        <p:nvSpPr>
          <p:cNvPr id="7" name="Text 5"/>
          <p:cNvSpPr txBox="1"/>
          <p:nvPr/>
        </p:nvSpPr>
        <p:spPr>
          <a:xfrm>
            <a:off x="3339846"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3  </a:t>
            </a:r>
            <a:pPr indent="0" marL="0">
              <a:buNone/>
            </a:pPr>
            <a:r>
              <a:rPr lang="en-US" sz="1000" dirty="0">
                <a:solidFill>
                  <a:srgbClr val="52616C"/>
                </a:solidFill>
                <a:latin typeface="Arial" pitchFamily="34" charset="0"/>
                <a:ea typeface="Arial" pitchFamily="34" charset="-122"/>
                <a:cs typeface="Arial" pitchFamily="34" charset="-120"/>
              </a:rPr>
              <a:t>Paniers</a:t>
            </a:r>
            <a:endParaRPr lang="en-US" sz="1000" dirty="0"/>
          </a:p>
        </p:txBody>
      </p:sp>
      <p:sp>
        <p:nvSpPr>
          <p:cNvPr id="8" name="Shape 6"/>
          <p:cNvSpPr/>
          <p:nvPr/>
        </p:nvSpPr>
        <p:spPr>
          <a:xfrm>
            <a:off x="4735449" y="292608"/>
            <a:ext cx="1322451" cy="45720"/>
          </a:xfrm>
          <a:prstGeom prst="rect">
            <a:avLst/>
          </a:prstGeom>
          <a:solidFill>
            <a:srgbClr val="C6CFCB"/>
          </a:solidFill>
          <a:ln w="12700">
            <a:solidFill>
              <a:srgbClr val="C6CFCB"/>
            </a:solidFill>
            <a:prstDash val="solid"/>
          </a:ln>
        </p:spPr>
      </p:sp>
      <p:sp>
        <p:nvSpPr>
          <p:cNvPr id="9" name="Text 7"/>
          <p:cNvSpPr txBox="1"/>
          <p:nvPr/>
        </p:nvSpPr>
        <p:spPr>
          <a:xfrm>
            <a:off x="4735449"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4  </a:t>
            </a:r>
            <a:pPr indent="0" marL="0">
              <a:buNone/>
            </a:pPr>
            <a:r>
              <a:rPr lang="en-US" sz="1000" dirty="0">
                <a:solidFill>
                  <a:srgbClr val="52616C"/>
                </a:solidFill>
                <a:latin typeface="Arial" pitchFamily="34" charset="0"/>
                <a:ea typeface="Arial" pitchFamily="34" charset="-122"/>
                <a:cs typeface="Arial" pitchFamily="34" charset="-120"/>
              </a:rPr>
              <a:t>Bootstrap</a:t>
            </a:r>
            <a:endParaRPr lang="en-US" sz="1000" dirty="0"/>
          </a:p>
        </p:txBody>
      </p:sp>
      <p:sp>
        <p:nvSpPr>
          <p:cNvPr id="10" name="Shape 8"/>
          <p:cNvSpPr/>
          <p:nvPr/>
        </p:nvSpPr>
        <p:spPr>
          <a:xfrm>
            <a:off x="6131052" y="292608"/>
            <a:ext cx="1322451" cy="45720"/>
          </a:xfrm>
          <a:prstGeom prst="rect">
            <a:avLst/>
          </a:prstGeom>
          <a:solidFill>
            <a:srgbClr val="C6CFCB"/>
          </a:solidFill>
          <a:ln w="12700">
            <a:solidFill>
              <a:srgbClr val="C6CFCB"/>
            </a:solidFill>
            <a:prstDash val="solid"/>
          </a:ln>
        </p:spPr>
      </p:sp>
      <p:sp>
        <p:nvSpPr>
          <p:cNvPr id="11" name="Text 9"/>
          <p:cNvSpPr txBox="1"/>
          <p:nvPr/>
        </p:nvSpPr>
        <p:spPr>
          <a:xfrm>
            <a:off x="6131052"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5  </a:t>
            </a:r>
            <a:pPr indent="0" marL="0">
              <a:buNone/>
            </a:pPr>
            <a:r>
              <a:rPr lang="en-US" sz="1000" dirty="0">
                <a:solidFill>
                  <a:srgbClr val="52616C"/>
                </a:solidFill>
                <a:latin typeface="Arial" pitchFamily="34" charset="0"/>
                <a:ea typeface="Arial" pitchFamily="34" charset="-122"/>
                <a:cs typeface="Arial" pitchFamily="34" charset="-120"/>
              </a:rPr>
              <a:t>Sélection</a:t>
            </a:r>
            <a:endParaRPr lang="en-US" sz="1000" dirty="0"/>
          </a:p>
        </p:txBody>
      </p:sp>
      <p:sp>
        <p:nvSpPr>
          <p:cNvPr id="12" name="Shape 10"/>
          <p:cNvSpPr/>
          <p:nvPr/>
        </p:nvSpPr>
        <p:spPr>
          <a:xfrm>
            <a:off x="7526655" y="292608"/>
            <a:ext cx="1322451" cy="45720"/>
          </a:xfrm>
          <a:prstGeom prst="rect">
            <a:avLst/>
          </a:prstGeom>
          <a:solidFill>
            <a:srgbClr val="C6CFCB"/>
          </a:solidFill>
          <a:ln w="12700">
            <a:solidFill>
              <a:srgbClr val="C6CFCB"/>
            </a:solidFill>
            <a:prstDash val="solid"/>
          </a:ln>
        </p:spPr>
      </p:sp>
      <p:sp>
        <p:nvSpPr>
          <p:cNvPr id="13" name="Text 11"/>
          <p:cNvSpPr txBox="1"/>
          <p:nvPr/>
        </p:nvSpPr>
        <p:spPr>
          <a:xfrm>
            <a:off x="7526655"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6  </a:t>
            </a:r>
            <a:pPr indent="0" marL="0">
              <a:buNone/>
            </a:pPr>
            <a:r>
              <a:rPr lang="en-US" sz="1000" dirty="0">
                <a:solidFill>
                  <a:srgbClr val="52616C"/>
                </a:solidFill>
                <a:latin typeface="Arial" pitchFamily="34" charset="0"/>
                <a:ea typeface="Arial" pitchFamily="34" charset="-122"/>
                <a:cs typeface="Arial" pitchFamily="34" charset="-120"/>
              </a:rPr>
              <a:t>Fusion</a:t>
            </a:r>
            <a:endParaRPr lang="en-US" sz="1000" dirty="0"/>
          </a:p>
        </p:txBody>
      </p:sp>
      <p:sp>
        <p:nvSpPr>
          <p:cNvPr id="14" name="Shape 12"/>
          <p:cNvSpPr/>
          <p:nvPr/>
        </p:nvSpPr>
        <p:spPr>
          <a:xfrm>
            <a:off x="8922258" y="292608"/>
            <a:ext cx="1322451" cy="45720"/>
          </a:xfrm>
          <a:prstGeom prst="rect">
            <a:avLst/>
          </a:prstGeom>
          <a:solidFill>
            <a:srgbClr val="C6CFCB"/>
          </a:solidFill>
          <a:ln w="12700">
            <a:solidFill>
              <a:srgbClr val="C6CFCB"/>
            </a:solidFill>
            <a:prstDash val="solid"/>
          </a:ln>
        </p:spPr>
      </p:sp>
      <p:sp>
        <p:nvSpPr>
          <p:cNvPr id="15" name="Text 13"/>
          <p:cNvSpPr txBox="1"/>
          <p:nvPr/>
        </p:nvSpPr>
        <p:spPr>
          <a:xfrm>
            <a:off x="8922258"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7  </a:t>
            </a:r>
            <a:pPr indent="0" marL="0">
              <a:buNone/>
            </a:pPr>
            <a:r>
              <a:rPr lang="en-US" sz="1000" dirty="0">
                <a:solidFill>
                  <a:srgbClr val="52616C"/>
                </a:solidFill>
                <a:latin typeface="Arial" pitchFamily="34" charset="0"/>
                <a:ea typeface="Arial" pitchFamily="34" charset="-122"/>
                <a:cs typeface="Arial" pitchFamily="34" charset="-120"/>
              </a:rPr>
              <a:t>Validation</a:t>
            </a:r>
            <a:endParaRPr lang="en-US" sz="1000" dirty="0"/>
          </a:p>
        </p:txBody>
      </p:sp>
      <p:sp>
        <p:nvSpPr>
          <p:cNvPr id="16" name="Shape 14"/>
          <p:cNvSpPr/>
          <p:nvPr/>
        </p:nvSpPr>
        <p:spPr>
          <a:xfrm>
            <a:off x="10317861" y="292608"/>
            <a:ext cx="1322451" cy="45720"/>
          </a:xfrm>
          <a:prstGeom prst="rect">
            <a:avLst/>
          </a:prstGeom>
          <a:solidFill>
            <a:srgbClr val="C6CFCB"/>
          </a:solidFill>
          <a:ln w="12700">
            <a:solidFill>
              <a:srgbClr val="C6CFCB"/>
            </a:solidFill>
            <a:prstDash val="solid"/>
          </a:ln>
        </p:spPr>
      </p:sp>
      <p:sp>
        <p:nvSpPr>
          <p:cNvPr id="17" name="Text 15"/>
          <p:cNvSpPr txBox="1"/>
          <p:nvPr/>
        </p:nvSpPr>
        <p:spPr>
          <a:xfrm>
            <a:off x="10317861"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8  </a:t>
            </a:r>
            <a:pPr indent="0" marL="0">
              <a:buNone/>
            </a:pPr>
            <a:r>
              <a:rPr lang="en-US" sz="1000" dirty="0">
                <a:solidFill>
                  <a:srgbClr val="52616C"/>
                </a:solidFill>
                <a:latin typeface="Arial" pitchFamily="34" charset="0"/>
                <a:ea typeface="Arial" pitchFamily="34" charset="-122"/>
                <a:cs typeface="Arial" pitchFamily="34" charset="-120"/>
              </a:rPr>
              <a:t>Production</a:t>
            </a:r>
            <a:endParaRPr lang="en-US" sz="1000" dirty="0"/>
          </a:p>
        </p:txBody>
      </p:sp>
      <p:sp>
        <p:nvSpPr>
          <p:cNvPr id="18" name="Text 16"/>
          <p:cNvSpPr txBox="1"/>
          <p:nvPr/>
        </p:nvSpPr>
        <p:spPr>
          <a:xfrm>
            <a:off x="548640" y="914400"/>
            <a:ext cx="6035040" cy="1097280"/>
          </a:xfrm>
          <a:prstGeom prst="rect">
            <a:avLst/>
          </a:prstGeom>
          <a:noFill/>
          <a:ln/>
        </p:spPr>
        <p:txBody>
          <a:bodyPr wrap="square" lIns="0" tIns="0" rIns="0" bIns="0" rtlCol="0" anchor="t"/>
          <a:lstStyle/>
          <a:p>
            <a:pPr indent="0" marL="0">
              <a:buNone/>
            </a:pPr>
            <a:r>
              <a:rPr lang="en-US" sz="3200" b="1" dirty="0">
                <a:solidFill>
                  <a:srgbClr val="14202A"/>
                </a:solidFill>
                <a:latin typeface="Arial" pitchFamily="34" charset="0"/>
                <a:ea typeface="Arial" pitchFamily="34" charset="-122"/>
                <a:cs typeface="Arial" pitchFamily="34" charset="-120"/>
              </a:rPr>
              <a:t>40 contrôles automatiques avant toute utilisation</a:t>
            </a:r>
            <a:endParaRPr lang="en-US" sz="3200" dirty="0"/>
          </a:p>
        </p:txBody>
      </p:sp>
      <p:sp>
        <p:nvSpPr>
          <p:cNvPr id="19" name="Text 17"/>
          <p:cNvSpPr txBox="1"/>
          <p:nvPr/>
        </p:nvSpPr>
        <p:spPr>
          <a:xfrm>
            <a:off x="548640" y="2148840"/>
            <a:ext cx="6035040" cy="4023360"/>
          </a:xfrm>
          <a:prstGeom prst="rect">
            <a:avLst/>
          </a:prstGeom>
          <a:noFill/>
          <a:ln/>
        </p:spPr>
        <p:txBody>
          <a:bodyPr wrap="square" lIns="0" tIns="0" rIns="0" bIns="0" rtlCol="0" anchor="t"/>
          <a:lstStyle/>
          <a:p>
            <a:pPr indent="0" marL="0">
              <a:lnSpc>
                <a:spcPct val="112000"/>
              </a:lnSpc>
              <a:buNone/>
            </a:pPr>
            <a:r>
              <a:rPr lang="en-US" sz="1500" b="1" dirty="0">
                <a:solidFill>
                  <a:srgbClr val="14202A"/>
                </a:solidFill>
                <a:latin typeface="Arial" pitchFamily="34" charset="0"/>
                <a:ea typeface="Arial" pitchFamily="34" charset="-122"/>
                <a:cs typeface="Arial" pitchFamily="34" charset="-120"/>
              </a:rPr>
              <a:t>Indicateurs : </a:t>
            </a:r>
            <a:pPr indent="0" marL="0">
              <a:lnSpc>
                <a:spcPct val="112000"/>
              </a:lnSpc>
              <a:spcAft>
                <a:spcPts val="900"/>
              </a:spcAft>
              <a:buNone/>
            </a:pPr>
            <a:r>
              <a:rPr lang="en-US" sz="1500" dirty="0">
                <a:solidFill>
                  <a:srgbClr val="14202A"/>
                </a:solidFill>
                <a:latin typeface="Arial" pitchFamily="34" charset="0"/>
                <a:ea typeface="Arial" pitchFamily="34" charset="-122"/>
                <a:cs typeface="Arial" pitchFamily="34" charset="-120"/>
              </a:rPr>
              <a:t>EMA identique à pandas, true range supérieur à l'amplitude simple, ADX borné.</a:t>
            </a:r>
            <a:endParaRPr lang="en-US" sz="1500" dirty="0"/>
          </a:p>
          <a:p>
            <a:pPr indent="0" marL="0">
              <a:lnSpc>
                <a:spcPct val="112000"/>
              </a:lnSpc>
              <a:buNone/>
            </a:pPr>
            <a:r>
              <a:rPr lang="en-US" sz="1500" b="1" dirty="0">
                <a:solidFill>
                  <a:srgbClr val="14202A"/>
                </a:solidFill>
                <a:latin typeface="Arial" pitchFamily="34" charset="0"/>
                <a:ea typeface="Arial" pitchFamily="34" charset="-122"/>
                <a:cs typeface="Arial" pitchFamily="34" charset="-120"/>
              </a:rPr>
              <a:t>Information Coefficient : </a:t>
            </a:r>
            <a:pPr indent="0" marL="0">
              <a:lnSpc>
                <a:spcPct val="112000"/>
              </a:lnSpc>
              <a:spcAft>
                <a:spcPts val="900"/>
              </a:spcAft>
              <a:buNone/>
            </a:pPr>
            <a:r>
              <a:rPr lang="en-US" sz="1500" dirty="0">
                <a:solidFill>
                  <a:srgbClr val="14202A"/>
                </a:solidFill>
                <a:latin typeface="Arial" pitchFamily="34" charset="0"/>
                <a:ea typeface="Arial" pitchFamily="34" charset="-122"/>
                <a:cs typeface="Arial" pitchFamily="34" charset="-120"/>
              </a:rPr>
              <a:t>oracle parfait = +1, oracle inversé = −1, bruit ≈ 0.</a:t>
            </a:r>
            <a:endParaRPr lang="en-US" sz="1500" dirty="0"/>
          </a:p>
          <a:p>
            <a:pPr indent="0" marL="0">
              <a:lnSpc>
                <a:spcPct val="112000"/>
              </a:lnSpc>
              <a:buNone/>
            </a:pPr>
            <a:r>
              <a:rPr lang="en-US" sz="1500" b="1" dirty="0">
                <a:solidFill>
                  <a:srgbClr val="14202A"/>
                </a:solidFill>
                <a:latin typeface="Arial" pitchFamily="34" charset="0"/>
                <a:ea typeface="Arial" pitchFamily="34" charset="-122"/>
                <a:cs typeface="Arial" pitchFamily="34" charset="-120"/>
              </a:rPr>
              <a:t>Comptabilité : </a:t>
            </a:r>
            <a:pPr indent="0" marL="0">
              <a:lnSpc>
                <a:spcPct val="112000"/>
              </a:lnSpc>
              <a:spcAft>
                <a:spcPts val="900"/>
              </a:spcAft>
              <a:buNone/>
            </a:pPr>
            <a:r>
              <a:rPr lang="en-US" sz="1500" dirty="0">
                <a:solidFill>
                  <a:srgbClr val="14202A"/>
                </a:solidFill>
                <a:latin typeface="Arial" pitchFamily="34" charset="0"/>
                <a:ea typeface="Arial" pitchFamily="34" charset="-122"/>
                <a:cs typeface="Arial" pitchFamily="34" charset="-120"/>
              </a:rPr>
              <a:t>P&amp;L net des frais, exécution à l'ouverture de J+1, jamais de levier.</a:t>
            </a:r>
            <a:endParaRPr lang="en-US" sz="1500" dirty="0"/>
          </a:p>
          <a:p>
            <a:pPr indent="0" marL="0">
              <a:lnSpc>
                <a:spcPct val="112000"/>
              </a:lnSpc>
              <a:buNone/>
            </a:pPr>
            <a:r>
              <a:rPr lang="en-US" sz="1500" b="1" dirty="0">
                <a:solidFill>
                  <a:srgbClr val="14202A"/>
                </a:solidFill>
                <a:latin typeface="Arial" pitchFamily="34" charset="0"/>
                <a:ea typeface="Arial" pitchFamily="34" charset="-122"/>
                <a:cs typeface="Arial" pitchFamily="34" charset="-120"/>
              </a:rPr>
              <a:t>Calendrier et quantités : </a:t>
            </a:r>
            <a:pPr indent="0" marL="0">
              <a:lnSpc>
                <a:spcPct val="112000"/>
              </a:lnSpc>
              <a:spcAft>
                <a:spcPts val="900"/>
              </a:spcAft>
              <a:buNone/>
            </a:pPr>
            <a:r>
              <a:rPr lang="en-US" sz="1500" dirty="0">
                <a:solidFill>
                  <a:srgbClr val="14202A"/>
                </a:solidFill>
                <a:latin typeface="Arial" pitchFamily="34" charset="0"/>
                <a:ea typeface="Arial" pitchFamily="34" charset="-122"/>
                <a:cs typeface="Arial" pitchFamily="34" charset="-120"/>
              </a:rPr>
              <a:t>pas de chute d'equity les jours fériés, arrondi toujours vers le bas.</a:t>
            </a:r>
            <a:endParaRPr lang="en-US" sz="1500" dirty="0"/>
          </a:p>
        </p:txBody>
      </p:sp>
      <p:sp>
        <p:nvSpPr>
          <p:cNvPr id="20" name="Shape 18"/>
          <p:cNvSpPr/>
          <p:nvPr/>
        </p:nvSpPr>
        <p:spPr>
          <a:xfrm>
            <a:off x="6949440" y="1737360"/>
            <a:ext cx="4690872" cy="4389120"/>
          </a:xfrm>
          <a:prstGeom prst="rect">
            <a:avLst/>
          </a:prstGeom>
          <a:solidFill>
            <a:srgbClr val="D2E8E1"/>
          </a:solidFill>
          <a:ln w="12700">
            <a:solidFill>
              <a:srgbClr val="D2E8E1"/>
            </a:solidFill>
            <a:prstDash val="solid"/>
          </a:ln>
        </p:spPr>
      </p:sp>
      <p:sp>
        <p:nvSpPr>
          <p:cNvPr id="21" name="Text 19"/>
          <p:cNvSpPr txBox="1"/>
          <p:nvPr/>
        </p:nvSpPr>
        <p:spPr>
          <a:xfrm>
            <a:off x="7269480" y="1965960"/>
            <a:ext cx="4050792" cy="365760"/>
          </a:xfrm>
          <a:prstGeom prst="rect">
            <a:avLst/>
          </a:prstGeom>
          <a:noFill/>
          <a:ln/>
        </p:spPr>
        <p:txBody>
          <a:bodyPr wrap="square" lIns="0" tIns="0" rIns="0" bIns="0" rtlCol="0" anchor="t"/>
          <a:lstStyle/>
          <a:p>
            <a:pPr indent="0" marL="0">
              <a:buNone/>
            </a:pPr>
            <a:r>
              <a:rPr lang="en-US" sz="1600" b="1" dirty="0">
                <a:solidFill>
                  <a:srgbClr val="0A7560"/>
                </a:solidFill>
                <a:latin typeface="Arial" pitchFamily="34" charset="0"/>
                <a:ea typeface="Arial" pitchFamily="34" charset="-122"/>
                <a:cs typeface="Arial" pitchFamily="34" charset="-120"/>
              </a:rPr>
              <a:t>Contrôle négatif</a:t>
            </a:r>
            <a:endParaRPr lang="en-US" sz="1600" dirty="0"/>
          </a:p>
        </p:txBody>
      </p:sp>
      <p:sp>
        <p:nvSpPr>
          <p:cNvPr id="22" name="Text 20"/>
          <p:cNvSpPr txBox="1"/>
          <p:nvPr/>
        </p:nvSpPr>
        <p:spPr>
          <a:xfrm>
            <a:off x="7269480" y="2423160"/>
            <a:ext cx="4050792" cy="1005840"/>
          </a:xfrm>
          <a:prstGeom prst="rect">
            <a:avLst/>
          </a:prstGeom>
          <a:noFill/>
          <a:ln/>
        </p:spPr>
        <p:txBody>
          <a:bodyPr wrap="square" lIns="0" tIns="0" rIns="0" bIns="0" rtlCol="0" anchor="t"/>
          <a:lstStyle/>
          <a:p>
            <a:pPr indent="0" marL="0">
              <a:buNone/>
            </a:pPr>
            <a:r>
              <a:rPr lang="en-US" sz="6000" b="1" dirty="0">
                <a:solidFill>
                  <a:srgbClr val="0A7560"/>
                </a:solidFill>
                <a:latin typeface="Arial" pitchFamily="34" charset="0"/>
                <a:ea typeface="Arial" pitchFamily="34" charset="-122"/>
                <a:cs typeface="Arial" pitchFamily="34" charset="-120"/>
              </a:rPr>
              <a:t>−3,87 %</a:t>
            </a:r>
            <a:endParaRPr lang="en-US" sz="6000" dirty="0"/>
          </a:p>
        </p:txBody>
      </p:sp>
      <p:sp>
        <p:nvSpPr>
          <p:cNvPr id="23" name="Text 21"/>
          <p:cNvSpPr txBox="1"/>
          <p:nvPr/>
        </p:nvSpPr>
        <p:spPr>
          <a:xfrm>
            <a:off x="7269480" y="3520440"/>
            <a:ext cx="4050792" cy="731520"/>
          </a:xfrm>
          <a:prstGeom prst="rect">
            <a:avLst/>
          </a:prstGeom>
          <a:noFill/>
          <a:ln/>
        </p:spPr>
        <p:txBody>
          <a:bodyPr wrap="square" lIns="0" tIns="0" rIns="0" bIns="0" rtlCol="0" anchor="t"/>
          <a:lstStyle/>
          <a:p>
            <a:pPr indent="0" marL="0">
              <a:buNone/>
            </a:pPr>
            <a:r>
              <a:rPr lang="en-US" sz="1400" dirty="0">
                <a:solidFill>
                  <a:srgbClr val="14202A"/>
                </a:solidFill>
                <a:latin typeface="Arial" pitchFamily="34" charset="0"/>
                <a:ea typeface="Arial" pitchFamily="34" charset="-122"/>
                <a:cs typeface="Arial" pitchFamily="34" charset="-120"/>
              </a:rPr>
              <a:t>d'alpha moyen contre le buy &amp; hold, sur du bruit pur, six graines.</a:t>
            </a:r>
            <a:endParaRPr lang="en-US" sz="1400" dirty="0"/>
          </a:p>
        </p:txBody>
      </p:sp>
      <p:sp>
        <p:nvSpPr>
          <p:cNvPr id="24" name="Text 22"/>
          <p:cNvSpPr txBox="1"/>
          <p:nvPr/>
        </p:nvSpPr>
        <p:spPr>
          <a:xfrm>
            <a:off x="7269480" y="4389120"/>
            <a:ext cx="4050792" cy="1463040"/>
          </a:xfrm>
          <a:prstGeom prst="rect">
            <a:avLst/>
          </a:prstGeom>
          <a:noFill/>
          <a:ln/>
        </p:spPr>
        <p:txBody>
          <a:bodyPr wrap="square" lIns="0" tIns="0" rIns="0" bIns="0" rtlCol="0" anchor="t"/>
          <a:lstStyle/>
          <a:p>
            <a:pPr indent="0" marL="0">
              <a:buNone/>
            </a:pPr>
            <a:r>
              <a:rPr lang="en-US" sz="1300" dirty="0">
                <a:solidFill>
                  <a:srgbClr val="52616C"/>
                </a:solidFill>
                <a:latin typeface="Arial" pitchFamily="34" charset="0"/>
                <a:ea typeface="Arial" pitchFamily="34" charset="-122"/>
                <a:cs typeface="Arial" pitchFamily="34" charset="-120"/>
              </a:rPr>
              <a:t>Il compte plus que la performance : il prouve que le modèle ne fabrique pas de valeur là où il n'y en a pas, et qu'il paie ses frais.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DF0EE"/>
        </a:solidFill>
      </p:bgPr>
    </p:bg>
    <p:spTree>
      <p:nvGrpSpPr>
        <p:cNvPr id="1" name=""/>
        <p:cNvGrpSpPr/>
        <p:nvPr/>
      </p:nvGrpSpPr>
      <p:grpSpPr>
        <a:xfrm>
          <a:off x="0" y="0"/>
          <a:ext cx="0" cy="0"/>
          <a:chOff x="0" y="0"/>
          <a:chExt cx="0" cy="0"/>
        </a:xfrm>
      </p:grpSpPr>
      <p:sp>
        <p:nvSpPr>
          <p:cNvPr id="2" name="Shape 0"/>
          <p:cNvSpPr/>
          <p:nvPr/>
        </p:nvSpPr>
        <p:spPr>
          <a:xfrm>
            <a:off x="548640" y="292608"/>
            <a:ext cx="1322451" cy="45720"/>
          </a:xfrm>
          <a:prstGeom prst="rect">
            <a:avLst/>
          </a:prstGeom>
          <a:solidFill>
            <a:srgbClr val="C6CFCB"/>
          </a:solidFill>
          <a:ln w="12700">
            <a:solidFill>
              <a:srgbClr val="C6CFCB"/>
            </a:solidFill>
            <a:prstDash val="solid"/>
          </a:ln>
        </p:spPr>
      </p:sp>
      <p:sp>
        <p:nvSpPr>
          <p:cNvPr id="3" name="Text 1"/>
          <p:cNvSpPr txBox="1"/>
          <p:nvPr/>
        </p:nvSpPr>
        <p:spPr>
          <a:xfrm>
            <a:off x="548640"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1  </a:t>
            </a:r>
            <a:pPr indent="0" marL="0">
              <a:buNone/>
            </a:pPr>
            <a:r>
              <a:rPr lang="en-US" sz="1000" dirty="0">
                <a:solidFill>
                  <a:srgbClr val="52616C"/>
                </a:solidFill>
                <a:latin typeface="Arial" pitchFamily="34" charset="0"/>
                <a:ea typeface="Arial" pitchFamily="34" charset="-122"/>
                <a:cs typeface="Arial" pitchFamily="34" charset="-120"/>
              </a:rPr>
              <a:t>Données</a:t>
            </a:r>
            <a:endParaRPr lang="en-US" sz="1000" dirty="0"/>
          </a:p>
        </p:txBody>
      </p:sp>
      <p:sp>
        <p:nvSpPr>
          <p:cNvPr id="4" name="Shape 2"/>
          <p:cNvSpPr/>
          <p:nvPr/>
        </p:nvSpPr>
        <p:spPr>
          <a:xfrm>
            <a:off x="1944243" y="292608"/>
            <a:ext cx="1322451" cy="45720"/>
          </a:xfrm>
          <a:prstGeom prst="rect">
            <a:avLst/>
          </a:prstGeom>
          <a:solidFill>
            <a:srgbClr val="C6CFCB"/>
          </a:solidFill>
          <a:ln w="12700">
            <a:solidFill>
              <a:srgbClr val="C6CFCB"/>
            </a:solidFill>
            <a:prstDash val="solid"/>
          </a:ln>
        </p:spPr>
      </p:sp>
      <p:sp>
        <p:nvSpPr>
          <p:cNvPr id="5" name="Text 3"/>
          <p:cNvSpPr txBox="1"/>
          <p:nvPr/>
        </p:nvSpPr>
        <p:spPr>
          <a:xfrm>
            <a:off x="1944243"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2  </a:t>
            </a:r>
            <a:pPr indent="0" marL="0">
              <a:buNone/>
            </a:pPr>
            <a:r>
              <a:rPr lang="en-US" sz="1000" dirty="0">
                <a:solidFill>
                  <a:srgbClr val="52616C"/>
                </a:solidFill>
                <a:latin typeface="Arial" pitchFamily="34" charset="0"/>
                <a:ea typeface="Arial" pitchFamily="34" charset="-122"/>
                <a:cs typeface="Arial" pitchFamily="34" charset="-120"/>
              </a:rPr>
              <a:t>Indicateurs</a:t>
            </a:r>
            <a:endParaRPr lang="en-US" sz="1000" dirty="0"/>
          </a:p>
        </p:txBody>
      </p:sp>
      <p:sp>
        <p:nvSpPr>
          <p:cNvPr id="6" name="Shape 4"/>
          <p:cNvSpPr/>
          <p:nvPr/>
        </p:nvSpPr>
        <p:spPr>
          <a:xfrm>
            <a:off x="3339846" y="292608"/>
            <a:ext cx="1322451" cy="45720"/>
          </a:xfrm>
          <a:prstGeom prst="rect">
            <a:avLst/>
          </a:prstGeom>
          <a:solidFill>
            <a:srgbClr val="C6CFCB"/>
          </a:solidFill>
          <a:ln w="12700">
            <a:solidFill>
              <a:srgbClr val="C6CFCB"/>
            </a:solidFill>
            <a:prstDash val="solid"/>
          </a:ln>
        </p:spPr>
      </p:sp>
      <p:sp>
        <p:nvSpPr>
          <p:cNvPr id="7" name="Text 5"/>
          <p:cNvSpPr txBox="1"/>
          <p:nvPr/>
        </p:nvSpPr>
        <p:spPr>
          <a:xfrm>
            <a:off x="3339846"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3  </a:t>
            </a:r>
            <a:pPr indent="0" marL="0">
              <a:buNone/>
            </a:pPr>
            <a:r>
              <a:rPr lang="en-US" sz="1000" dirty="0">
                <a:solidFill>
                  <a:srgbClr val="52616C"/>
                </a:solidFill>
                <a:latin typeface="Arial" pitchFamily="34" charset="0"/>
                <a:ea typeface="Arial" pitchFamily="34" charset="-122"/>
                <a:cs typeface="Arial" pitchFamily="34" charset="-120"/>
              </a:rPr>
              <a:t>Paniers</a:t>
            </a:r>
            <a:endParaRPr lang="en-US" sz="1000" dirty="0"/>
          </a:p>
        </p:txBody>
      </p:sp>
      <p:sp>
        <p:nvSpPr>
          <p:cNvPr id="8" name="Shape 6"/>
          <p:cNvSpPr/>
          <p:nvPr/>
        </p:nvSpPr>
        <p:spPr>
          <a:xfrm>
            <a:off x="4735449" y="292608"/>
            <a:ext cx="1322451" cy="45720"/>
          </a:xfrm>
          <a:prstGeom prst="rect">
            <a:avLst/>
          </a:prstGeom>
          <a:solidFill>
            <a:srgbClr val="C6CFCB"/>
          </a:solidFill>
          <a:ln w="12700">
            <a:solidFill>
              <a:srgbClr val="C6CFCB"/>
            </a:solidFill>
            <a:prstDash val="solid"/>
          </a:ln>
        </p:spPr>
      </p:sp>
      <p:sp>
        <p:nvSpPr>
          <p:cNvPr id="9" name="Text 7"/>
          <p:cNvSpPr txBox="1"/>
          <p:nvPr/>
        </p:nvSpPr>
        <p:spPr>
          <a:xfrm>
            <a:off x="4735449"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4  </a:t>
            </a:r>
            <a:pPr indent="0" marL="0">
              <a:buNone/>
            </a:pPr>
            <a:r>
              <a:rPr lang="en-US" sz="1000" dirty="0">
                <a:solidFill>
                  <a:srgbClr val="52616C"/>
                </a:solidFill>
                <a:latin typeface="Arial" pitchFamily="34" charset="0"/>
                <a:ea typeface="Arial" pitchFamily="34" charset="-122"/>
                <a:cs typeface="Arial" pitchFamily="34" charset="-120"/>
              </a:rPr>
              <a:t>Bootstrap</a:t>
            </a:r>
            <a:endParaRPr lang="en-US" sz="1000" dirty="0"/>
          </a:p>
        </p:txBody>
      </p:sp>
      <p:sp>
        <p:nvSpPr>
          <p:cNvPr id="10" name="Shape 8"/>
          <p:cNvSpPr/>
          <p:nvPr/>
        </p:nvSpPr>
        <p:spPr>
          <a:xfrm>
            <a:off x="6131052" y="292608"/>
            <a:ext cx="1322451" cy="45720"/>
          </a:xfrm>
          <a:prstGeom prst="rect">
            <a:avLst/>
          </a:prstGeom>
          <a:solidFill>
            <a:srgbClr val="C6CFCB"/>
          </a:solidFill>
          <a:ln w="12700">
            <a:solidFill>
              <a:srgbClr val="C6CFCB"/>
            </a:solidFill>
            <a:prstDash val="solid"/>
          </a:ln>
        </p:spPr>
      </p:sp>
      <p:sp>
        <p:nvSpPr>
          <p:cNvPr id="11" name="Text 9"/>
          <p:cNvSpPr txBox="1"/>
          <p:nvPr/>
        </p:nvSpPr>
        <p:spPr>
          <a:xfrm>
            <a:off x="6131052"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5  </a:t>
            </a:r>
            <a:pPr indent="0" marL="0">
              <a:buNone/>
            </a:pPr>
            <a:r>
              <a:rPr lang="en-US" sz="1000" dirty="0">
                <a:solidFill>
                  <a:srgbClr val="52616C"/>
                </a:solidFill>
                <a:latin typeface="Arial" pitchFamily="34" charset="0"/>
                <a:ea typeface="Arial" pitchFamily="34" charset="-122"/>
                <a:cs typeface="Arial" pitchFamily="34" charset="-120"/>
              </a:rPr>
              <a:t>Sélection</a:t>
            </a:r>
            <a:endParaRPr lang="en-US" sz="1000" dirty="0"/>
          </a:p>
        </p:txBody>
      </p:sp>
      <p:sp>
        <p:nvSpPr>
          <p:cNvPr id="12" name="Shape 10"/>
          <p:cNvSpPr/>
          <p:nvPr/>
        </p:nvSpPr>
        <p:spPr>
          <a:xfrm>
            <a:off x="7526655" y="292608"/>
            <a:ext cx="1322451" cy="45720"/>
          </a:xfrm>
          <a:prstGeom prst="rect">
            <a:avLst/>
          </a:prstGeom>
          <a:solidFill>
            <a:srgbClr val="C6CFCB"/>
          </a:solidFill>
          <a:ln w="12700">
            <a:solidFill>
              <a:srgbClr val="C6CFCB"/>
            </a:solidFill>
            <a:prstDash val="solid"/>
          </a:ln>
        </p:spPr>
      </p:sp>
      <p:sp>
        <p:nvSpPr>
          <p:cNvPr id="13" name="Text 11"/>
          <p:cNvSpPr txBox="1"/>
          <p:nvPr/>
        </p:nvSpPr>
        <p:spPr>
          <a:xfrm>
            <a:off x="7526655"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6  </a:t>
            </a:r>
            <a:pPr indent="0" marL="0">
              <a:buNone/>
            </a:pPr>
            <a:r>
              <a:rPr lang="en-US" sz="1000" dirty="0">
                <a:solidFill>
                  <a:srgbClr val="52616C"/>
                </a:solidFill>
                <a:latin typeface="Arial" pitchFamily="34" charset="0"/>
                <a:ea typeface="Arial" pitchFamily="34" charset="-122"/>
                <a:cs typeface="Arial" pitchFamily="34" charset="-120"/>
              </a:rPr>
              <a:t>Fusion</a:t>
            </a:r>
            <a:endParaRPr lang="en-US" sz="1000" dirty="0"/>
          </a:p>
        </p:txBody>
      </p:sp>
      <p:sp>
        <p:nvSpPr>
          <p:cNvPr id="14" name="Shape 12"/>
          <p:cNvSpPr/>
          <p:nvPr/>
        </p:nvSpPr>
        <p:spPr>
          <a:xfrm>
            <a:off x="8922258" y="292608"/>
            <a:ext cx="1322451" cy="45720"/>
          </a:xfrm>
          <a:prstGeom prst="rect">
            <a:avLst/>
          </a:prstGeom>
          <a:solidFill>
            <a:srgbClr val="C6CFCB"/>
          </a:solidFill>
          <a:ln w="12700">
            <a:solidFill>
              <a:srgbClr val="C6CFCB"/>
            </a:solidFill>
            <a:prstDash val="solid"/>
          </a:ln>
        </p:spPr>
      </p:sp>
      <p:sp>
        <p:nvSpPr>
          <p:cNvPr id="15" name="Text 13"/>
          <p:cNvSpPr txBox="1"/>
          <p:nvPr/>
        </p:nvSpPr>
        <p:spPr>
          <a:xfrm>
            <a:off x="8922258"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7  </a:t>
            </a:r>
            <a:pPr indent="0" marL="0">
              <a:buNone/>
            </a:pPr>
            <a:r>
              <a:rPr lang="en-US" sz="1000" dirty="0">
                <a:solidFill>
                  <a:srgbClr val="52616C"/>
                </a:solidFill>
                <a:latin typeface="Arial" pitchFamily="34" charset="0"/>
                <a:ea typeface="Arial" pitchFamily="34" charset="-122"/>
                <a:cs typeface="Arial" pitchFamily="34" charset="-120"/>
              </a:rPr>
              <a:t>Validation</a:t>
            </a:r>
            <a:endParaRPr lang="en-US" sz="1000" dirty="0"/>
          </a:p>
        </p:txBody>
      </p:sp>
      <p:sp>
        <p:nvSpPr>
          <p:cNvPr id="16" name="Shape 14"/>
          <p:cNvSpPr/>
          <p:nvPr/>
        </p:nvSpPr>
        <p:spPr>
          <a:xfrm>
            <a:off x="10317861" y="292608"/>
            <a:ext cx="1322451" cy="45720"/>
          </a:xfrm>
          <a:prstGeom prst="rect">
            <a:avLst/>
          </a:prstGeom>
          <a:solidFill>
            <a:srgbClr val="C6CFCB"/>
          </a:solidFill>
          <a:ln w="12700">
            <a:solidFill>
              <a:srgbClr val="C6CFCB"/>
            </a:solidFill>
            <a:prstDash val="solid"/>
          </a:ln>
        </p:spPr>
      </p:sp>
      <p:sp>
        <p:nvSpPr>
          <p:cNvPr id="17" name="Text 15"/>
          <p:cNvSpPr txBox="1"/>
          <p:nvPr/>
        </p:nvSpPr>
        <p:spPr>
          <a:xfrm>
            <a:off x="10317861" y="402336"/>
            <a:ext cx="1322451" cy="237744"/>
          </a:xfrm>
          <a:prstGeom prst="rect">
            <a:avLst/>
          </a:prstGeom>
          <a:noFill/>
          <a:ln/>
        </p:spPr>
        <p:txBody>
          <a:bodyPr wrap="square" lIns="0" tIns="0" rIns="0" bIns="0" rtlCol="0" anchor="t"/>
          <a:lstStyle/>
          <a:p>
            <a:pPr indent="0" marL="0">
              <a:buNone/>
            </a:pPr>
            <a:r>
              <a:rPr lang="en-US" sz="1000" b="1" dirty="0">
                <a:solidFill>
                  <a:srgbClr val="52616C"/>
                </a:solidFill>
                <a:latin typeface="Arial" pitchFamily="34" charset="0"/>
                <a:ea typeface="Arial" pitchFamily="34" charset="-122"/>
                <a:cs typeface="Arial" pitchFamily="34" charset="-120"/>
              </a:rPr>
              <a:t>8  </a:t>
            </a:r>
            <a:pPr indent="0" marL="0">
              <a:buNone/>
            </a:pPr>
            <a:r>
              <a:rPr lang="en-US" sz="1000" dirty="0">
                <a:solidFill>
                  <a:srgbClr val="52616C"/>
                </a:solidFill>
                <a:latin typeface="Arial" pitchFamily="34" charset="0"/>
                <a:ea typeface="Arial" pitchFamily="34" charset="-122"/>
                <a:cs typeface="Arial" pitchFamily="34" charset="-120"/>
              </a:rPr>
              <a:t>Production</a:t>
            </a:r>
            <a:endParaRPr lang="en-US" sz="1000" dirty="0"/>
          </a:p>
        </p:txBody>
      </p:sp>
      <p:sp>
        <p:nvSpPr>
          <p:cNvPr id="18" name="Text 16"/>
          <p:cNvSpPr txBox="1"/>
          <p:nvPr/>
        </p:nvSpPr>
        <p:spPr>
          <a:xfrm>
            <a:off x="548640" y="914400"/>
            <a:ext cx="6400800" cy="1097280"/>
          </a:xfrm>
          <a:prstGeom prst="rect">
            <a:avLst/>
          </a:prstGeom>
          <a:noFill/>
          <a:ln/>
        </p:spPr>
        <p:txBody>
          <a:bodyPr wrap="square" lIns="0" tIns="0" rIns="0" bIns="0" rtlCol="0" anchor="t"/>
          <a:lstStyle/>
          <a:p>
            <a:pPr indent="0" marL="0">
              <a:buNone/>
            </a:pPr>
            <a:r>
              <a:rPr lang="en-US" sz="3200" b="1" dirty="0">
                <a:solidFill>
                  <a:srgbClr val="14202A"/>
                </a:solidFill>
                <a:latin typeface="Arial" pitchFamily="34" charset="0"/>
                <a:ea typeface="Arial" pitchFamily="34" charset="-122"/>
                <a:cs typeface="Arial" pitchFamily="34" charset="-120"/>
              </a:rPr>
              <a:t>Ce que le modèle ne corrige pas</a:t>
            </a:r>
            <a:endParaRPr lang="en-US" sz="3200" dirty="0"/>
          </a:p>
        </p:txBody>
      </p:sp>
      <p:sp>
        <p:nvSpPr>
          <p:cNvPr id="19" name="Shape 17"/>
          <p:cNvSpPr/>
          <p:nvPr/>
        </p:nvSpPr>
        <p:spPr>
          <a:xfrm>
            <a:off x="548640" y="2103120"/>
            <a:ext cx="6583680" cy="868680"/>
          </a:xfrm>
          <a:prstGeom prst="rect">
            <a:avLst/>
          </a:prstGeom>
          <a:solidFill>
            <a:srgbClr val="F2E2CC"/>
          </a:solidFill>
          <a:ln w="12700">
            <a:solidFill>
              <a:srgbClr val="F2E2CC"/>
            </a:solidFill>
            <a:prstDash val="solid"/>
          </a:ln>
        </p:spPr>
      </p:sp>
      <p:sp>
        <p:nvSpPr>
          <p:cNvPr id="20" name="Text 18"/>
          <p:cNvSpPr txBox="1"/>
          <p:nvPr/>
        </p:nvSpPr>
        <p:spPr>
          <a:xfrm>
            <a:off x="822960" y="2221992"/>
            <a:ext cx="6035040" cy="320040"/>
          </a:xfrm>
          <a:prstGeom prst="rect">
            <a:avLst/>
          </a:prstGeom>
          <a:noFill/>
          <a:ln/>
        </p:spPr>
        <p:txBody>
          <a:bodyPr wrap="square" lIns="0" tIns="0" rIns="0" bIns="0" rtlCol="0" anchor="t"/>
          <a:lstStyle/>
          <a:p>
            <a:pPr indent="0" marL="0">
              <a:buNone/>
            </a:pPr>
            <a:r>
              <a:rPr lang="en-US" sz="1500" b="1" dirty="0">
                <a:solidFill>
                  <a:srgbClr val="A35F12"/>
                </a:solidFill>
                <a:latin typeface="Arial" pitchFamily="34" charset="0"/>
                <a:ea typeface="Arial" pitchFamily="34" charset="-122"/>
                <a:cs typeface="Arial" pitchFamily="34" charset="-120"/>
              </a:rPr>
              <a:t>Biais du survivant</a:t>
            </a:r>
            <a:endParaRPr lang="en-US" sz="1500" dirty="0"/>
          </a:p>
        </p:txBody>
      </p:sp>
      <p:sp>
        <p:nvSpPr>
          <p:cNvPr id="21" name="Text 19"/>
          <p:cNvSpPr txBox="1"/>
          <p:nvPr/>
        </p:nvSpPr>
        <p:spPr>
          <a:xfrm>
            <a:off x="822960" y="2560320"/>
            <a:ext cx="6035040" cy="365760"/>
          </a:xfrm>
          <a:prstGeom prst="rect">
            <a:avLst/>
          </a:prstGeom>
          <a:noFill/>
          <a:ln/>
        </p:spPr>
        <p:txBody>
          <a:bodyPr wrap="square" lIns="0" tIns="0" rIns="0" bIns="0" rtlCol="0" anchor="t"/>
          <a:lstStyle/>
          <a:p>
            <a:pPr indent="0" marL="0">
              <a:buNone/>
            </a:pPr>
            <a:r>
              <a:rPr lang="en-US" sz="1250" dirty="0">
                <a:solidFill>
                  <a:srgbClr val="14202A"/>
                </a:solidFill>
                <a:latin typeface="Arial" pitchFamily="34" charset="0"/>
                <a:ea typeface="Arial" pitchFamily="34" charset="-122"/>
                <a:cs typeface="Arial" pitchFamily="34" charset="-120"/>
              </a:rPr>
              <a:t>Univers composé des titres existant aujourd'hui : gonfle les résultats d'une stratégie momentum.</a:t>
            </a:r>
            <a:endParaRPr lang="en-US" sz="1250" dirty="0"/>
          </a:p>
        </p:txBody>
      </p:sp>
      <p:sp>
        <p:nvSpPr>
          <p:cNvPr id="22" name="Shape 20"/>
          <p:cNvSpPr/>
          <p:nvPr/>
        </p:nvSpPr>
        <p:spPr>
          <a:xfrm>
            <a:off x="548640" y="3108960"/>
            <a:ext cx="6583680" cy="868680"/>
          </a:xfrm>
          <a:prstGeom prst="rect">
            <a:avLst/>
          </a:prstGeom>
          <a:solidFill>
            <a:srgbClr val="F2E2CC"/>
          </a:solidFill>
          <a:ln w="12700">
            <a:solidFill>
              <a:srgbClr val="F2E2CC"/>
            </a:solidFill>
            <a:prstDash val="solid"/>
          </a:ln>
        </p:spPr>
      </p:sp>
      <p:sp>
        <p:nvSpPr>
          <p:cNvPr id="23" name="Text 21"/>
          <p:cNvSpPr txBox="1"/>
          <p:nvPr/>
        </p:nvSpPr>
        <p:spPr>
          <a:xfrm>
            <a:off x="822960" y="3227832"/>
            <a:ext cx="6035040" cy="320040"/>
          </a:xfrm>
          <a:prstGeom prst="rect">
            <a:avLst/>
          </a:prstGeom>
          <a:noFill/>
          <a:ln/>
        </p:spPr>
        <p:txBody>
          <a:bodyPr wrap="square" lIns="0" tIns="0" rIns="0" bIns="0" rtlCol="0" anchor="t"/>
          <a:lstStyle/>
          <a:p>
            <a:pPr indent="0" marL="0">
              <a:buNone/>
            </a:pPr>
            <a:r>
              <a:rPr lang="en-US" sz="1500" b="1" dirty="0">
                <a:solidFill>
                  <a:srgbClr val="A35F12"/>
                </a:solidFill>
                <a:latin typeface="Arial" pitchFamily="34" charset="0"/>
                <a:ea typeface="Arial" pitchFamily="34" charset="-122"/>
                <a:cs typeface="Arial" pitchFamily="34" charset="-120"/>
              </a:rPr>
              <a:t>Score macro sur séries révisées</a:t>
            </a:r>
            <a:endParaRPr lang="en-US" sz="1500" dirty="0"/>
          </a:p>
        </p:txBody>
      </p:sp>
      <p:sp>
        <p:nvSpPr>
          <p:cNvPr id="24" name="Text 22"/>
          <p:cNvSpPr txBox="1"/>
          <p:nvPr/>
        </p:nvSpPr>
        <p:spPr>
          <a:xfrm>
            <a:off x="822960" y="3566160"/>
            <a:ext cx="6035040" cy="365760"/>
          </a:xfrm>
          <a:prstGeom prst="rect">
            <a:avLst/>
          </a:prstGeom>
          <a:noFill/>
          <a:ln/>
        </p:spPr>
        <p:txBody>
          <a:bodyPr wrap="square" lIns="0" tIns="0" rIns="0" bIns="0" rtlCol="0" anchor="t"/>
          <a:lstStyle/>
          <a:p>
            <a:pPr indent="0" marL="0">
              <a:buNone/>
            </a:pPr>
            <a:r>
              <a:rPr lang="en-US" sz="1250" dirty="0">
                <a:solidFill>
                  <a:srgbClr val="14202A"/>
                </a:solidFill>
                <a:latin typeface="Arial" pitchFamily="34" charset="0"/>
                <a:ea typeface="Arial" pitchFamily="34" charset="-122"/>
                <a:cs typeface="Arial" pitchFamily="34" charset="-120"/>
              </a:rPr>
              <a:t>Le décalage corrige la latence de publication, pas les révisions.</a:t>
            </a:r>
            <a:endParaRPr lang="en-US" sz="1250" dirty="0"/>
          </a:p>
        </p:txBody>
      </p:sp>
      <p:sp>
        <p:nvSpPr>
          <p:cNvPr id="25" name="Shape 23"/>
          <p:cNvSpPr/>
          <p:nvPr/>
        </p:nvSpPr>
        <p:spPr>
          <a:xfrm>
            <a:off x="548640" y="4114800"/>
            <a:ext cx="6583680" cy="868680"/>
          </a:xfrm>
          <a:prstGeom prst="rect">
            <a:avLst/>
          </a:prstGeom>
          <a:solidFill>
            <a:srgbClr val="F2E2CC"/>
          </a:solidFill>
          <a:ln w="12700">
            <a:solidFill>
              <a:srgbClr val="F2E2CC"/>
            </a:solidFill>
            <a:prstDash val="solid"/>
          </a:ln>
        </p:spPr>
      </p:sp>
      <p:sp>
        <p:nvSpPr>
          <p:cNvPr id="26" name="Text 24"/>
          <p:cNvSpPr txBox="1"/>
          <p:nvPr/>
        </p:nvSpPr>
        <p:spPr>
          <a:xfrm>
            <a:off x="822960" y="4233672"/>
            <a:ext cx="6035040" cy="320040"/>
          </a:xfrm>
          <a:prstGeom prst="rect">
            <a:avLst/>
          </a:prstGeom>
          <a:noFill/>
          <a:ln/>
        </p:spPr>
        <p:txBody>
          <a:bodyPr wrap="square" lIns="0" tIns="0" rIns="0" bIns="0" rtlCol="0" anchor="t"/>
          <a:lstStyle/>
          <a:p>
            <a:pPr indent="0" marL="0">
              <a:buNone/>
            </a:pPr>
            <a:r>
              <a:rPr lang="en-US" sz="1500" b="1" dirty="0">
                <a:solidFill>
                  <a:srgbClr val="A35F12"/>
                </a:solidFill>
                <a:latin typeface="Arial" pitchFamily="34" charset="0"/>
                <a:ea typeface="Arial" pitchFamily="34" charset="-122"/>
                <a:cs typeface="Arial" pitchFamily="34" charset="-120"/>
              </a:rPr>
              <a:t>Coûts forfaitaires</a:t>
            </a:r>
            <a:endParaRPr lang="en-US" sz="1500" dirty="0"/>
          </a:p>
        </p:txBody>
      </p:sp>
      <p:sp>
        <p:nvSpPr>
          <p:cNvPr id="27" name="Text 25"/>
          <p:cNvSpPr txBox="1"/>
          <p:nvPr/>
        </p:nvSpPr>
        <p:spPr>
          <a:xfrm>
            <a:off x="822960" y="4572000"/>
            <a:ext cx="6035040" cy="365760"/>
          </a:xfrm>
          <a:prstGeom prst="rect">
            <a:avLst/>
          </a:prstGeom>
          <a:noFill/>
          <a:ln/>
        </p:spPr>
        <p:txBody>
          <a:bodyPr wrap="square" lIns="0" tIns="0" rIns="0" bIns="0" rtlCol="0" anchor="t"/>
          <a:lstStyle/>
          <a:p>
            <a:pPr indent="0" marL="0">
              <a:buNone/>
            </a:pPr>
            <a:r>
              <a:rPr lang="en-US" sz="1250" dirty="0">
                <a:solidFill>
                  <a:srgbClr val="14202A"/>
                </a:solidFill>
                <a:latin typeface="Arial" pitchFamily="34" charset="0"/>
                <a:ea typeface="Arial" pitchFamily="34" charset="-122"/>
                <a:cs typeface="Arial" pitchFamily="34" charset="-120"/>
              </a:rPr>
              <a:t>10 pb, optimiste sur les petites valeurs et les périodes anciennes.</a:t>
            </a:r>
            <a:endParaRPr lang="en-US" sz="1250" dirty="0"/>
          </a:p>
        </p:txBody>
      </p:sp>
      <p:sp>
        <p:nvSpPr>
          <p:cNvPr id="28" name="Shape 26"/>
          <p:cNvSpPr/>
          <p:nvPr/>
        </p:nvSpPr>
        <p:spPr>
          <a:xfrm>
            <a:off x="548640" y="5120640"/>
            <a:ext cx="6583680" cy="868680"/>
          </a:xfrm>
          <a:prstGeom prst="rect">
            <a:avLst/>
          </a:prstGeom>
          <a:solidFill>
            <a:srgbClr val="F2E2CC"/>
          </a:solidFill>
          <a:ln w="12700">
            <a:solidFill>
              <a:srgbClr val="F2E2CC"/>
            </a:solidFill>
            <a:prstDash val="solid"/>
          </a:ln>
        </p:spPr>
      </p:sp>
      <p:sp>
        <p:nvSpPr>
          <p:cNvPr id="29" name="Text 27"/>
          <p:cNvSpPr txBox="1"/>
          <p:nvPr/>
        </p:nvSpPr>
        <p:spPr>
          <a:xfrm>
            <a:off x="822960" y="5239512"/>
            <a:ext cx="6035040" cy="320040"/>
          </a:xfrm>
          <a:prstGeom prst="rect">
            <a:avLst/>
          </a:prstGeom>
          <a:noFill/>
          <a:ln/>
        </p:spPr>
        <p:txBody>
          <a:bodyPr wrap="square" lIns="0" tIns="0" rIns="0" bIns="0" rtlCol="0" anchor="t"/>
          <a:lstStyle/>
          <a:p>
            <a:pPr indent="0" marL="0">
              <a:buNone/>
            </a:pPr>
            <a:r>
              <a:rPr lang="en-US" sz="1500" b="1" dirty="0">
                <a:solidFill>
                  <a:srgbClr val="A35F12"/>
                </a:solidFill>
                <a:latin typeface="Arial" pitchFamily="34" charset="0"/>
                <a:ea typeface="Arial" pitchFamily="34" charset="-122"/>
                <a:cs typeface="Arial" pitchFamily="34" charset="-120"/>
              </a:rPr>
              <a:t>Environ 21 paramètres</a:t>
            </a:r>
            <a:endParaRPr lang="en-US" sz="1500" dirty="0"/>
          </a:p>
        </p:txBody>
      </p:sp>
      <p:sp>
        <p:nvSpPr>
          <p:cNvPr id="30" name="Text 28"/>
          <p:cNvSpPr txBox="1"/>
          <p:nvPr/>
        </p:nvSpPr>
        <p:spPr>
          <a:xfrm>
            <a:off x="822960" y="5577840"/>
            <a:ext cx="6035040" cy="365760"/>
          </a:xfrm>
          <a:prstGeom prst="rect">
            <a:avLst/>
          </a:prstGeom>
          <a:noFill/>
          <a:ln/>
        </p:spPr>
        <p:txBody>
          <a:bodyPr wrap="square" lIns="0" tIns="0" rIns="0" bIns="0" rtlCol="0" anchor="t"/>
          <a:lstStyle/>
          <a:p>
            <a:pPr indent="0" marL="0">
              <a:buNone/>
            </a:pPr>
            <a:r>
              <a:rPr lang="en-US" sz="1250" dirty="0">
                <a:solidFill>
                  <a:srgbClr val="14202A"/>
                </a:solidFill>
                <a:latin typeface="Arial" pitchFamily="34" charset="0"/>
                <a:ea typeface="Arial" pitchFamily="34" charset="-122"/>
                <a:cs typeface="Arial" pitchFamily="34" charset="-120"/>
              </a:rPr>
              <a:t>N'en optimiser que deux ou trois, chercher des plateaux plutôt que des pics.</a:t>
            </a:r>
            <a:endParaRPr lang="en-US" sz="1250" dirty="0"/>
          </a:p>
        </p:txBody>
      </p:sp>
      <p:sp>
        <p:nvSpPr>
          <p:cNvPr id="31" name="Text 29"/>
          <p:cNvSpPr txBox="1"/>
          <p:nvPr/>
        </p:nvSpPr>
        <p:spPr>
          <a:xfrm>
            <a:off x="7589520" y="2103120"/>
            <a:ext cx="4023360" cy="365760"/>
          </a:xfrm>
          <a:prstGeom prst="rect">
            <a:avLst/>
          </a:prstGeom>
          <a:noFill/>
          <a:ln/>
        </p:spPr>
        <p:txBody>
          <a:bodyPr wrap="square" lIns="0" tIns="0" rIns="0" bIns="0" rtlCol="0" anchor="t"/>
          <a:lstStyle/>
          <a:p>
            <a:pPr indent="0" marL="0">
              <a:buNone/>
            </a:pPr>
            <a:r>
              <a:rPr lang="en-US" sz="1800" b="1" dirty="0">
                <a:solidFill>
                  <a:srgbClr val="14202A"/>
                </a:solidFill>
                <a:latin typeface="Arial" pitchFamily="34" charset="0"/>
                <a:ea typeface="Arial" pitchFamily="34" charset="-122"/>
                <a:cs typeface="Arial" pitchFamily="34" charset="-120"/>
              </a:rPr>
              <a:t>Prochaines étapes</a:t>
            </a:r>
            <a:endParaRPr lang="en-US" sz="1800" dirty="0"/>
          </a:p>
        </p:txBody>
      </p:sp>
      <p:sp>
        <p:nvSpPr>
          <p:cNvPr id="32" name="Shape 30"/>
          <p:cNvSpPr/>
          <p:nvPr/>
        </p:nvSpPr>
        <p:spPr>
          <a:xfrm>
            <a:off x="7589520" y="2651760"/>
            <a:ext cx="384048" cy="384048"/>
          </a:xfrm>
          <a:prstGeom prst="ellipse">
            <a:avLst/>
          </a:prstGeom>
          <a:solidFill>
            <a:srgbClr val="52616C"/>
          </a:solidFill>
          <a:ln w="12700">
            <a:solidFill>
              <a:srgbClr val="52616C"/>
            </a:solidFill>
            <a:prstDash val="solid"/>
          </a:ln>
        </p:spPr>
      </p:sp>
      <p:sp>
        <p:nvSpPr>
          <p:cNvPr id="33" name="Text 31"/>
          <p:cNvSpPr txBox="1"/>
          <p:nvPr/>
        </p:nvSpPr>
        <p:spPr>
          <a:xfrm>
            <a:off x="7589520" y="2651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34" name="Text 32"/>
          <p:cNvSpPr txBox="1"/>
          <p:nvPr/>
        </p:nvSpPr>
        <p:spPr>
          <a:xfrm>
            <a:off x="8138160" y="2523744"/>
            <a:ext cx="3502152" cy="640080"/>
          </a:xfrm>
          <a:prstGeom prst="rect">
            <a:avLst/>
          </a:prstGeom>
          <a:noFill/>
          <a:ln/>
        </p:spPr>
        <p:txBody>
          <a:bodyPr wrap="square" lIns="0" tIns="0" rIns="0" bIns="0" rtlCol="0" anchor="ctr"/>
          <a:lstStyle/>
          <a:p>
            <a:pPr indent="0" marL="0">
              <a:buNone/>
            </a:pPr>
            <a:r>
              <a:rPr lang="en-US" sz="1400" dirty="0">
                <a:solidFill>
                  <a:srgbClr val="14202A"/>
                </a:solidFill>
                <a:latin typeface="Arial" pitchFamily="34" charset="0"/>
                <a:ea typeface="Arial" pitchFamily="34" charset="-122"/>
                <a:cs typeface="Arial" pitchFamily="34" charset="-120"/>
              </a:rPr>
              <a:t>Univers point-in-time, titres radiés inclus</a:t>
            </a:r>
            <a:endParaRPr lang="en-US" sz="1400" dirty="0"/>
          </a:p>
        </p:txBody>
      </p:sp>
      <p:sp>
        <p:nvSpPr>
          <p:cNvPr id="35" name="Shape 33"/>
          <p:cNvSpPr/>
          <p:nvPr/>
        </p:nvSpPr>
        <p:spPr>
          <a:xfrm>
            <a:off x="7589520" y="3429000"/>
            <a:ext cx="384048" cy="384048"/>
          </a:xfrm>
          <a:prstGeom prst="ellipse">
            <a:avLst/>
          </a:prstGeom>
          <a:solidFill>
            <a:srgbClr val="52616C"/>
          </a:solidFill>
          <a:ln w="12700">
            <a:solidFill>
              <a:srgbClr val="52616C"/>
            </a:solidFill>
            <a:prstDash val="solid"/>
          </a:ln>
        </p:spPr>
      </p:sp>
      <p:sp>
        <p:nvSpPr>
          <p:cNvPr id="36" name="Text 34"/>
          <p:cNvSpPr txBox="1"/>
          <p:nvPr/>
        </p:nvSpPr>
        <p:spPr>
          <a:xfrm>
            <a:off x="7589520" y="3429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37" name="Text 35"/>
          <p:cNvSpPr txBox="1"/>
          <p:nvPr/>
        </p:nvSpPr>
        <p:spPr>
          <a:xfrm>
            <a:off x="8138160" y="3300984"/>
            <a:ext cx="3502152" cy="640080"/>
          </a:xfrm>
          <a:prstGeom prst="rect">
            <a:avLst/>
          </a:prstGeom>
          <a:noFill/>
          <a:ln/>
        </p:spPr>
        <p:txBody>
          <a:bodyPr wrap="square" lIns="0" tIns="0" rIns="0" bIns="0" rtlCol="0" anchor="ctr"/>
          <a:lstStyle/>
          <a:p>
            <a:pPr indent="0" marL="0">
              <a:buNone/>
            </a:pPr>
            <a:r>
              <a:rPr lang="en-US" sz="1400" dirty="0">
                <a:solidFill>
                  <a:srgbClr val="14202A"/>
                </a:solidFill>
                <a:latin typeface="Arial" pitchFamily="34" charset="0"/>
                <a:ea typeface="Arial" pitchFamily="34" charset="-122"/>
                <a:cs typeface="Arial" pitchFamily="34" charset="-120"/>
              </a:rPr>
              <a:t>Coûts fonction de la liquidité</a:t>
            </a:r>
            <a:endParaRPr lang="en-US" sz="1400" dirty="0"/>
          </a:p>
        </p:txBody>
      </p:sp>
      <p:sp>
        <p:nvSpPr>
          <p:cNvPr id="38" name="Shape 36"/>
          <p:cNvSpPr/>
          <p:nvPr/>
        </p:nvSpPr>
        <p:spPr>
          <a:xfrm>
            <a:off x="7589520" y="4206240"/>
            <a:ext cx="384048" cy="384048"/>
          </a:xfrm>
          <a:prstGeom prst="ellipse">
            <a:avLst/>
          </a:prstGeom>
          <a:solidFill>
            <a:srgbClr val="52616C"/>
          </a:solidFill>
          <a:ln w="12700">
            <a:solidFill>
              <a:srgbClr val="52616C"/>
            </a:solidFill>
            <a:prstDash val="solid"/>
          </a:ln>
        </p:spPr>
      </p:sp>
      <p:sp>
        <p:nvSpPr>
          <p:cNvPr id="39" name="Text 37"/>
          <p:cNvSpPr txBox="1"/>
          <p:nvPr/>
        </p:nvSpPr>
        <p:spPr>
          <a:xfrm>
            <a:off x="7589520" y="4206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40" name="Text 38"/>
          <p:cNvSpPr txBox="1"/>
          <p:nvPr/>
        </p:nvSpPr>
        <p:spPr>
          <a:xfrm>
            <a:off x="8138160" y="4078224"/>
            <a:ext cx="3502152" cy="640080"/>
          </a:xfrm>
          <a:prstGeom prst="rect">
            <a:avLst/>
          </a:prstGeom>
          <a:noFill/>
          <a:ln/>
        </p:spPr>
        <p:txBody>
          <a:bodyPr wrap="square" lIns="0" tIns="0" rIns="0" bIns="0" rtlCol="0" anchor="ctr"/>
          <a:lstStyle/>
          <a:p>
            <a:pPr indent="0" marL="0">
              <a:buNone/>
            </a:pPr>
            <a:r>
              <a:rPr lang="en-US" sz="1400" dirty="0">
                <a:solidFill>
                  <a:srgbClr val="14202A"/>
                </a:solidFill>
                <a:latin typeface="Arial" pitchFamily="34" charset="0"/>
                <a:ea typeface="Arial" pitchFamily="34" charset="-122"/>
                <a:cs typeface="Arial" pitchFamily="34" charset="-120"/>
              </a:rPr>
              <a:t>Exécution à l'enchère de clôture</a:t>
            </a:r>
            <a:endParaRPr lang="en-US" sz="1400" dirty="0"/>
          </a:p>
        </p:txBody>
      </p:sp>
      <p:sp>
        <p:nvSpPr>
          <p:cNvPr id="41" name="Shape 39"/>
          <p:cNvSpPr/>
          <p:nvPr/>
        </p:nvSpPr>
        <p:spPr>
          <a:xfrm>
            <a:off x="7589520" y="4983480"/>
            <a:ext cx="384048" cy="384048"/>
          </a:xfrm>
          <a:prstGeom prst="ellipse">
            <a:avLst/>
          </a:prstGeom>
          <a:solidFill>
            <a:srgbClr val="52616C"/>
          </a:solidFill>
          <a:ln w="12700">
            <a:solidFill>
              <a:srgbClr val="52616C"/>
            </a:solidFill>
            <a:prstDash val="solid"/>
          </a:ln>
        </p:spPr>
      </p:sp>
      <p:sp>
        <p:nvSpPr>
          <p:cNvPr id="42" name="Text 40"/>
          <p:cNvSpPr txBox="1"/>
          <p:nvPr/>
        </p:nvSpPr>
        <p:spPr>
          <a:xfrm>
            <a:off x="7589520" y="4983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43" name="Text 41"/>
          <p:cNvSpPr txBox="1"/>
          <p:nvPr/>
        </p:nvSpPr>
        <p:spPr>
          <a:xfrm>
            <a:off x="8138160" y="4855464"/>
            <a:ext cx="3502152" cy="640080"/>
          </a:xfrm>
          <a:prstGeom prst="rect">
            <a:avLst/>
          </a:prstGeom>
          <a:noFill/>
          <a:ln/>
        </p:spPr>
        <p:txBody>
          <a:bodyPr wrap="square" lIns="0" tIns="0" rIns="0" bIns="0" rtlCol="0" anchor="ctr"/>
          <a:lstStyle/>
          <a:p>
            <a:pPr indent="0" marL="0">
              <a:buNone/>
            </a:pPr>
            <a:r>
              <a:rPr lang="en-US" sz="1400" dirty="0">
                <a:solidFill>
                  <a:srgbClr val="14202A"/>
                </a:solidFill>
                <a:latin typeface="Arial" pitchFamily="34" charset="0"/>
                <a:ea typeface="Arial" pitchFamily="34" charset="-122"/>
                <a:cs typeface="Arial" pitchFamily="34" charset="-120"/>
              </a:rPr>
              <a:t>Vente à découvert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02A"/>
        </a:solidFill>
      </p:bgPr>
    </p:bg>
    <p:spTree>
      <p:nvGrpSpPr>
        <p:cNvPr id="1" name=""/>
        <p:cNvGrpSpPr/>
        <p:nvPr/>
      </p:nvGrpSpPr>
      <p:grpSpPr>
        <a:xfrm>
          <a:off x="0" y="0"/>
          <a:ext cx="0" cy="0"/>
          <a:chOff x="0" y="0"/>
          <a:chExt cx="0" cy="0"/>
        </a:xfrm>
      </p:grpSpPr>
      <p:sp>
        <p:nvSpPr>
          <p:cNvPr id="2" name="Shape 0"/>
          <p:cNvSpPr/>
          <p:nvPr/>
        </p:nvSpPr>
        <p:spPr>
          <a:xfrm>
            <a:off x="548640" y="292608"/>
            <a:ext cx="1322451" cy="45720"/>
          </a:xfrm>
          <a:prstGeom prst="rect">
            <a:avLst/>
          </a:prstGeom>
          <a:solidFill>
            <a:srgbClr val="2F4049"/>
          </a:solidFill>
          <a:ln w="12700">
            <a:solidFill>
              <a:srgbClr val="2F4049"/>
            </a:solidFill>
            <a:prstDash val="solid"/>
          </a:ln>
        </p:spPr>
      </p:sp>
      <p:sp>
        <p:nvSpPr>
          <p:cNvPr id="3" name="Text 1"/>
          <p:cNvSpPr txBox="1"/>
          <p:nvPr/>
        </p:nvSpPr>
        <p:spPr>
          <a:xfrm>
            <a:off x="548640" y="402336"/>
            <a:ext cx="1322451" cy="237744"/>
          </a:xfrm>
          <a:prstGeom prst="rect">
            <a:avLst/>
          </a:prstGeom>
          <a:noFill/>
          <a:ln/>
        </p:spPr>
        <p:txBody>
          <a:bodyPr wrap="square" lIns="0" tIns="0" rIns="0" bIns="0" rtlCol="0" anchor="t"/>
          <a:lstStyle/>
          <a:p>
            <a:pPr indent="0" marL="0">
              <a:buNone/>
            </a:pPr>
            <a:r>
              <a:rPr lang="en-US" sz="1000" b="1" dirty="0">
                <a:solidFill>
                  <a:srgbClr val="9AA9B0"/>
                </a:solidFill>
                <a:latin typeface="Arial" pitchFamily="34" charset="0"/>
                <a:ea typeface="Arial" pitchFamily="34" charset="-122"/>
                <a:cs typeface="Arial" pitchFamily="34" charset="-120"/>
              </a:rPr>
              <a:t>1  </a:t>
            </a:r>
            <a:pPr indent="0" marL="0">
              <a:buNone/>
            </a:pPr>
            <a:r>
              <a:rPr lang="en-US" sz="1000" dirty="0">
                <a:solidFill>
                  <a:srgbClr val="9AA9B0"/>
                </a:solidFill>
                <a:latin typeface="Arial" pitchFamily="34" charset="0"/>
                <a:ea typeface="Arial" pitchFamily="34" charset="-122"/>
                <a:cs typeface="Arial" pitchFamily="34" charset="-120"/>
              </a:rPr>
              <a:t>Données</a:t>
            </a:r>
            <a:endParaRPr lang="en-US" sz="1000" dirty="0"/>
          </a:p>
        </p:txBody>
      </p:sp>
      <p:sp>
        <p:nvSpPr>
          <p:cNvPr id="4" name="Shape 2"/>
          <p:cNvSpPr/>
          <p:nvPr/>
        </p:nvSpPr>
        <p:spPr>
          <a:xfrm>
            <a:off x="1944243" y="292608"/>
            <a:ext cx="1322451" cy="45720"/>
          </a:xfrm>
          <a:prstGeom prst="rect">
            <a:avLst/>
          </a:prstGeom>
          <a:solidFill>
            <a:srgbClr val="2F4049"/>
          </a:solidFill>
          <a:ln w="12700">
            <a:solidFill>
              <a:srgbClr val="2F4049"/>
            </a:solidFill>
            <a:prstDash val="solid"/>
          </a:ln>
        </p:spPr>
      </p:sp>
      <p:sp>
        <p:nvSpPr>
          <p:cNvPr id="5" name="Text 3"/>
          <p:cNvSpPr txBox="1"/>
          <p:nvPr/>
        </p:nvSpPr>
        <p:spPr>
          <a:xfrm>
            <a:off x="1944243" y="402336"/>
            <a:ext cx="1322451" cy="237744"/>
          </a:xfrm>
          <a:prstGeom prst="rect">
            <a:avLst/>
          </a:prstGeom>
          <a:noFill/>
          <a:ln/>
        </p:spPr>
        <p:txBody>
          <a:bodyPr wrap="square" lIns="0" tIns="0" rIns="0" bIns="0" rtlCol="0" anchor="t"/>
          <a:lstStyle/>
          <a:p>
            <a:pPr indent="0" marL="0">
              <a:buNone/>
            </a:pPr>
            <a:r>
              <a:rPr lang="en-US" sz="1000" b="1" dirty="0">
                <a:solidFill>
                  <a:srgbClr val="9AA9B0"/>
                </a:solidFill>
                <a:latin typeface="Arial" pitchFamily="34" charset="0"/>
                <a:ea typeface="Arial" pitchFamily="34" charset="-122"/>
                <a:cs typeface="Arial" pitchFamily="34" charset="-120"/>
              </a:rPr>
              <a:t>2  </a:t>
            </a:r>
            <a:pPr indent="0" marL="0">
              <a:buNone/>
            </a:pPr>
            <a:r>
              <a:rPr lang="en-US" sz="1000" dirty="0">
                <a:solidFill>
                  <a:srgbClr val="9AA9B0"/>
                </a:solidFill>
                <a:latin typeface="Arial" pitchFamily="34" charset="0"/>
                <a:ea typeface="Arial" pitchFamily="34" charset="-122"/>
                <a:cs typeface="Arial" pitchFamily="34" charset="-120"/>
              </a:rPr>
              <a:t>Indicateurs</a:t>
            </a:r>
            <a:endParaRPr lang="en-US" sz="1000" dirty="0"/>
          </a:p>
        </p:txBody>
      </p:sp>
      <p:sp>
        <p:nvSpPr>
          <p:cNvPr id="6" name="Shape 4"/>
          <p:cNvSpPr/>
          <p:nvPr/>
        </p:nvSpPr>
        <p:spPr>
          <a:xfrm>
            <a:off x="3339846" y="292608"/>
            <a:ext cx="1322451" cy="45720"/>
          </a:xfrm>
          <a:prstGeom prst="rect">
            <a:avLst/>
          </a:prstGeom>
          <a:solidFill>
            <a:srgbClr val="2F4049"/>
          </a:solidFill>
          <a:ln w="12700">
            <a:solidFill>
              <a:srgbClr val="2F4049"/>
            </a:solidFill>
            <a:prstDash val="solid"/>
          </a:ln>
        </p:spPr>
      </p:sp>
      <p:sp>
        <p:nvSpPr>
          <p:cNvPr id="7" name="Text 5"/>
          <p:cNvSpPr txBox="1"/>
          <p:nvPr/>
        </p:nvSpPr>
        <p:spPr>
          <a:xfrm>
            <a:off x="3339846" y="402336"/>
            <a:ext cx="1322451" cy="237744"/>
          </a:xfrm>
          <a:prstGeom prst="rect">
            <a:avLst/>
          </a:prstGeom>
          <a:noFill/>
          <a:ln/>
        </p:spPr>
        <p:txBody>
          <a:bodyPr wrap="square" lIns="0" tIns="0" rIns="0" bIns="0" rtlCol="0" anchor="t"/>
          <a:lstStyle/>
          <a:p>
            <a:pPr indent="0" marL="0">
              <a:buNone/>
            </a:pPr>
            <a:r>
              <a:rPr lang="en-US" sz="1000" b="1" dirty="0">
                <a:solidFill>
                  <a:srgbClr val="9AA9B0"/>
                </a:solidFill>
                <a:latin typeface="Arial" pitchFamily="34" charset="0"/>
                <a:ea typeface="Arial" pitchFamily="34" charset="-122"/>
                <a:cs typeface="Arial" pitchFamily="34" charset="-120"/>
              </a:rPr>
              <a:t>3  </a:t>
            </a:r>
            <a:pPr indent="0" marL="0">
              <a:buNone/>
            </a:pPr>
            <a:r>
              <a:rPr lang="en-US" sz="1000" dirty="0">
                <a:solidFill>
                  <a:srgbClr val="9AA9B0"/>
                </a:solidFill>
                <a:latin typeface="Arial" pitchFamily="34" charset="0"/>
                <a:ea typeface="Arial" pitchFamily="34" charset="-122"/>
                <a:cs typeface="Arial" pitchFamily="34" charset="-120"/>
              </a:rPr>
              <a:t>Paniers</a:t>
            </a:r>
            <a:endParaRPr lang="en-US" sz="1000" dirty="0"/>
          </a:p>
        </p:txBody>
      </p:sp>
      <p:sp>
        <p:nvSpPr>
          <p:cNvPr id="8" name="Shape 6"/>
          <p:cNvSpPr/>
          <p:nvPr/>
        </p:nvSpPr>
        <p:spPr>
          <a:xfrm>
            <a:off x="4735449" y="292608"/>
            <a:ext cx="1322451" cy="45720"/>
          </a:xfrm>
          <a:prstGeom prst="rect">
            <a:avLst/>
          </a:prstGeom>
          <a:solidFill>
            <a:srgbClr val="2F4049"/>
          </a:solidFill>
          <a:ln w="12700">
            <a:solidFill>
              <a:srgbClr val="2F4049"/>
            </a:solidFill>
            <a:prstDash val="solid"/>
          </a:ln>
        </p:spPr>
      </p:sp>
      <p:sp>
        <p:nvSpPr>
          <p:cNvPr id="9" name="Text 7"/>
          <p:cNvSpPr txBox="1"/>
          <p:nvPr/>
        </p:nvSpPr>
        <p:spPr>
          <a:xfrm>
            <a:off x="4735449" y="402336"/>
            <a:ext cx="1322451" cy="237744"/>
          </a:xfrm>
          <a:prstGeom prst="rect">
            <a:avLst/>
          </a:prstGeom>
          <a:noFill/>
          <a:ln/>
        </p:spPr>
        <p:txBody>
          <a:bodyPr wrap="square" lIns="0" tIns="0" rIns="0" bIns="0" rtlCol="0" anchor="t"/>
          <a:lstStyle/>
          <a:p>
            <a:pPr indent="0" marL="0">
              <a:buNone/>
            </a:pPr>
            <a:r>
              <a:rPr lang="en-US" sz="1000" b="1" dirty="0">
                <a:solidFill>
                  <a:srgbClr val="9AA9B0"/>
                </a:solidFill>
                <a:latin typeface="Arial" pitchFamily="34" charset="0"/>
                <a:ea typeface="Arial" pitchFamily="34" charset="-122"/>
                <a:cs typeface="Arial" pitchFamily="34" charset="-120"/>
              </a:rPr>
              <a:t>4  </a:t>
            </a:r>
            <a:pPr indent="0" marL="0">
              <a:buNone/>
            </a:pPr>
            <a:r>
              <a:rPr lang="en-US" sz="1000" dirty="0">
                <a:solidFill>
                  <a:srgbClr val="9AA9B0"/>
                </a:solidFill>
                <a:latin typeface="Arial" pitchFamily="34" charset="0"/>
                <a:ea typeface="Arial" pitchFamily="34" charset="-122"/>
                <a:cs typeface="Arial" pitchFamily="34" charset="-120"/>
              </a:rPr>
              <a:t>Bootstrap</a:t>
            </a:r>
            <a:endParaRPr lang="en-US" sz="1000" dirty="0"/>
          </a:p>
        </p:txBody>
      </p:sp>
      <p:sp>
        <p:nvSpPr>
          <p:cNvPr id="10" name="Shape 8"/>
          <p:cNvSpPr/>
          <p:nvPr/>
        </p:nvSpPr>
        <p:spPr>
          <a:xfrm>
            <a:off x="6131052" y="292608"/>
            <a:ext cx="1322451" cy="45720"/>
          </a:xfrm>
          <a:prstGeom prst="rect">
            <a:avLst/>
          </a:prstGeom>
          <a:solidFill>
            <a:srgbClr val="2F4049"/>
          </a:solidFill>
          <a:ln w="12700">
            <a:solidFill>
              <a:srgbClr val="2F4049"/>
            </a:solidFill>
            <a:prstDash val="solid"/>
          </a:ln>
        </p:spPr>
      </p:sp>
      <p:sp>
        <p:nvSpPr>
          <p:cNvPr id="11" name="Text 9"/>
          <p:cNvSpPr txBox="1"/>
          <p:nvPr/>
        </p:nvSpPr>
        <p:spPr>
          <a:xfrm>
            <a:off x="6131052" y="402336"/>
            <a:ext cx="1322451" cy="237744"/>
          </a:xfrm>
          <a:prstGeom prst="rect">
            <a:avLst/>
          </a:prstGeom>
          <a:noFill/>
          <a:ln/>
        </p:spPr>
        <p:txBody>
          <a:bodyPr wrap="square" lIns="0" tIns="0" rIns="0" bIns="0" rtlCol="0" anchor="t"/>
          <a:lstStyle/>
          <a:p>
            <a:pPr indent="0" marL="0">
              <a:buNone/>
            </a:pPr>
            <a:r>
              <a:rPr lang="en-US" sz="1000" b="1" dirty="0">
                <a:solidFill>
                  <a:srgbClr val="9AA9B0"/>
                </a:solidFill>
                <a:latin typeface="Arial" pitchFamily="34" charset="0"/>
                <a:ea typeface="Arial" pitchFamily="34" charset="-122"/>
                <a:cs typeface="Arial" pitchFamily="34" charset="-120"/>
              </a:rPr>
              <a:t>5  </a:t>
            </a:r>
            <a:pPr indent="0" marL="0">
              <a:buNone/>
            </a:pPr>
            <a:r>
              <a:rPr lang="en-US" sz="1000" dirty="0">
                <a:solidFill>
                  <a:srgbClr val="9AA9B0"/>
                </a:solidFill>
                <a:latin typeface="Arial" pitchFamily="34" charset="0"/>
                <a:ea typeface="Arial" pitchFamily="34" charset="-122"/>
                <a:cs typeface="Arial" pitchFamily="34" charset="-120"/>
              </a:rPr>
              <a:t>Sélection</a:t>
            </a:r>
            <a:endParaRPr lang="en-US" sz="1000" dirty="0"/>
          </a:p>
        </p:txBody>
      </p:sp>
      <p:sp>
        <p:nvSpPr>
          <p:cNvPr id="12" name="Shape 10"/>
          <p:cNvSpPr/>
          <p:nvPr/>
        </p:nvSpPr>
        <p:spPr>
          <a:xfrm>
            <a:off x="7526655" y="292608"/>
            <a:ext cx="1322451" cy="45720"/>
          </a:xfrm>
          <a:prstGeom prst="rect">
            <a:avLst/>
          </a:prstGeom>
          <a:solidFill>
            <a:srgbClr val="2F4049"/>
          </a:solidFill>
          <a:ln w="12700">
            <a:solidFill>
              <a:srgbClr val="2F4049"/>
            </a:solidFill>
            <a:prstDash val="solid"/>
          </a:ln>
        </p:spPr>
      </p:sp>
      <p:sp>
        <p:nvSpPr>
          <p:cNvPr id="13" name="Text 11"/>
          <p:cNvSpPr txBox="1"/>
          <p:nvPr/>
        </p:nvSpPr>
        <p:spPr>
          <a:xfrm>
            <a:off x="7526655" y="402336"/>
            <a:ext cx="1322451" cy="237744"/>
          </a:xfrm>
          <a:prstGeom prst="rect">
            <a:avLst/>
          </a:prstGeom>
          <a:noFill/>
          <a:ln/>
        </p:spPr>
        <p:txBody>
          <a:bodyPr wrap="square" lIns="0" tIns="0" rIns="0" bIns="0" rtlCol="0" anchor="t"/>
          <a:lstStyle/>
          <a:p>
            <a:pPr indent="0" marL="0">
              <a:buNone/>
            </a:pPr>
            <a:r>
              <a:rPr lang="en-US" sz="1000" b="1" dirty="0">
                <a:solidFill>
                  <a:srgbClr val="9AA9B0"/>
                </a:solidFill>
                <a:latin typeface="Arial" pitchFamily="34" charset="0"/>
                <a:ea typeface="Arial" pitchFamily="34" charset="-122"/>
                <a:cs typeface="Arial" pitchFamily="34" charset="-120"/>
              </a:rPr>
              <a:t>6  </a:t>
            </a:r>
            <a:pPr indent="0" marL="0">
              <a:buNone/>
            </a:pPr>
            <a:r>
              <a:rPr lang="en-US" sz="1000" dirty="0">
                <a:solidFill>
                  <a:srgbClr val="9AA9B0"/>
                </a:solidFill>
                <a:latin typeface="Arial" pitchFamily="34" charset="0"/>
                <a:ea typeface="Arial" pitchFamily="34" charset="-122"/>
                <a:cs typeface="Arial" pitchFamily="34" charset="-120"/>
              </a:rPr>
              <a:t>Fusion</a:t>
            </a:r>
            <a:endParaRPr lang="en-US" sz="1000" dirty="0"/>
          </a:p>
        </p:txBody>
      </p:sp>
      <p:sp>
        <p:nvSpPr>
          <p:cNvPr id="14" name="Shape 12"/>
          <p:cNvSpPr/>
          <p:nvPr/>
        </p:nvSpPr>
        <p:spPr>
          <a:xfrm>
            <a:off x="8922258" y="292608"/>
            <a:ext cx="1322451" cy="45720"/>
          </a:xfrm>
          <a:prstGeom prst="rect">
            <a:avLst/>
          </a:prstGeom>
          <a:solidFill>
            <a:srgbClr val="2F4049"/>
          </a:solidFill>
          <a:ln w="12700">
            <a:solidFill>
              <a:srgbClr val="2F4049"/>
            </a:solidFill>
            <a:prstDash val="solid"/>
          </a:ln>
        </p:spPr>
      </p:sp>
      <p:sp>
        <p:nvSpPr>
          <p:cNvPr id="15" name="Text 13"/>
          <p:cNvSpPr txBox="1"/>
          <p:nvPr/>
        </p:nvSpPr>
        <p:spPr>
          <a:xfrm>
            <a:off x="8922258" y="402336"/>
            <a:ext cx="1322451" cy="237744"/>
          </a:xfrm>
          <a:prstGeom prst="rect">
            <a:avLst/>
          </a:prstGeom>
          <a:noFill/>
          <a:ln/>
        </p:spPr>
        <p:txBody>
          <a:bodyPr wrap="square" lIns="0" tIns="0" rIns="0" bIns="0" rtlCol="0" anchor="t"/>
          <a:lstStyle/>
          <a:p>
            <a:pPr indent="0" marL="0">
              <a:buNone/>
            </a:pPr>
            <a:r>
              <a:rPr lang="en-US" sz="1000" b="1" dirty="0">
                <a:solidFill>
                  <a:srgbClr val="9AA9B0"/>
                </a:solidFill>
                <a:latin typeface="Arial" pitchFamily="34" charset="0"/>
                <a:ea typeface="Arial" pitchFamily="34" charset="-122"/>
                <a:cs typeface="Arial" pitchFamily="34" charset="-120"/>
              </a:rPr>
              <a:t>7  </a:t>
            </a:r>
            <a:pPr indent="0" marL="0">
              <a:buNone/>
            </a:pPr>
            <a:r>
              <a:rPr lang="en-US" sz="1000" dirty="0">
                <a:solidFill>
                  <a:srgbClr val="9AA9B0"/>
                </a:solidFill>
                <a:latin typeface="Arial" pitchFamily="34" charset="0"/>
                <a:ea typeface="Arial" pitchFamily="34" charset="-122"/>
                <a:cs typeface="Arial" pitchFamily="34" charset="-120"/>
              </a:rPr>
              <a:t>Validation</a:t>
            </a:r>
            <a:endParaRPr lang="en-US" sz="1000" dirty="0"/>
          </a:p>
        </p:txBody>
      </p:sp>
      <p:sp>
        <p:nvSpPr>
          <p:cNvPr id="16" name="Shape 14"/>
          <p:cNvSpPr/>
          <p:nvPr/>
        </p:nvSpPr>
        <p:spPr>
          <a:xfrm>
            <a:off x="10317861" y="292608"/>
            <a:ext cx="1322451" cy="45720"/>
          </a:xfrm>
          <a:prstGeom prst="rect">
            <a:avLst/>
          </a:prstGeom>
          <a:solidFill>
            <a:srgbClr val="2F4049"/>
          </a:solidFill>
          <a:ln w="12700">
            <a:solidFill>
              <a:srgbClr val="2F4049"/>
            </a:solidFill>
            <a:prstDash val="solid"/>
          </a:ln>
        </p:spPr>
      </p:sp>
      <p:sp>
        <p:nvSpPr>
          <p:cNvPr id="17" name="Text 15"/>
          <p:cNvSpPr txBox="1"/>
          <p:nvPr/>
        </p:nvSpPr>
        <p:spPr>
          <a:xfrm>
            <a:off x="10317861" y="402336"/>
            <a:ext cx="1322451" cy="237744"/>
          </a:xfrm>
          <a:prstGeom prst="rect">
            <a:avLst/>
          </a:prstGeom>
          <a:noFill/>
          <a:ln/>
        </p:spPr>
        <p:txBody>
          <a:bodyPr wrap="square" lIns="0" tIns="0" rIns="0" bIns="0" rtlCol="0" anchor="t"/>
          <a:lstStyle/>
          <a:p>
            <a:pPr indent="0" marL="0">
              <a:buNone/>
            </a:pPr>
            <a:r>
              <a:rPr lang="en-US" sz="1000" b="1" dirty="0">
                <a:solidFill>
                  <a:srgbClr val="9AA9B0"/>
                </a:solidFill>
                <a:latin typeface="Arial" pitchFamily="34" charset="0"/>
                <a:ea typeface="Arial" pitchFamily="34" charset="-122"/>
                <a:cs typeface="Arial" pitchFamily="34" charset="-120"/>
              </a:rPr>
              <a:t>8  </a:t>
            </a:r>
            <a:pPr indent="0" marL="0">
              <a:buNone/>
            </a:pPr>
            <a:r>
              <a:rPr lang="en-US" sz="1000" dirty="0">
                <a:solidFill>
                  <a:srgbClr val="9AA9B0"/>
                </a:solidFill>
                <a:latin typeface="Arial" pitchFamily="34" charset="0"/>
                <a:ea typeface="Arial" pitchFamily="34" charset="-122"/>
                <a:cs typeface="Arial" pitchFamily="34" charset="-120"/>
              </a:rPr>
              <a:t>Production</a:t>
            </a:r>
            <a:endParaRPr lang="en-US" sz="1000" dirty="0"/>
          </a:p>
        </p:txBody>
      </p:sp>
      <p:sp>
        <p:nvSpPr>
          <p:cNvPr id="18" name="Text 16"/>
          <p:cNvSpPr txBox="1"/>
          <p:nvPr/>
        </p:nvSpPr>
        <p:spPr>
          <a:xfrm>
            <a:off x="548640" y="914400"/>
            <a:ext cx="914400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Trois questions à anticiper</a:t>
            </a:r>
            <a:endParaRPr lang="en-US" sz="3200" dirty="0"/>
          </a:p>
        </p:txBody>
      </p:sp>
      <p:sp>
        <p:nvSpPr>
          <p:cNvPr id="19" name="Text 17"/>
          <p:cNvSpPr txBox="1"/>
          <p:nvPr/>
        </p:nvSpPr>
        <p:spPr>
          <a:xfrm>
            <a:off x="548640" y="1965960"/>
            <a:ext cx="10515600" cy="411480"/>
          </a:xfrm>
          <a:prstGeom prst="rect">
            <a:avLst/>
          </a:prstGeom>
          <a:noFill/>
          <a:ln/>
        </p:spPr>
        <p:txBody>
          <a:bodyPr wrap="square" lIns="0" tIns="0" rIns="0" bIns="0" rtlCol="0" anchor="t"/>
          <a:lstStyle/>
          <a:p>
            <a:pPr indent="0" marL="0">
              <a:buNone/>
            </a:pPr>
            <a:r>
              <a:rPr lang="en-US" sz="1800" b="1" dirty="0">
                <a:solidFill>
                  <a:srgbClr val="3CC39E"/>
                </a:solidFill>
                <a:latin typeface="Arial" pitchFamily="34" charset="0"/>
                <a:ea typeface="Arial" pitchFamily="34" charset="-122"/>
                <a:cs typeface="Arial" pitchFamily="34" charset="-120"/>
              </a:rPr>
              <a:t>« Comment savez-vous que ce n'est pas de l'overfitting ? »</a:t>
            </a:r>
            <a:endParaRPr lang="en-US" sz="1800" dirty="0"/>
          </a:p>
        </p:txBody>
      </p:sp>
      <p:sp>
        <p:nvSpPr>
          <p:cNvPr id="20" name="Text 18"/>
          <p:cNvSpPr txBox="1"/>
          <p:nvPr/>
        </p:nvSpPr>
        <p:spPr>
          <a:xfrm>
            <a:off x="548640" y="2423160"/>
            <a:ext cx="10058400" cy="822960"/>
          </a:xfrm>
          <a:prstGeom prst="rect">
            <a:avLst/>
          </a:prstGeom>
          <a:noFill/>
          <a:ln/>
        </p:spPr>
        <p:txBody>
          <a:bodyPr wrap="square" lIns="0" tIns="0" rIns="0" bIns="0" rtlCol="0" anchor="t"/>
          <a:lstStyle/>
          <a:p>
            <a:pPr indent="0" marL="0">
              <a:buNone/>
            </a:pPr>
            <a:r>
              <a:rPr lang="en-US" sz="1500" dirty="0">
                <a:solidFill>
                  <a:srgbClr val="E3E9E6"/>
                </a:solidFill>
                <a:latin typeface="Arial" pitchFamily="34" charset="0"/>
                <a:ea typeface="Arial" pitchFamily="34" charset="-122"/>
                <a:cs typeface="Arial" pitchFamily="34" charset="-120"/>
              </a:rPr>
              <a:t>Seuil de sélection calibré par permutation, contrôle négatif sur bruit pur, et panier fusionné comparé aux couples d'origine sur une période de test jamais vue.</a:t>
            </a:r>
            <a:endParaRPr lang="en-US" sz="1500" dirty="0"/>
          </a:p>
        </p:txBody>
      </p:sp>
      <p:sp>
        <p:nvSpPr>
          <p:cNvPr id="21" name="Text 19"/>
          <p:cNvSpPr txBox="1"/>
          <p:nvPr/>
        </p:nvSpPr>
        <p:spPr>
          <a:xfrm>
            <a:off x="548640" y="3429000"/>
            <a:ext cx="10515600" cy="411480"/>
          </a:xfrm>
          <a:prstGeom prst="rect">
            <a:avLst/>
          </a:prstGeom>
          <a:noFill/>
          <a:ln/>
        </p:spPr>
        <p:txBody>
          <a:bodyPr wrap="square" lIns="0" tIns="0" rIns="0" bIns="0" rtlCol="0" anchor="t"/>
          <a:lstStyle/>
          <a:p>
            <a:pPr indent="0" marL="0">
              <a:buNone/>
            </a:pPr>
            <a:r>
              <a:rPr lang="en-US" sz="1800" b="1" dirty="0">
                <a:solidFill>
                  <a:srgbClr val="3CC39E"/>
                </a:solidFill>
                <a:latin typeface="Arial" pitchFamily="34" charset="0"/>
                <a:ea typeface="Arial" pitchFamily="34" charset="-122"/>
                <a:cs typeface="Arial" pitchFamily="34" charset="-120"/>
              </a:rPr>
              <a:t>« Quelle est la performance ? »</a:t>
            </a:r>
            <a:endParaRPr lang="en-US" sz="1800" dirty="0"/>
          </a:p>
        </p:txBody>
      </p:sp>
      <p:sp>
        <p:nvSpPr>
          <p:cNvPr id="22" name="Text 20"/>
          <p:cNvSpPr txBox="1"/>
          <p:nvPr/>
        </p:nvSpPr>
        <p:spPr>
          <a:xfrm>
            <a:off x="548640" y="3886200"/>
            <a:ext cx="10058400" cy="822960"/>
          </a:xfrm>
          <a:prstGeom prst="rect">
            <a:avLst/>
          </a:prstGeom>
          <a:noFill/>
          <a:ln/>
        </p:spPr>
        <p:txBody>
          <a:bodyPr wrap="square" lIns="0" tIns="0" rIns="0" bIns="0" rtlCol="0" anchor="t"/>
          <a:lstStyle/>
          <a:p>
            <a:pPr indent="0" marL="0">
              <a:buNone/>
            </a:pPr>
            <a:r>
              <a:rPr lang="en-US" sz="1500" dirty="0">
                <a:solidFill>
                  <a:srgbClr val="E3E9E6"/>
                </a:solidFill>
                <a:latin typeface="Arial" pitchFamily="34" charset="0"/>
                <a:ea typeface="Arial" pitchFamily="34" charset="-122"/>
                <a:cs typeface="Arial" pitchFamily="34" charset="-120"/>
              </a:rPr>
              <a:t>Je ne mets pas de chiffre de backtest en avant : sans univers point-in-time, il serait surestimé. Ce que je peux défendre, c'est la méthode et ses contrôles.</a:t>
            </a:r>
            <a:endParaRPr lang="en-US" sz="1500" dirty="0"/>
          </a:p>
        </p:txBody>
      </p:sp>
      <p:sp>
        <p:nvSpPr>
          <p:cNvPr id="23" name="Text 21"/>
          <p:cNvSpPr txBox="1"/>
          <p:nvPr/>
        </p:nvSpPr>
        <p:spPr>
          <a:xfrm>
            <a:off x="548640" y="4892040"/>
            <a:ext cx="10515600" cy="411480"/>
          </a:xfrm>
          <a:prstGeom prst="rect">
            <a:avLst/>
          </a:prstGeom>
          <a:noFill/>
          <a:ln/>
        </p:spPr>
        <p:txBody>
          <a:bodyPr wrap="square" lIns="0" tIns="0" rIns="0" bIns="0" rtlCol="0" anchor="t"/>
          <a:lstStyle/>
          <a:p>
            <a:pPr indent="0" marL="0">
              <a:buNone/>
            </a:pPr>
            <a:r>
              <a:rPr lang="en-US" sz="1800" b="1" dirty="0">
                <a:solidFill>
                  <a:srgbClr val="3CC39E"/>
                </a:solidFill>
                <a:latin typeface="Arial" pitchFamily="34" charset="0"/>
                <a:ea typeface="Arial" pitchFamily="34" charset="-122"/>
                <a:cs typeface="Arial" pitchFamily="34" charset="-120"/>
              </a:rPr>
              <a:t>« Pourquoi ne pas utiliser simplement le momentum 12-1 ? »</a:t>
            </a:r>
            <a:endParaRPr lang="en-US" sz="1800" dirty="0"/>
          </a:p>
        </p:txBody>
      </p:sp>
      <p:sp>
        <p:nvSpPr>
          <p:cNvPr id="24" name="Text 22"/>
          <p:cNvSpPr txBox="1"/>
          <p:nvPr/>
        </p:nvSpPr>
        <p:spPr>
          <a:xfrm>
            <a:off x="548640" y="5349240"/>
            <a:ext cx="10058400" cy="822960"/>
          </a:xfrm>
          <a:prstGeom prst="rect">
            <a:avLst/>
          </a:prstGeom>
          <a:noFill/>
          <a:ln/>
        </p:spPr>
        <p:txBody>
          <a:bodyPr wrap="square" lIns="0" tIns="0" rIns="0" bIns="0" rtlCol="0" anchor="t"/>
          <a:lstStyle/>
          <a:p>
            <a:pPr indent="0" marL="0">
              <a:buNone/>
            </a:pPr>
            <a:r>
              <a:rPr lang="en-US" sz="1500" dirty="0">
                <a:solidFill>
                  <a:srgbClr val="E3E9E6"/>
                </a:solidFill>
                <a:latin typeface="Arial" pitchFamily="34" charset="0"/>
                <a:ea typeface="Arial" pitchFamily="34" charset="-122"/>
                <a:cs typeface="Arial" pitchFamily="34" charset="-120"/>
              </a:rPr>
              <a:t>Il fait partie des candidats. Le protocole le mesure au lieu de le supposer : c'est l'intérêt de séparer les convictions de leur validation.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Algorithme actions — du signal à l'ordre</dc:title>
  <dc:subject>PptxGenJS Presentation</dc:subject>
  <dc:creator>PptxGenJS</dc:creator>
  <cp:lastModifiedBy>PptxGenJS</cp:lastModifiedBy>
  <cp:revision>1</cp:revision>
  <dcterms:created xsi:type="dcterms:W3CDTF">2026-09-21T15:42:00Z</dcterms:created>
  <dcterms:modified xsi:type="dcterms:W3CDTF">2026-09-21T15:42:00Z</dcterms:modified>
</cp:coreProperties>
</file>